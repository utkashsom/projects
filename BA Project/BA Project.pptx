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2"/>
  </p:notesMasterIdLst>
  <p:handoutMasterIdLst>
    <p:handoutMasterId r:id="rId43"/>
  </p:handoutMasterIdLst>
  <p:sldIdLst>
    <p:sldId id="325" r:id="rId5"/>
    <p:sldId id="326" r:id="rId6"/>
    <p:sldId id="335" r:id="rId7"/>
    <p:sldId id="327" r:id="rId8"/>
    <p:sldId id="340" r:id="rId9"/>
    <p:sldId id="341" r:id="rId10"/>
    <p:sldId id="342" r:id="rId11"/>
    <p:sldId id="343" r:id="rId12"/>
    <p:sldId id="344" r:id="rId13"/>
    <p:sldId id="345" r:id="rId14"/>
    <p:sldId id="346" r:id="rId15"/>
    <p:sldId id="347" r:id="rId16"/>
    <p:sldId id="351" r:id="rId17"/>
    <p:sldId id="350" r:id="rId18"/>
    <p:sldId id="349" r:id="rId19"/>
    <p:sldId id="348" r:id="rId20"/>
    <p:sldId id="352" r:id="rId21"/>
    <p:sldId id="361" r:id="rId22"/>
    <p:sldId id="328" r:id="rId23"/>
    <p:sldId id="353" r:id="rId24"/>
    <p:sldId id="355" r:id="rId25"/>
    <p:sldId id="356" r:id="rId26"/>
    <p:sldId id="357" r:id="rId27"/>
    <p:sldId id="358" r:id="rId28"/>
    <p:sldId id="359" r:id="rId29"/>
    <p:sldId id="360" r:id="rId30"/>
    <p:sldId id="363" r:id="rId31"/>
    <p:sldId id="362" r:id="rId32"/>
    <p:sldId id="364" r:id="rId33"/>
    <p:sldId id="365" r:id="rId34"/>
    <p:sldId id="367" r:id="rId35"/>
    <p:sldId id="368" r:id="rId36"/>
    <p:sldId id="369" r:id="rId37"/>
    <p:sldId id="336" r:id="rId38"/>
    <p:sldId id="337" r:id="rId39"/>
    <p:sldId id="338" r:id="rId40"/>
    <p:sldId id="33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816" userDrawn="1">
          <p15:clr>
            <a:srgbClr val="A4A3A4"/>
          </p15:clr>
        </p15:guide>
        <p15:guide id="2" orient="horz" pos="38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4E2643-E8CF-4298-8793-CE9D2E7F6D6A}" v="362" dt="2024-06-07T20:21:26.3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05" autoAdjust="0"/>
  </p:normalViewPr>
  <p:slideViewPr>
    <p:cSldViewPr snapToGrid="0">
      <p:cViewPr varScale="1">
        <p:scale>
          <a:sx n="104" d="100"/>
          <a:sy n="104" d="100"/>
        </p:scale>
        <p:origin x="870" y="108"/>
      </p:cViewPr>
      <p:guideLst>
        <p:guide pos="816"/>
        <p:guide orient="horz" pos="384"/>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BC5C50-AD8E-4908-B5C5-4C2E4E80305E}" type="doc">
      <dgm:prSet loTypeId="urn:microsoft.com/office/officeart/2005/8/layout/vList2" loCatId="list" qsTypeId="urn:microsoft.com/office/officeart/2005/8/quickstyle/simple1" qsCatId="simple" csTypeId="urn:microsoft.com/office/officeart/2005/8/colors/accent3_2" csCatId="accent3"/>
      <dgm:spPr/>
      <dgm:t>
        <a:bodyPr/>
        <a:lstStyle/>
        <a:p>
          <a:endParaRPr lang="en-IN"/>
        </a:p>
      </dgm:t>
    </dgm:pt>
    <dgm:pt modelId="{DEE12E79-0A2B-4998-A7A7-42F55C52D242}">
      <dgm:prSet/>
      <dgm:spPr/>
      <dgm:t>
        <a:bodyPr/>
        <a:lstStyle/>
        <a:p>
          <a:r>
            <a:rPr lang="en-US" b="0" i="0" baseline="0" dirty="0" err="1"/>
            <a:t>dteday</a:t>
          </a:r>
          <a:r>
            <a:rPr lang="en-US" b="0" i="0" baseline="0" dirty="0"/>
            <a:t>: The date of the record.</a:t>
          </a:r>
          <a:endParaRPr lang="en-IN" dirty="0"/>
        </a:p>
      </dgm:t>
    </dgm:pt>
    <dgm:pt modelId="{25C5D546-52BF-4B56-BD7A-7E432E54ED34}" type="parTrans" cxnId="{6AB8F236-F376-4C60-85DF-4B6B50D29E5B}">
      <dgm:prSet/>
      <dgm:spPr/>
      <dgm:t>
        <a:bodyPr/>
        <a:lstStyle/>
        <a:p>
          <a:endParaRPr lang="en-IN"/>
        </a:p>
      </dgm:t>
    </dgm:pt>
    <dgm:pt modelId="{78DE95E1-1D3C-4F42-978E-E8BAB4CBDC94}" type="sibTrans" cxnId="{6AB8F236-F376-4C60-85DF-4B6B50D29E5B}">
      <dgm:prSet/>
      <dgm:spPr/>
      <dgm:t>
        <a:bodyPr/>
        <a:lstStyle/>
        <a:p>
          <a:endParaRPr lang="en-IN"/>
        </a:p>
      </dgm:t>
    </dgm:pt>
    <dgm:pt modelId="{31DB4001-44BD-4171-B417-B2EC84C9726F}">
      <dgm:prSet/>
      <dgm:spPr/>
      <dgm:t>
        <a:bodyPr/>
        <a:lstStyle/>
        <a:p>
          <a:r>
            <a:rPr lang="en-US" b="0" i="0" baseline="0"/>
            <a:t>season: The season during which the record was taken (1: Winter, 2: Spring, 3: Summer, 4: Fall).</a:t>
          </a:r>
          <a:endParaRPr lang="en-IN"/>
        </a:p>
      </dgm:t>
    </dgm:pt>
    <dgm:pt modelId="{4FB89867-36FA-4677-BF1F-9B7F791208B2}" type="parTrans" cxnId="{A94D9CF7-471E-4CD3-B631-F1FEC3A9D1DE}">
      <dgm:prSet/>
      <dgm:spPr/>
      <dgm:t>
        <a:bodyPr/>
        <a:lstStyle/>
        <a:p>
          <a:endParaRPr lang="en-IN"/>
        </a:p>
      </dgm:t>
    </dgm:pt>
    <dgm:pt modelId="{194535BD-5E5D-4548-82A6-3F4A84AAD547}" type="sibTrans" cxnId="{A94D9CF7-471E-4CD3-B631-F1FEC3A9D1DE}">
      <dgm:prSet/>
      <dgm:spPr/>
      <dgm:t>
        <a:bodyPr/>
        <a:lstStyle/>
        <a:p>
          <a:endParaRPr lang="en-IN"/>
        </a:p>
      </dgm:t>
    </dgm:pt>
    <dgm:pt modelId="{D619A372-5B10-4FBA-A6C3-E7FCD4C31A1D}">
      <dgm:prSet/>
      <dgm:spPr/>
      <dgm:t>
        <a:bodyPr/>
        <a:lstStyle/>
        <a:p>
          <a:r>
            <a:rPr lang="en-US" b="0" i="0" baseline="0"/>
            <a:t>yr: The year of the record (0: 2011, 1: 2012).</a:t>
          </a:r>
          <a:endParaRPr lang="en-IN"/>
        </a:p>
      </dgm:t>
    </dgm:pt>
    <dgm:pt modelId="{B5F22181-1CFF-4033-B043-BBC8E1DA549F}" type="parTrans" cxnId="{AC2875EB-536E-4B96-BFB3-6950B06F306D}">
      <dgm:prSet/>
      <dgm:spPr/>
      <dgm:t>
        <a:bodyPr/>
        <a:lstStyle/>
        <a:p>
          <a:endParaRPr lang="en-IN"/>
        </a:p>
      </dgm:t>
    </dgm:pt>
    <dgm:pt modelId="{9B02EA79-0616-4205-8AAB-5FAAB4ED839E}" type="sibTrans" cxnId="{AC2875EB-536E-4B96-BFB3-6950B06F306D}">
      <dgm:prSet/>
      <dgm:spPr/>
      <dgm:t>
        <a:bodyPr/>
        <a:lstStyle/>
        <a:p>
          <a:endParaRPr lang="en-IN"/>
        </a:p>
      </dgm:t>
    </dgm:pt>
    <dgm:pt modelId="{E78C09DC-5AEA-43B8-B977-4F6AECB00620}">
      <dgm:prSet/>
      <dgm:spPr/>
      <dgm:t>
        <a:bodyPr/>
        <a:lstStyle/>
        <a:p>
          <a:r>
            <a:rPr lang="en-US" b="0" i="0" baseline="0"/>
            <a:t>mnth: The month of the record (1 to 12).</a:t>
          </a:r>
          <a:endParaRPr lang="en-IN"/>
        </a:p>
      </dgm:t>
    </dgm:pt>
    <dgm:pt modelId="{3F96031A-557F-4DE4-BF5F-9605F135B52D}" type="parTrans" cxnId="{608E3A7B-D240-4899-A99C-BA5222585D42}">
      <dgm:prSet/>
      <dgm:spPr/>
      <dgm:t>
        <a:bodyPr/>
        <a:lstStyle/>
        <a:p>
          <a:endParaRPr lang="en-IN"/>
        </a:p>
      </dgm:t>
    </dgm:pt>
    <dgm:pt modelId="{03BDF2D6-9DBE-449A-977A-C23FA9E1B527}" type="sibTrans" cxnId="{608E3A7B-D240-4899-A99C-BA5222585D42}">
      <dgm:prSet/>
      <dgm:spPr/>
      <dgm:t>
        <a:bodyPr/>
        <a:lstStyle/>
        <a:p>
          <a:endParaRPr lang="en-IN"/>
        </a:p>
      </dgm:t>
    </dgm:pt>
    <dgm:pt modelId="{3992600B-C52E-4999-8B72-B02C9AD46E05}">
      <dgm:prSet/>
      <dgm:spPr/>
      <dgm:t>
        <a:bodyPr/>
        <a:lstStyle/>
        <a:p>
          <a:r>
            <a:rPr lang="en-US" b="0" i="0" baseline="0"/>
            <a:t>weekday: The day of the week (0: Sunday, 1: Monday, ..., 6: Saturday).</a:t>
          </a:r>
          <a:endParaRPr lang="en-IN"/>
        </a:p>
      </dgm:t>
    </dgm:pt>
    <dgm:pt modelId="{F12EBE0B-903D-4E1D-A79D-FD83E2E1E98E}" type="parTrans" cxnId="{16A1C9A4-502F-41B8-A740-A449D5F06873}">
      <dgm:prSet/>
      <dgm:spPr/>
      <dgm:t>
        <a:bodyPr/>
        <a:lstStyle/>
        <a:p>
          <a:endParaRPr lang="en-IN"/>
        </a:p>
      </dgm:t>
    </dgm:pt>
    <dgm:pt modelId="{54417A67-FB42-4C29-BA75-9D36EC456250}" type="sibTrans" cxnId="{16A1C9A4-502F-41B8-A740-A449D5F06873}">
      <dgm:prSet/>
      <dgm:spPr/>
      <dgm:t>
        <a:bodyPr/>
        <a:lstStyle/>
        <a:p>
          <a:endParaRPr lang="en-IN"/>
        </a:p>
      </dgm:t>
    </dgm:pt>
    <dgm:pt modelId="{964AA917-E0B1-4D4D-885D-295C61170CF3}">
      <dgm:prSet/>
      <dgm:spPr/>
      <dgm:t>
        <a:bodyPr/>
        <a:lstStyle/>
        <a:p>
          <a:r>
            <a:rPr lang="en-US" b="0" i="0" baseline="0"/>
            <a:t>holiday: Whether the day is a public holiday (1) or not (0).</a:t>
          </a:r>
          <a:endParaRPr lang="en-IN"/>
        </a:p>
      </dgm:t>
    </dgm:pt>
    <dgm:pt modelId="{67C48E92-9195-4263-86C7-E2781091CCC7}" type="parTrans" cxnId="{67B65ADC-0023-42CB-B176-62E378C32877}">
      <dgm:prSet/>
      <dgm:spPr/>
      <dgm:t>
        <a:bodyPr/>
        <a:lstStyle/>
        <a:p>
          <a:endParaRPr lang="en-IN"/>
        </a:p>
      </dgm:t>
    </dgm:pt>
    <dgm:pt modelId="{FFBB5DFA-1AB7-4D5A-9D47-468353E15E3E}" type="sibTrans" cxnId="{67B65ADC-0023-42CB-B176-62E378C32877}">
      <dgm:prSet/>
      <dgm:spPr/>
      <dgm:t>
        <a:bodyPr/>
        <a:lstStyle/>
        <a:p>
          <a:endParaRPr lang="en-IN"/>
        </a:p>
      </dgm:t>
    </dgm:pt>
    <dgm:pt modelId="{E35E821F-37B4-4CB8-AD6C-5641F3864956}">
      <dgm:prSet/>
      <dgm:spPr/>
      <dgm:t>
        <a:bodyPr/>
        <a:lstStyle/>
        <a:p>
          <a:r>
            <a:rPr lang="en-US" b="0" i="0" baseline="0"/>
            <a:t>workingday: Whether the day is a working day (1) or not (0).</a:t>
          </a:r>
          <a:endParaRPr lang="en-IN"/>
        </a:p>
      </dgm:t>
    </dgm:pt>
    <dgm:pt modelId="{79CF380A-D29D-43A5-91F4-A903CE9388A2}" type="parTrans" cxnId="{9BDC9AD1-4BDB-414F-93AA-9C85F4E61D53}">
      <dgm:prSet/>
      <dgm:spPr/>
      <dgm:t>
        <a:bodyPr/>
        <a:lstStyle/>
        <a:p>
          <a:endParaRPr lang="en-IN"/>
        </a:p>
      </dgm:t>
    </dgm:pt>
    <dgm:pt modelId="{6A4FABBC-9524-4FE5-BA20-3A58A0023F49}" type="sibTrans" cxnId="{9BDC9AD1-4BDB-414F-93AA-9C85F4E61D53}">
      <dgm:prSet/>
      <dgm:spPr/>
      <dgm:t>
        <a:bodyPr/>
        <a:lstStyle/>
        <a:p>
          <a:endParaRPr lang="en-IN"/>
        </a:p>
      </dgm:t>
    </dgm:pt>
    <dgm:pt modelId="{269B6E13-B0BE-4633-945D-E4119AA3AF17}" type="pres">
      <dgm:prSet presAssocID="{BDBC5C50-AD8E-4908-B5C5-4C2E4E80305E}" presName="linear" presStyleCnt="0">
        <dgm:presLayoutVars>
          <dgm:animLvl val="lvl"/>
          <dgm:resizeHandles val="exact"/>
        </dgm:presLayoutVars>
      </dgm:prSet>
      <dgm:spPr/>
    </dgm:pt>
    <dgm:pt modelId="{D4BCC395-9686-4513-AE98-58115C8C0EA2}" type="pres">
      <dgm:prSet presAssocID="{DEE12E79-0A2B-4998-A7A7-42F55C52D242}" presName="parentText" presStyleLbl="node1" presStyleIdx="0" presStyleCnt="7">
        <dgm:presLayoutVars>
          <dgm:chMax val="0"/>
          <dgm:bulletEnabled val="1"/>
        </dgm:presLayoutVars>
      </dgm:prSet>
      <dgm:spPr/>
    </dgm:pt>
    <dgm:pt modelId="{60CE54CC-71D3-4EA2-82FB-95F52E66100D}" type="pres">
      <dgm:prSet presAssocID="{78DE95E1-1D3C-4F42-978E-E8BAB4CBDC94}" presName="spacer" presStyleCnt="0"/>
      <dgm:spPr/>
    </dgm:pt>
    <dgm:pt modelId="{B4FD0BC7-B2DB-429D-BA27-E01B601E6442}" type="pres">
      <dgm:prSet presAssocID="{31DB4001-44BD-4171-B417-B2EC84C9726F}" presName="parentText" presStyleLbl="node1" presStyleIdx="1" presStyleCnt="7">
        <dgm:presLayoutVars>
          <dgm:chMax val="0"/>
          <dgm:bulletEnabled val="1"/>
        </dgm:presLayoutVars>
      </dgm:prSet>
      <dgm:spPr/>
    </dgm:pt>
    <dgm:pt modelId="{174FDB98-A480-4E44-B665-AA18C453DD85}" type="pres">
      <dgm:prSet presAssocID="{194535BD-5E5D-4548-82A6-3F4A84AAD547}" presName="spacer" presStyleCnt="0"/>
      <dgm:spPr/>
    </dgm:pt>
    <dgm:pt modelId="{CD1783ED-5BA1-4459-8EAD-9CE42973728D}" type="pres">
      <dgm:prSet presAssocID="{D619A372-5B10-4FBA-A6C3-E7FCD4C31A1D}" presName="parentText" presStyleLbl="node1" presStyleIdx="2" presStyleCnt="7">
        <dgm:presLayoutVars>
          <dgm:chMax val="0"/>
          <dgm:bulletEnabled val="1"/>
        </dgm:presLayoutVars>
      </dgm:prSet>
      <dgm:spPr/>
    </dgm:pt>
    <dgm:pt modelId="{6B669483-F781-4164-B63F-5FF11A552205}" type="pres">
      <dgm:prSet presAssocID="{9B02EA79-0616-4205-8AAB-5FAAB4ED839E}" presName="spacer" presStyleCnt="0"/>
      <dgm:spPr/>
    </dgm:pt>
    <dgm:pt modelId="{D42BEBDC-8D29-4B85-A48B-2A4BAD68F206}" type="pres">
      <dgm:prSet presAssocID="{E78C09DC-5AEA-43B8-B977-4F6AECB00620}" presName="parentText" presStyleLbl="node1" presStyleIdx="3" presStyleCnt="7">
        <dgm:presLayoutVars>
          <dgm:chMax val="0"/>
          <dgm:bulletEnabled val="1"/>
        </dgm:presLayoutVars>
      </dgm:prSet>
      <dgm:spPr/>
    </dgm:pt>
    <dgm:pt modelId="{7C38FAEE-F4EE-4320-97D3-2DF5C87236E5}" type="pres">
      <dgm:prSet presAssocID="{03BDF2D6-9DBE-449A-977A-C23FA9E1B527}" presName="spacer" presStyleCnt="0"/>
      <dgm:spPr/>
    </dgm:pt>
    <dgm:pt modelId="{9024882C-F70A-4A83-9F03-4F36A9B07890}" type="pres">
      <dgm:prSet presAssocID="{3992600B-C52E-4999-8B72-B02C9AD46E05}" presName="parentText" presStyleLbl="node1" presStyleIdx="4" presStyleCnt="7">
        <dgm:presLayoutVars>
          <dgm:chMax val="0"/>
          <dgm:bulletEnabled val="1"/>
        </dgm:presLayoutVars>
      </dgm:prSet>
      <dgm:spPr/>
    </dgm:pt>
    <dgm:pt modelId="{DAB1F5F0-2457-4F07-A0E7-3A1649584F4E}" type="pres">
      <dgm:prSet presAssocID="{54417A67-FB42-4C29-BA75-9D36EC456250}" presName="spacer" presStyleCnt="0"/>
      <dgm:spPr/>
    </dgm:pt>
    <dgm:pt modelId="{2CEE42D4-9C06-461C-9668-EBA4E657AE58}" type="pres">
      <dgm:prSet presAssocID="{964AA917-E0B1-4D4D-885D-295C61170CF3}" presName="parentText" presStyleLbl="node1" presStyleIdx="5" presStyleCnt="7">
        <dgm:presLayoutVars>
          <dgm:chMax val="0"/>
          <dgm:bulletEnabled val="1"/>
        </dgm:presLayoutVars>
      </dgm:prSet>
      <dgm:spPr/>
    </dgm:pt>
    <dgm:pt modelId="{897C5BF2-337E-4647-B040-CE6B813F06D8}" type="pres">
      <dgm:prSet presAssocID="{FFBB5DFA-1AB7-4D5A-9D47-468353E15E3E}" presName="spacer" presStyleCnt="0"/>
      <dgm:spPr/>
    </dgm:pt>
    <dgm:pt modelId="{02290D8E-60E4-4C93-B894-FB8C709C73C0}" type="pres">
      <dgm:prSet presAssocID="{E35E821F-37B4-4CB8-AD6C-5641F3864956}" presName="parentText" presStyleLbl="node1" presStyleIdx="6" presStyleCnt="7">
        <dgm:presLayoutVars>
          <dgm:chMax val="0"/>
          <dgm:bulletEnabled val="1"/>
        </dgm:presLayoutVars>
      </dgm:prSet>
      <dgm:spPr/>
    </dgm:pt>
  </dgm:ptLst>
  <dgm:cxnLst>
    <dgm:cxn modelId="{6AB8F236-F376-4C60-85DF-4B6B50D29E5B}" srcId="{BDBC5C50-AD8E-4908-B5C5-4C2E4E80305E}" destId="{DEE12E79-0A2B-4998-A7A7-42F55C52D242}" srcOrd="0" destOrd="0" parTransId="{25C5D546-52BF-4B56-BD7A-7E432E54ED34}" sibTransId="{78DE95E1-1D3C-4F42-978E-E8BAB4CBDC94}"/>
    <dgm:cxn modelId="{A8352A5B-117E-4361-9017-703C60AB53A3}" type="presOf" srcId="{E35E821F-37B4-4CB8-AD6C-5641F3864956}" destId="{02290D8E-60E4-4C93-B894-FB8C709C73C0}" srcOrd="0" destOrd="0" presId="urn:microsoft.com/office/officeart/2005/8/layout/vList2"/>
    <dgm:cxn modelId="{2DFC264A-D8F9-443C-9AFA-91477588F302}" type="presOf" srcId="{E78C09DC-5AEA-43B8-B977-4F6AECB00620}" destId="{D42BEBDC-8D29-4B85-A48B-2A4BAD68F206}" srcOrd="0" destOrd="0" presId="urn:microsoft.com/office/officeart/2005/8/layout/vList2"/>
    <dgm:cxn modelId="{72B5FE6B-4655-47C8-B384-E923B06A96B0}" type="presOf" srcId="{964AA917-E0B1-4D4D-885D-295C61170CF3}" destId="{2CEE42D4-9C06-461C-9668-EBA4E657AE58}" srcOrd="0" destOrd="0" presId="urn:microsoft.com/office/officeart/2005/8/layout/vList2"/>
    <dgm:cxn modelId="{9FFE906C-4281-4CDF-BB73-C545BBD0F463}" type="presOf" srcId="{3992600B-C52E-4999-8B72-B02C9AD46E05}" destId="{9024882C-F70A-4A83-9F03-4F36A9B07890}" srcOrd="0" destOrd="0" presId="urn:microsoft.com/office/officeart/2005/8/layout/vList2"/>
    <dgm:cxn modelId="{479CA270-9EDF-4AB3-9F92-12CA4CB2A2C8}" type="presOf" srcId="{DEE12E79-0A2B-4998-A7A7-42F55C52D242}" destId="{D4BCC395-9686-4513-AE98-58115C8C0EA2}" srcOrd="0" destOrd="0" presId="urn:microsoft.com/office/officeart/2005/8/layout/vList2"/>
    <dgm:cxn modelId="{608E3A7B-D240-4899-A99C-BA5222585D42}" srcId="{BDBC5C50-AD8E-4908-B5C5-4C2E4E80305E}" destId="{E78C09DC-5AEA-43B8-B977-4F6AECB00620}" srcOrd="3" destOrd="0" parTransId="{3F96031A-557F-4DE4-BF5F-9605F135B52D}" sibTransId="{03BDF2D6-9DBE-449A-977A-C23FA9E1B527}"/>
    <dgm:cxn modelId="{16A1C9A4-502F-41B8-A740-A449D5F06873}" srcId="{BDBC5C50-AD8E-4908-B5C5-4C2E4E80305E}" destId="{3992600B-C52E-4999-8B72-B02C9AD46E05}" srcOrd="4" destOrd="0" parTransId="{F12EBE0B-903D-4E1D-A79D-FD83E2E1E98E}" sibTransId="{54417A67-FB42-4C29-BA75-9D36EC456250}"/>
    <dgm:cxn modelId="{CA6390C6-BF10-425C-B1C6-56CE2DCCBB29}" type="presOf" srcId="{D619A372-5B10-4FBA-A6C3-E7FCD4C31A1D}" destId="{CD1783ED-5BA1-4459-8EAD-9CE42973728D}" srcOrd="0" destOrd="0" presId="urn:microsoft.com/office/officeart/2005/8/layout/vList2"/>
    <dgm:cxn modelId="{9BDC9AD1-4BDB-414F-93AA-9C85F4E61D53}" srcId="{BDBC5C50-AD8E-4908-B5C5-4C2E4E80305E}" destId="{E35E821F-37B4-4CB8-AD6C-5641F3864956}" srcOrd="6" destOrd="0" parTransId="{79CF380A-D29D-43A5-91F4-A903CE9388A2}" sibTransId="{6A4FABBC-9524-4FE5-BA20-3A58A0023F49}"/>
    <dgm:cxn modelId="{67B65ADC-0023-42CB-B176-62E378C32877}" srcId="{BDBC5C50-AD8E-4908-B5C5-4C2E4E80305E}" destId="{964AA917-E0B1-4D4D-885D-295C61170CF3}" srcOrd="5" destOrd="0" parTransId="{67C48E92-9195-4263-86C7-E2781091CCC7}" sibTransId="{FFBB5DFA-1AB7-4D5A-9D47-468353E15E3E}"/>
    <dgm:cxn modelId="{B79CE9E3-B92B-4552-9852-56837B0CFDEF}" type="presOf" srcId="{31DB4001-44BD-4171-B417-B2EC84C9726F}" destId="{B4FD0BC7-B2DB-429D-BA27-E01B601E6442}" srcOrd="0" destOrd="0" presId="urn:microsoft.com/office/officeart/2005/8/layout/vList2"/>
    <dgm:cxn modelId="{AE18DEE8-7669-418F-8FE5-3C789DBDEC92}" type="presOf" srcId="{BDBC5C50-AD8E-4908-B5C5-4C2E4E80305E}" destId="{269B6E13-B0BE-4633-945D-E4119AA3AF17}" srcOrd="0" destOrd="0" presId="urn:microsoft.com/office/officeart/2005/8/layout/vList2"/>
    <dgm:cxn modelId="{AC2875EB-536E-4B96-BFB3-6950B06F306D}" srcId="{BDBC5C50-AD8E-4908-B5C5-4C2E4E80305E}" destId="{D619A372-5B10-4FBA-A6C3-E7FCD4C31A1D}" srcOrd="2" destOrd="0" parTransId="{B5F22181-1CFF-4033-B043-BBC8E1DA549F}" sibTransId="{9B02EA79-0616-4205-8AAB-5FAAB4ED839E}"/>
    <dgm:cxn modelId="{A94D9CF7-471E-4CD3-B631-F1FEC3A9D1DE}" srcId="{BDBC5C50-AD8E-4908-B5C5-4C2E4E80305E}" destId="{31DB4001-44BD-4171-B417-B2EC84C9726F}" srcOrd="1" destOrd="0" parTransId="{4FB89867-36FA-4677-BF1F-9B7F791208B2}" sibTransId="{194535BD-5E5D-4548-82A6-3F4A84AAD547}"/>
    <dgm:cxn modelId="{BE99E723-621A-4874-80B5-081214C2A4B0}" type="presParOf" srcId="{269B6E13-B0BE-4633-945D-E4119AA3AF17}" destId="{D4BCC395-9686-4513-AE98-58115C8C0EA2}" srcOrd="0" destOrd="0" presId="urn:microsoft.com/office/officeart/2005/8/layout/vList2"/>
    <dgm:cxn modelId="{E5E227C6-3BC4-4683-9A51-4CC131BB09B5}" type="presParOf" srcId="{269B6E13-B0BE-4633-945D-E4119AA3AF17}" destId="{60CE54CC-71D3-4EA2-82FB-95F52E66100D}" srcOrd="1" destOrd="0" presId="urn:microsoft.com/office/officeart/2005/8/layout/vList2"/>
    <dgm:cxn modelId="{907DCEB4-A065-4153-B1EB-F9532201B23E}" type="presParOf" srcId="{269B6E13-B0BE-4633-945D-E4119AA3AF17}" destId="{B4FD0BC7-B2DB-429D-BA27-E01B601E6442}" srcOrd="2" destOrd="0" presId="urn:microsoft.com/office/officeart/2005/8/layout/vList2"/>
    <dgm:cxn modelId="{48FFA992-513E-4CC3-A10C-10A6D20EFD1F}" type="presParOf" srcId="{269B6E13-B0BE-4633-945D-E4119AA3AF17}" destId="{174FDB98-A480-4E44-B665-AA18C453DD85}" srcOrd="3" destOrd="0" presId="urn:microsoft.com/office/officeart/2005/8/layout/vList2"/>
    <dgm:cxn modelId="{5EF007C0-0D88-433F-96B7-195C5C1A7433}" type="presParOf" srcId="{269B6E13-B0BE-4633-945D-E4119AA3AF17}" destId="{CD1783ED-5BA1-4459-8EAD-9CE42973728D}" srcOrd="4" destOrd="0" presId="urn:microsoft.com/office/officeart/2005/8/layout/vList2"/>
    <dgm:cxn modelId="{AAC3613F-1DDA-4883-8BB7-9CF79FD4A57F}" type="presParOf" srcId="{269B6E13-B0BE-4633-945D-E4119AA3AF17}" destId="{6B669483-F781-4164-B63F-5FF11A552205}" srcOrd="5" destOrd="0" presId="urn:microsoft.com/office/officeart/2005/8/layout/vList2"/>
    <dgm:cxn modelId="{DF2744F8-4C84-4AD8-8A00-948C2B4C7472}" type="presParOf" srcId="{269B6E13-B0BE-4633-945D-E4119AA3AF17}" destId="{D42BEBDC-8D29-4B85-A48B-2A4BAD68F206}" srcOrd="6" destOrd="0" presId="urn:microsoft.com/office/officeart/2005/8/layout/vList2"/>
    <dgm:cxn modelId="{A1CFF990-75BA-4BF3-A6D1-576B8A4A166C}" type="presParOf" srcId="{269B6E13-B0BE-4633-945D-E4119AA3AF17}" destId="{7C38FAEE-F4EE-4320-97D3-2DF5C87236E5}" srcOrd="7" destOrd="0" presId="urn:microsoft.com/office/officeart/2005/8/layout/vList2"/>
    <dgm:cxn modelId="{F53884BC-9785-4D5E-9950-07EDF6D38BF7}" type="presParOf" srcId="{269B6E13-B0BE-4633-945D-E4119AA3AF17}" destId="{9024882C-F70A-4A83-9F03-4F36A9B07890}" srcOrd="8" destOrd="0" presId="urn:microsoft.com/office/officeart/2005/8/layout/vList2"/>
    <dgm:cxn modelId="{1F886942-5EF3-4CAD-870D-A3D070A58249}" type="presParOf" srcId="{269B6E13-B0BE-4633-945D-E4119AA3AF17}" destId="{DAB1F5F0-2457-4F07-A0E7-3A1649584F4E}" srcOrd="9" destOrd="0" presId="urn:microsoft.com/office/officeart/2005/8/layout/vList2"/>
    <dgm:cxn modelId="{195D8717-30BC-4486-92D7-1ADBFFFB5D6F}" type="presParOf" srcId="{269B6E13-B0BE-4633-945D-E4119AA3AF17}" destId="{2CEE42D4-9C06-461C-9668-EBA4E657AE58}" srcOrd="10" destOrd="0" presId="urn:microsoft.com/office/officeart/2005/8/layout/vList2"/>
    <dgm:cxn modelId="{2ED7B60A-455D-4D91-8CC7-A1C4F37BB758}" type="presParOf" srcId="{269B6E13-B0BE-4633-945D-E4119AA3AF17}" destId="{897C5BF2-337E-4647-B040-CE6B813F06D8}" srcOrd="11" destOrd="0" presId="urn:microsoft.com/office/officeart/2005/8/layout/vList2"/>
    <dgm:cxn modelId="{3E8DC881-49C3-418A-B77B-3C3772B793EA}" type="presParOf" srcId="{269B6E13-B0BE-4633-945D-E4119AA3AF17}" destId="{02290D8E-60E4-4C93-B894-FB8C709C73C0}" srcOrd="1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028297-4065-4245-934F-C99B7FE594BA}"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IN"/>
        </a:p>
      </dgm:t>
    </dgm:pt>
    <dgm:pt modelId="{0A09DD5C-DFDC-4F53-AFCD-D786D2D1E699}">
      <dgm:prSet/>
      <dgm:spPr/>
      <dgm:t>
        <a:bodyPr/>
        <a:lstStyle/>
        <a:p>
          <a:r>
            <a:rPr lang="en-US" b="0" i="0" baseline="0" dirty="0" err="1"/>
            <a:t>weathersit</a:t>
          </a:r>
          <a:r>
            <a:rPr lang="en-US" b="0" i="0" baseline="0" dirty="0"/>
            <a:t>: The weather situation (1: Clear, 2: Few clouds, 3: Partly cloudy)</a:t>
          </a:r>
          <a:endParaRPr lang="en-IN" dirty="0"/>
        </a:p>
      </dgm:t>
    </dgm:pt>
    <dgm:pt modelId="{0E41FB8F-6456-4760-98CA-E6560A5219D2}" type="parTrans" cxnId="{B4EA9A30-D6FE-408D-8B1D-73D7958BD8B7}">
      <dgm:prSet/>
      <dgm:spPr/>
      <dgm:t>
        <a:bodyPr/>
        <a:lstStyle/>
        <a:p>
          <a:endParaRPr lang="en-IN"/>
        </a:p>
      </dgm:t>
    </dgm:pt>
    <dgm:pt modelId="{CE965106-177F-4402-AD37-1A57AC523198}" type="sibTrans" cxnId="{B4EA9A30-D6FE-408D-8B1D-73D7958BD8B7}">
      <dgm:prSet/>
      <dgm:spPr/>
      <dgm:t>
        <a:bodyPr/>
        <a:lstStyle/>
        <a:p>
          <a:endParaRPr lang="en-IN"/>
        </a:p>
      </dgm:t>
    </dgm:pt>
    <dgm:pt modelId="{B8467EAF-7942-463C-9A9A-E4DCB06B8624}">
      <dgm:prSet/>
      <dgm:spPr/>
      <dgm:t>
        <a:bodyPr/>
        <a:lstStyle/>
        <a:p>
          <a:r>
            <a:rPr lang="en-US" b="0" i="0" baseline="0"/>
            <a:t>temp: Normalized temperature in Celsius. </a:t>
          </a:r>
          <a:endParaRPr lang="en-IN"/>
        </a:p>
      </dgm:t>
    </dgm:pt>
    <dgm:pt modelId="{A4DAD847-6267-43F2-8CCB-BD128C61A2BB}" type="parTrans" cxnId="{398207E6-533E-45C9-B172-E258617C75E5}">
      <dgm:prSet/>
      <dgm:spPr/>
      <dgm:t>
        <a:bodyPr/>
        <a:lstStyle/>
        <a:p>
          <a:endParaRPr lang="en-IN"/>
        </a:p>
      </dgm:t>
    </dgm:pt>
    <dgm:pt modelId="{C6ADB38C-03ED-4AB2-B2BA-AF422770B80F}" type="sibTrans" cxnId="{398207E6-533E-45C9-B172-E258617C75E5}">
      <dgm:prSet/>
      <dgm:spPr/>
      <dgm:t>
        <a:bodyPr/>
        <a:lstStyle/>
        <a:p>
          <a:endParaRPr lang="en-IN"/>
        </a:p>
      </dgm:t>
    </dgm:pt>
    <dgm:pt modelId="{EEE49993-069D-40F2-A977-AC2511B20558}">
      <dgm:prSet/>
      <dgm:spPr/>
      <dgm:t>
        <a:bodyPr/>
        <a:lstStyle/>
        <a:p>
          <a:r>
            <a:rPr lang="en-US" b="0" i="0" baseline="0"/>
            <a:t>atemp: Normalized feeling temperature in Celsius.</a:t>
          </a:r>
          <a:endParaRPr lang="en-IN"/>
        </a:p>
      </dgm:t>
    </dgm:pt>
    <dgm:pt modelId="{E6D1BF01-5F57-4FC2-A342-8A5D4CF6A112}" type="parTrans" cxnId="{4C3D9A67-2EB4-45F7-90D9-37D7A524ED7F}">
      <dgm:prSet/>
      <dgm:spPr/>
      <dgm:t>
        <a:bodyPr/>
        <a:lstStyle/>
        <a:p>
          <a:endParaRPr lang="en-IN"/>
        </a:p>
      </dgm:t>
    </dgm:pt>
    <dgm:pt modelId="{C2E7698F-3B42-4AC6-A314-9CE8769B0CBE}" type="sibTrans" cxnId="{4C3D9A67-2EB4-45F7-90D9-37D7A524ED7F}">
      <dgm:prSet/>
      <dgm:spPr/>
      <dgm:t>
        <a:bodyPr/>
        <a:lstStyle/>
        <a:p>
          <a:endParaRPr lang="en-IN"/>
        </a:p>
      </dgm:t>
    </dgm:pt>
    <dgm:pt modelId="{0756E4BA-EE6F-46DC-9739-C082738F2220}">
      <dgm:prSet/>
      <dgm:spPr/>
      <dgm:t>
        <a:bodyPr/>
        <a:lstStyle/>
        <a:p>
          <a:r>
            <a:rPr lang="en-US" b="0" i="0" baseline="0"/>
            <a:t>hum: Normalized humidity.</a:t>
          </a:r>
          <a:endParaRPr lang="en-IN"/>
        </a:p>
      </dgm:t>
    </dgm:pt>
    <dgm:pt modelId="{DF304A18-8AC8-446C-A990-F5EF4518270E}" type="parTrans" cxnId="{254F48C0-A438-415C-8274-BA3AE3DA3A24}">
      <dgm:prSet/>
      <dgm:spPr/>
      <dgm:t>
        <a:bodyPr/>
        <a:lstStyle/>
        <a:p>
          <a:endParaRPr lang="en-IN"/>
        </a:p>
      </dgm:t>
    </dgm:pt>
    <dgm:pt modelId="{85165F3D-645F-49AF-80F2-3A3C809EC040}" type="sibTrans" cxnId="{254F48C0-A438-415C-8274-BA3AE3DA3A24}">
      <dgm:prSet/>
      <dgm:spPr/>
      <dgm:t>
        <a:bodyPr/>
        <a:lstStyle/>
        <a:p>
          <a:endParaRPr lang="en-IN"/>
        </a:p>
      </dgm:t>
    </dgm:pt>
    <dgm:pt modelId="{BFE8C811-A1ED-41FE-A58A-9A2CB8B738FA}">
      <dgm:prSet/>
      <dgm:spPr/>
      <dgm:t>
        <a:bodyPr/>
        <a:lstStyle/>
        <a:p>
          <a:r>
            <a:rPr lang="en-US" b="0" i="0" baseline="0"/>
            <a:t>windspeed: Normalized wind speed</a:t>
          </a:r>
          <a:endParaRPr lang="en-IN"/>
        </a:p>
      </dgm:t>
    </dgm:pt>
    <dgm:pt modelId="{ED390626-026F-4D8E-836D-E8684EF49D85}" type="parTrans" cxnId="{9F9413E1-0717-4035-9181-D3ED1AC07633}">
      <dgm:prSet/>
      <dgm:spPr/>
      <dgm:t>
        <a:bodyPr/>
        <a:lstStyle/>
        <a:p>
          <a:endParaRPr lang="en-IN"/>
        </a:p>
      </dgm:t>
    </dgm:pt>
    <dgm:pt modelId="{1E360264-99E3-4FB6-9644-85C9A8F3616A}" type="sibTrans" cxnId="{9F9413E1-0717-4035-9181-D3ED1AC07633}">
      <dgm:prSet/>
      <dgm:spPr/>
      <dgm:t>
        <a:bodyPr/>
        <a:lstStyle/>
        <a:p>
          <a:endParaRPr lang="en-IN"/>
        </a:p>
      </dgm:t>
    </dgm:pt>
    <dgm:pt modelId="{686892AE-65F7-4238-9771-3A9F50B7E0E3}" type="pres">
      <dgm:prSet presAssocID="{FD028297-4065-4245-934F-C99B7FE594BA}" presName="linear" presStyleCnt="0">
        <dgm:presLayoutVars>
          <dgm:animLvl val="lvl"/>
          <dgm:resizeHandles val="exact"/>
        </dgm:presLayoutVars>
      </dgm:prSet>
      <dgm:spPr/>
    </dgm:pt>
    <dgm:pt modelId="{9DAE13C3-989B-46D0-B55D-9EF5D325C985}" type="pres">
      <dgm:prSet presAssocID="{0A09DD5C-DFDC-4F53-AFCD-D786D2D1E699}" presName="parentText" presStyleLbl="node1" presStyleIdx="0" presStyleCnt="5">
        <dgm:presLayoutVars>
          <dgm:chMax val="0"/>
          <dgm:bulletEnabled val="1"/>
        </dgm:presLayoutVars>
      </dgm:prSet>
      <dgm:spPr/>
    </dgm:pt>
    <dgm:pt modelId="{21DAC1A8-CE51-43A4-855F-7F01C5FFDEEF}" type="pres">
      <dgm:prSet presAssocID="{CE965106-177F-4402-AD37-1A57AC523198}" presName="spacer" presStyleCnt="0"/>
      <dgm:spPr/>
    </dgm:pt>
    <dgm:pt modelId="{989A2FB1-0CBA-40CB-A00B-5AC78A9BED23}" type="pres">
      <dgm:prSet presAssocID="{B8467EAF-7942-463C-9A9A-E4DCB06B8624}" presName="parentText" presStyleLbl="node1" presStyleIdx="1" presStyleCnt="5">
        <dgm:presLayoutVars>
          <dgm:chMax val="0"/>
          <dgm:bulletEnabled val="1"/>
        </dgm:presLayoutVars>
      </dgm:prSet>
      <dgm:spPr/>
    </dgm:pt>
    <dgm:pt modelId="{74CE5482-C9AB-401A-A796-8F79D19DF2CE}" type="pres">
      <dgm:prSet presAssocID="{C6ADB38C-03ED-4AB2-B2BA-AF422770B80F}" presName="spacer" presStyleCnt="0"/>
      <dgm:spPr/>
    </dgm:pt>
    <dgm:pt modelId="{7637393B-683D-49A1-81A7-7FC6D1B77921}" type="pres">
      <dgm:prSet presAssocID="{EEE49993-069D-40F2-A977-AC2511B20558}" presName="parentText" presStyleLbl="node1" presStyleIdx="2" presStyleCnt="5">
        <dgm:presLayoutVars>
          <dgm:chMax val="0"/>
          <dgm:bulletEnabled val="1"/>
        </dgm:presLayoutVars>
      </dgm:prSet>
      <dgm:spPr/>
    </dgm:pt>
    <dgm:pt modelId="{59191C46-1971-400F-8F38-9816C520FB07}" type="pres">
      <dgm:prSet presAssocID="{C2E7698F-3B42-4AC6-A314-9CE8769B0CBE}" presName="spacer" presStyleCnt="0"/>
      <dgm:spPr/>
    </dgm:pt>
    <dgm:pt modelId="{9733828D-3FF2-43A6-ACDE-AFE0E0E8F07B}" type="pres">
      <dgm:prSet presAssocID="{0756E4BA-EE6F-46DC-9739-C082738F2220}" presName="parentText" presStyleLbl="node1" presStyleIdx="3" presStyleCnt="5">
        <dgm:presLayoutVars>
          <dgm:chMax val="0"/>
          <dgm:bulletEnabled val="1"/>
        </dgm:presLayoutVars>
      </dgm:prSet>
      <dgm:spPr/>
    </dgm:pt>
    <dgm:pt modelId="{7E87BE14-FEFE-4C1E-873F-02C8C28E6F83}" type="pres">
      <dgm:prSet presAssocID="{85165F3D-645F-49AF-80F2-3A3C809EC040}" presName="spacer" presStyleCnt="0"/>
      <dgm:spPr/>
    </dgm:pt>
    <dgm:pt modelId="{0F3229C2-B154-4295-9C5F-A9618E0FF6BF}" type="pres">
      <dgm:prSet presAssocID="{BFE8C811-A1ED-41FE-A58A-9A2CB8B738FA}" presName="parentText" presStyleLbl="node1" presStyleIdx="4" presStyleCnt="5">
        <dgm:presLayoutVars>
          <dgm:chMax val="0"/>
          <dgm:bulletEnabled val="1"/>
        </dgm:presLayoutVars>
      </dgm:prSet>
      <dgm:spPr/>
    </dgm:pt>
  </dgm:ptLst>
  <dgm:cxnLst>
    <dgm:cxn modelId="{D030C000-18FB-40B5-8E91-C3BA634F474B}" type="presOf" srcId="{B8467EAF-7942-463C-9A9A-E4DCB06B8624}" destId="{989A2FB1-0CBA-40CB-A00B-5AC78A9BED23}" srcOrd="0" destOrd="0" presId="urn:microsoft.com/office/officeart/2005/8/layout/vList2"/>
    <dgm:cxn modelId="{0BD2ED2C-524C-49FC-9FE5-F6610AF4F1EF}" type="presOf" srcId="{0A09DD5C-DFDC-4F53-AFCD-D786D2D1E699}" destId="{9DAE13C3-989B-46D0-B55D-9EF5D325C985}" srcOrd="0" destOrd="0" presId="urn:microsoft.com/office/officeart/2005/8/layout/vList2"/>
    <dgm:cxn modelId="{B4EA9A30-D6FE-408D-8B1D-73D7958BD8B7}" srcId="{FD028297-4065-4245-934F-C99B7FE594BA}" destId="{0A09DD5C-DFDC-4F53-AFCD-D786D2D1E699}" srcOrd="0" destOrd="0" parTransId="{0E41FB8F-6456-4760-98CA-E6560A5219D2}" sibTransId="{CE965106-177F-4402-AD37-1A57AC523198}"/>
    <dgm:cxn modelId="{F3EC7247-EA51-4C25-8ED7-BB47BE2D5C5F}" type="presOf" srcId="{0756E4BA-EE6F-46DC-9739-C082738F2220}" destId="{9733828D-3FF2-43A6-ACDE-AFE0E0E8F07B}" srcOrd="0" destOrd="0" presId="urn:microsoft.com/office/officeart/2005/8/layout/vList2"/>
    <dgm:cxn modelId="{4C3D9A67-2EB4-45F7-90D9-37D7A524ED7F}" srcId="{FD028297-4065-4245-934F-C99B7FE594BA}" destId="{EEE49993-069D-40F2-A977-AC2511B20558}" srcOrd="2" destOrd="0" parTransId="{E6D1BF01-5F57-4FC2-A342-8A5D4CF6A112}" sibTransId="{C2E7698F-3B42-4AC6-A314-9CE8769B0CBE}"/>
    <dgm:cxn modelId="{EDDA974C-F2A8-4A3C-BF3E-DF0F8FD099EB}" type="presOf" srcId="{FD028297-4065-4245-934F-C99B7FE594BA}" destId="{686892AE-65F7-4238-9771-3A9F50B7E0E3}" srcOrd="0" destOrd="0" presId="urn:microsoft.com/office/officeart/2005/8/layout/vList2"/>
    <dgm:cxn modelId="{254F48C0-A438-415C-8274-BA3AE3DA3A24}" srcId="{FD028297-4065-4245-934F-C99B7FE594BA}" destId="{0756E4BA-EE6F-46DC-9739-C082738F2220}" srcOrd="3" destOrd="0" parTransId="{DF304A18-8AC8-446C-A990-F5EF4518270E}" sibTransId="{85165F3D-645F-49AF-80F2-3A3C809EC040}"/>
    <dgm:cxn modelId="{9F9413E1-0717-4035-9181-D3ED1AC07633}" srcId="{FD028297-4065-4245-934F-C99B7FE594BA}" destId="{BFE8C811-A1ED-41FE-A58A-9A2CB8B738FA}" srcOrd="4" destOrd="0" parTransId="{ED390626-026F-4D8E-836D-E8684EF49D85}" sibTransId="{1E360264-99E3-4FB6-9644-85C9A8F3616A}"/>
    <dgm:cxn modelId="{398207E6-533E-45C9-B172-E258617C75E5}" srcId="{FD028297-4065-4245-934F-C99B7FE594BA}" destId="{B8467EAF-7942-463C-9A9A-E4DCB06B8624}" srcOrd="1" destOrd="0" parTransId="{A4DAD847-6267-43F2-8CCB-BD128C61A2BB}" sibTransId="{C6ADB38C-03ED-4AB2-B2BA-AF422770B80F}"/>
    <dgm:cxn modelId="{FAB12BEC-1496-4156-B236-706BE0CD1410}" type="presOf" srcId="{BFE8C811-A1ED-41FE-A58A-9A2CB8B738FA}" destId="{0F3229C2-B154-4295-9C5F-A9618E0FF6BF}" srcOrd="0" destOrd="0" presId="urn:microsoft.com/office/officeart/2005/8/layout/vList2"/>
    <dgm:cxn modelId="{CC6DFBF7-7C83-4113-94C5-5324143F2138}" type="presOf" srcId="{EEE49993-069D-40F2-A977-AC2511B20558}" destId="{7637393B-683D-49A1-81A7-7FC6D1B77921}" srcOrd="0" destOrd="0" presId="urn:microsoft.com/office/officeart/2005/8/layout/vList2"/>
    <dgm:cxn modelId="{BB58BA01-E427-480D-B55C-E4FCA4C60E77}" type="presParOf" srcId="{686892AE-65F7-4238-9771-3A9F50B7E0E3}" destId="{9DAE13C3-989B-46D0-B55D-9EF5D325C985}" srcOrd="0" destOrd="0" presId="urn:microsoft.com/office/officeart/2005/8/layout/vList2"/>
    <dgm:cxn modelId="{B08789C4-3FDD-4B0E-8D9A-9E604365741A}" type="presParOf" srcId="{686892AE-65F7-4238-9771-3A9F50B7E0E3}" destId="{21DAC1A8-CE51-43A4-855F-7F01C5FFDEEF}" srcOrd="1" destOrd="0" presId="urn:microsoft.com/office/officeart/2005/8/layout/vList2"/>
    <dgm:cxn modelId="{084B3F8E-D0AF-45F3-A6C4-FCF7EE5E370F}" type="presParOf" srcId="{686892AE-65F7-4238-9771-3A9F50B7E0E3}" destId="{989A2FB1-0CBA-40CB-A00B-5AC78A9BED23}" srcOrd="2" destOrd="0" presId="urn:microsoft.com/office/officeart/2005/8/layout/vList2"/>
    <dgm:cxn modelId="{CDA8A0CB-B515-4B06-BCA3-A9609F426B73}" type="presParOf" srcId="{686892AE-65F7-4238-9771-3A9F50B7E0E3}" destId="{74CE5482-C9AB-401A-A796-8F79D19DF2CE}" srcOrd="3" destOrd="0" presId="urn:microsoft.com/office/officeart/2005/8/layout/vList2"/>
    <dgm:cxn modelId="{E9809AC0-FDFE-43D2-AA92-CD6B92E90ECA}" type="presParOf" srcId="{686892AE-65F7-4238-9771-3A9F50B7E0E3}" destId="{7637393B-683D-49A1-81A7-7FC6D1B77921}" srcOrd="4" destOrd="0" presId="urn:microsoft.com/office/officeart/2005/8/layout/vList2"/>
    <dgm:cxn modelId="{69FEA652-36D4-4BE2-91CC-5068C7FB2116}" type="presParOf" srcId="{686892AE-65F7-4238-9771-3A9F50B7E0E3}" destId="{59191C46-1971-400F-8F38-9816C520FB07}" srcOrd="5" destOrd="0" presId="urn:microsoft.com/office/officeart/2005/8/layout/vList2"/>
    <dgm:cxn modelId="{BAFAFA68-BC7A-4274-AB83-2658F5B9C722}" type="presParOf" srcId="{686892AE-65F7-4238-9771-3A9F50B7E0E3}" destId="{9733828D-3FF2-43A6-ACDE-AFE0E0E8F07B}" srcOrd="6" destOrd="0" presId="urn:microsoft.com/office/officeart/2005/8/layout/vList2"/>
    <dgm:cxn modelId="{6885C04F-0FC3-4E82-B8A8-C184A34F6FEF}" type="presParOf" srcId="{686892AE-65F7-4238-9771-3A9F50B7E0E3}" destId="{7E87BE14-FEFE-4C1E-873F-02C8C28E6F83}" srcOrd="7" destOrd="0" presId="urn:microsoft.com/office/officeart/2005/8/layout/vList2"/>
    <dgm:cxn modelId="{95BCFE66-814E-47DE-ABBA-B1A2ECED0D8D}" type="presParOf" srcId="{686892AE-65F7-4238-9771-3A9F50B7E0E3}" destId="{0F3229C2-B154-4295-9C5F-A9618E0FF6BF}" srcOrd="8"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55D7487-8C3C-4A2C-9882-140A6B8D99BE}" type="doc">
      <dgm:prSet loTypeId="urn:microsoft.com/office/officeart/2005/8/layout/vList2" loCatId="list" qsTypeId="urn:microsoft.com/office/officeart/2005/8/quickstyle/simple1" qsCatId="simple" csTypeId="urn:microsoft.com/office/officeart/2005/8/colors/accent3_2" csCatId="accent3"/>
      <dgm:spPr/>
      <dgm:t>
        <a:bodyPr/>
        <a:lstStyle/>
        <a:p>
          <a:endParaRPr lang="en-IN"/>
        </a:p>
      </dgm:t>
    </dgm:pt>
    <dgm:pt modelId="{6A78BA59-4BFE-42F4-B437-229035F53EF3}">
      <dgm:prSet/>
      <dgm:spPr/>
      <dgm:t>
        <a:bodyPr/>
        <a:lstStyle/>
        <a:p>
          <a:r>
            <a:rPr lang="en-US" b="0" i="0" baseline="0"/>
            <a:t>casual: Count of casual users (unregistered).</a:t>
          </a:r>
          <a:endParaRPr lang="en-IN"/>
        </a:p>
      </dgm:t>
    </dgm:pt>
    <dgm:pt modelId="{18503BF7-FEE0-465A-9D09-205C9E263189}" type="parTrans" cxnId="{C5A0A233-39EE-4E5F-A283-63DC882DC27A}">
      <dgm:prSet/>
      <dgm:spPr/>
      <dgm:t>
        <a:bodyPr/>
        <a:lstStyle/>
        <a:p>
          <a:endParaRPr lang="en-IN"/>
        </a:p>
      </dgm:t>
    </dgm:pt>
    <dgm:pt modelId="{BE696A8E-FFB9-44E3-B19F-8A2497F4D0CB}" type="sibTrans" cxnId="{C5A0A233-39EE-4E5F-A283-63DC882DC27A}">
      <dgm:prSet/>
      <dgm:spPr/>
      <dgm:t>
        <a:bodyPr/>
        <a:lstStyle/>
        <a:p>
          <a:endParaRPr lang="en-IN"/>
        </a:p>
      </dgm:t>
    </dgm:pt>
    <dgm:pt modelId="{78E50F7B-5845-442C-AB80-9B5FCFCB8637}">
      <dgm:prSet/>
      <dgm:spPr/>
      <dgm:t>
        <a:bodyPr/>
        <a:lstStyle/>
        <a:p>
          <a:r>
            <a:rPr lang="en-US" b="0" i="0" baseline="0" dirty="0"/>
            <a:t>registered: Count of registered users. </a:t>
          </a:r>
          <a:endParaRPr lang="en-IN" dirty="0"/>
        </a:p>
      </dgm:t>
    </dgm:pt>
    <dgm:pt modelId="{FCEF7D4B-4104-4BAA-897B-34005BBCB2A3}" type="parTrans" cxnId="{37BB928B-591B-4C99-916B-4ECA81EA0B95}">
      <dgm:prSet/>
      <dgm:spPr/>
      <dgm:t>
        <a:bodyPr/>
        <a:lstStyle/>
        <a:p>
          <a:endParaRPr lang="en-IN"/>
        </a:p>
      </dgm:t>
    </dgm:pt>
    <dgm:pt modelId="{775BC7D6-FA65-42C7-8FCE-A8C7434FA0A5}" type="sibTrans" cxnId="{37BB928B-591B-4C99-916B-4ECA81EA0B95}">
      <dgm:prSet/>
      <dgm:spPr/>
      <dgm:t>
        <a:bodyPr/>
        <a:lstStyle/>
        <a:p>
          <a:endParaRPr lang="en-IN"/>
        </a:p>
      </dgm:t>
    </dgm:pt>
    <dgm:pt modelId="{C92262F5-5547-4660-A082-B64E9654D4DE}">
      <dgm:prSet/>
      <dgm:spPr/>
      <dgm:t>
        <a:bodyPr/>
        <a:lstStyle/>
        <a:p>
          <a:r>
            <a:rPr lang="en-US" b="0" i="0" baseline="0"/>
            <a:t>count: Total count of users [‘casual’] + [‘registered’].</a:t>
          </a:r>
          <a:endParaRPr lang="en-IN"/>
        </a:p>
      </dgm:t>
    </dgm:pt>
    <dgm:pt modelId="{73546E9C-64BB-4EAC-B499-F2D7A85FC798}" type="parTrans" cxnId="{7085BE2C-1FF4-4642-86F4-977C3C758E98}">
      <dgm:prSet/>
      <dgm:spPr/>
      <dgm:t>
        <a:bodyPr/>
        <a:lstStyle/>
        <a:p>
          <a:endParaRPr lang="en-IN"/>
        </a:p>
      </dgm:t>
    </dgm:pt>
    <dgm:pt modelId="{3B4E92D2-298B-478E-9010-4C28B139CF8A}" type="sibTrans" cxnId="{7085BE2C-1FF4-4642-86F4-977C3C758E98}">
      <dgm:prSet/>
      <dgm:spPr/>
      <dgm:t>
        <a:bodyPr/>
        <a:lstStyle/>
        <a:p>
          <a:endParaRPr lang="en-IN"/>
        </a:p>
      </dgm:t>
    </dgm:pt>
    <dgm:pt modelId="{CA223164-1C5C-4841-93DB-E33568BE735E}" type="pres">
      <dgm:prSet presAssocID="{F55D7487-8C3C-4A2C-9882-140A6B8D99BE}" presName="linear" presStyleCnt="0">
        <dgm:presLayoutVars>
          <dgm:animLvl val="lvl"/>
          <dgm:resizeHandles val="exact"/>
        </dgm:presLayoutVars>
      </dgm:prSet>
      <dgm:spPr/>
    </dgm:pt>
    <dgm:pt modelId="{0691D44A-04E3-4979-A49D-EE146177F1F8}" type="pres">
      <dgm:prSet presAssocID="{6A78BA59-4BFE-42F4-B437-229035F53EF3}" presName="parentText" presStyleLbl="node1" presStyleIdx="0" presStyleCnt="3">
        <dgm:presLayoutVars>
          <dgm:chMax val="0"/>
          <dgm:bulletEnabled val="1"/>
        </dgm:presLayoutVars>
      </dgm:prSet>
      <dgm:spPr/>
    </dgm:pt>
    <dgm:pt modelId="{2AC37B81-21F8-4A4C-9257-D771DD7634C8}" type="pres">
      <dgm:prSet presAssocID="{BE696A8E-FFB9-44E3-B19F-8A2497F4D0CB}" presName="spacer" presStyleCnt="0"/>
      <dgm:spPr/>
    </dgm:pt>
    <dgm:pt modelId="{4AAAE247-DFB3-4E4B-94EB-7B407655A683}" type="pres">
      <dgm:prSet presAssocID="{78E50F7B-5845-442C-AB80-9B5FCFCB8637}" presName="parentText" presStyleLbl="node1" presStyleIdx="1" presStyleCnt="3">
        <dgm:presLayoutVars>
          <dgm:chMax val="0"/>
          <dgm:bulletEnabled val="1"/>
        </dgm:presLayoutVars>
      </dgm:prSet>
      <dgm:spPr/>
    </dgm:pt>
    <dgm:pt modelId="{BAC96896-3255-497F-9017-AD35F3B8987D}" type="pres">
      <dgm:prSet presAssocID="{775BC7D6-FA65-42C7-8FCE-A8C7434FA0A5}" presName="spacer" presStyleCnt="0"/>
      <dgm:spPr/>
    </dgm:pt>
    <dgm:pt modelId="{FF2F93D9-98C3-42A2-BAB6-E2E7007B3384}" type="pres">
      <dgm:prSet presAssocID="{C92262F5-5547-4660-A082-B64E9654D4DE}" presName="parentText" presStyleLbl="node1" presStyleIdx="2" presStyleCnt="3">
        <dgm:presLayoutVars>
          <dgm:chMax val="0"/>
          <dgm:bulletEnabled val="1"/>
        </dgm:presLayoutVars>
      </dgm:prSet>
      <dgm:spPr/>
    </dgm:pt>
  </dgm:ptLst>
  <dgm:cxnLst>
    <dgm:cxn modelId="{7085BE2C-1FF4-4642-86F4-977C3C758E98}" srcId="{F55D7487-8C3C-4A2C-9882-140A6B8D99BE}" destId="{C92262F5-5547-4660-A082-B64E9654D4DE}" srcOrd="2" destOrd="0" parTransId="{73546E9C-64BB-4EAC-B499-F2D7A85FC798}" sibTransId="{3B4E92D2-298B-478E-9010-4C28B139CF8A}"/>
    <dgm:cxn modelId="{C5A0A233-39EE-4E5F-A283-63DC882DC27A}" srcId="{F55D7487-8C3C-4A2C-9882-140A6B8D99BE}" destId="{6A78BA59-4BFE-42F4-B437-229035F53EF3}" srcOrd="0" destOrd="0" parTransId="{18503BF7-FEE0-465A-9D09-205C9E263189}" sibTransId="{BE696A8E-FFB9-44E3-B19F-8A2497F4D0CB}"/>
    <dgm:cxn modelId="{A332374A-6F69-40B4-9A6E-D2328CAA7F3F}" type="presOf" srcId="{78E50F7B-5845-442C-AB80-9B5FCFCB8637}" destId="{4AAAE247-DFB3-4E4B-94EB-7B407655A683}" srcOrd="0" destOrd="0" presId="urn:microsoft.com/office/officeart/2005/8/layout/vList2"/>
    <dgm:cxn modelId="{610DF94E-5E18-4D86-9CAE-CBECBEA3A60B}" type="presOf" srcId="{F55D7487-8C3C-4A2C-9882-140A6B8D99BE}" destId="{CA223164-1C5C-4841-93DB-E33568BE735E}" srcOrd="0" destOrd="0" presId="urn:microsoft.com/office/officeart/2005/8/layout/vList2"/>
    <dgm:cxn modelId="{63337F75-5292-4961-9EBC-AC4CB57C7CFE}" type="presOf" srcId="{C92262F5-5547-4660-A082-B64E9654D4DE}" destId="{FF2F93D9-98C3-42A2-BAB6-E2E7007B3384}" srcOrd="0" destOrd="0" presId="urn:microsoft.com/office/officeart/2005/8/layout/vList2"/>
    <dgm:cxn modelId="{37BB928B-591B-4C99-916B-4ECA81EA0B95}" srcId="{F55D7487-8C3C-4A2C-9882-140A6B8D99BE}" destId="{78E50F7B-5845-442C-AB80-9B5FCFCB8637}" srcOrd="1" destOrd="0" parTransId="{FCEF7D4B-4104-4BAA-897B-34005BBCB2A3}" sibTransId="{775BC7D6-FA65-42C7-8FCE-A8C7434FA0A5}"/>
    <dgm:cxn modelId="{E9D8DBC5-CF17-437A-8652-57316B0C2CCE}" type="presOf" srcId="{6A78BA59-4BFE-42F4-B437-229035F53EF3}" destId="{0691D44A-04E3-4979-A49D-EE146177F1F8}" srcOrd="0" destOrd="0" presId="urn:microsoft.com/office/officeart/2005/8/layout/vList2"/>
    <dgm:cxn modelId="{819B13A2-0719-479B-825E-90E683D69350}" type="presParOf" srcId="{CA223164-1C5C-4841-93DB-E33568BE735E}" destId="{0691D44A-04E3-4979-A49D-EE146177F1F8}" srcOrd="0" destOrd="0" presId="urn:microsoft.com/office/officeart/2005/8/layout/vList2"/>
    <dgm:cxn modelId="{B9300394-622A-4866-BC9D-09DA1831B97D}" type="presParOf" srcId="{CA223164-1C5C-4841-93DB-E33568BE735E}" destId="{2AC37B81-21F8-4A4C-9257-D771DD7634C8}" srcOrd="1" destOrd="0" presId="urn:microsoft.com/office/officeart/2005/8/layout/vList2"/>
    <dgm:cxn modelId="{014754D3-E4CA-48FF-ACEA-0E98C52DB091}" type="presParOf" srcId="{CA223164-1C5C-4841-93DB-E33568BE735E}" destId="{4AAAE247-DFB3-4E4B-94EB-7B407655A683}" srcOrd="2" destOrd="0" presId="urn:microsoft.com/office/officeart/2005/8/layout/vList2"/>
    <dgm:cxn modelId="{C2D9F188-1EB8-4984-82A5-5E679B31B154}" type="presParOf" srcId="{CA223164-1C5C-4841-93DB-E33568BE735E}" destId="{BAC96896-3255-497F-9017-AD35F3B8987D}" srcOrd="3" destOrd="0" presId="urn:microsoft.com/office/officeart/2005/8/layout/vList2"/>
    <dgm:cxn modelId="{795A7A97-8F7D-4619-B13A-E4A153B8CA5F}" type="presParOf" srcId="{CA223164-1C5C-4841-93DB-E33568BE735E}" destId="{FF2F93D9-98C3-42A2-BAB6-E2E7007B3384}" srcOrd="4" destOrd="0" presId="urn:microsoft.com/office/officeart/2005/8/layout/vList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BCC395-9686-4513-AE98-58115C8C0EA2}">
      <dsp:nvSpPr>
        <dsp:cNvPr id="0" name=""/>
        <dsp:cNvSpPr/>
      </dsp:nvSpPr>
      <dsp:spPr>
        <a:xfrm>
          <a:off x="0" y="236189"/>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dirty="0" err="1"/>
            <a:t>dteday</a:t>
          </a:r>
          <a:r>
            <a:rPr lang="en-US" sz="800" b="0" i="0" kern="1200" baseline="0" dirty="0"/>
            <a:t>: The date of the record.</a:t>
          </a:r>
          <a:endParaRPr lang="en-IN" sz="800" kern="1200" dirty="0"/>
        </a:p>
      </dsp:txBody>
      <dsp:txXfrm>
        <a:off x="9824" y="246013"/>
        <a:ext cx="3756796" cy="181592"/>
      </dsp:txXfrm>
    </dsp:sp>
    <dsp:sp modelId="{B4FD0BC7-B2DB-429D-BA27-E01B601E6442}">
      <dsp:nvSpPr>
        <dsp:cNvPr id="0" name=""/>
        <dsp:cNvSpPr/>
      </dsp:nvSpPr>
      <dsp:spPr>
        <a:xfrm>
          <a:off x="0" y="460469"/>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a:t>season: The season during which the record was taken (1: Winter, 2: Spring, 3: Summer, 4: Fall).</a:t>
          </a:r>
          <a:endParaRPr lang="en-IN" sz="800" kern="1200"/>
        </a:p>
      </dsp:txBody>
      <dsp:txXfrm>
        <a:off x="9824" y="470293"/>
        <a:ext cx="3756796" cy="181592"/>
      </dsp:txXfrm>
    </dsp:sp>
    <dsp:sp modelId="{CD1783ED-5BA1-4459-8EAD-9CE42973728D}">
      <dsp:nvSpPr>
        <dsp:cNvPr id="0" name=""/>
        <dsp:cNvSpPr/>
      </dsp:nvSpPr>
      <dsp:spPr>
        <a:xfrm>
          <a:off x="0" y="684750"/>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a:t>yr: The year of the record (0: 2011, 1: 2012).</a:t>
          </a:r>
          <a:endParaRPr lang="en-IN" sz="800" kern="1200"/>
        </a:p>
      </dsp:txBody>
      <dsp:txXfrm>
        <a:off x="9824" y="694574"/>
        <a:ext cx="3756796" cy="181592"/>
      </dsp:txXfrm>
    </dsp:sp>
    <dsp:sp modelId="{D42BEBDC-8D29-4B85-A48B-2A4BAD68F206}">
      <dsp:nvSpPr>
        <dsp:cNvPr id="0" name=""/>
        <dsp:cNvSpPr/>
      </dsp:nvSpPr>
      <dsp:spPr>
        <a:xfrm>
          <a:off x="0" y="909030"/>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a:t>mnth: The month of the record (1 to 12).</a:t>
          </a:r>
          <a:endParaRPr lang="en-IN" sz="800" kern="1200"/>
        </a:p>
      </dsp:txBody>
      <dsp:txXfrm>
        <a:off x="9824" y="918854"/>
        <a:ext cx="3756796" cy="181592"/>
      </dsp:txXfrm>
    </dsp:sp>
    <dsp:sp modelId="{9024882C-F70A-4A83-9F03-4F36A9B07890}">
      <dsp:nvSpPr>
        <dsp:cNvPr id="0" name=""/>
        <dsp:cNvSpPr/>
      </dsp:nvSpPr>
      <dsp:spPr>
        <a:xfrm>
          <a:off x="0" y="1133310"/>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a:t>weekday: The day of the week (0: Sunday, 1: Monday, ..., 6: Saturday).</a:t>
          </a:r>
          <a:endParaRPr lang="en-IN" sz="800" kern="1200"/>
        </a:p>
      </dsp:txBody>
      <dsp:txXfrm>
        <a:off x="9824" y="1143134"/>
        <a:ext cx="3756796" cy="181592"/>
      </dsp:txXfrm>
    </dsp:sp>
    <dsp:sp modelId="{2CEE42D4-9C06-461C-9668-EBA4E657AE58}">
      <dsp:nvSpPr>
        <dsp:cNvPr id="0" name=""/>
        <dsp:cNvSpPr/>
      </dsp:nvSpPr>
      <dsp:spPr>
        <a:xfrm>
          <a:off x="0" y="1357590"/>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a:t>holiday: Whether the day is a public holiday (1) or not (0).</a:t>
          </a:r>
          <a:endParaRPr lang="en-IN" sz="800" kern="1200"/>
        </a:p>
      </dsp:txBody>
      <dsp:txXfrm>
        <a:off x="9824" y="1367414"/>
        <a:ext cx="3756796" cy="181592"/>
      </dsp:txXfrm>
    </dsp:sp>
    <dsp:sp modelId="{02290D8E-60E4-4C93-B894-FB8C709C73C0}">
      <dsp:nvSpPr>
        <dsp:cNvPr id="0" name=""/>
        <dsp:cNvSpPr/>
      </dsp:nvSpPr>
      <dsp:spPr>
        <a:xfrm>
          <a:off x="0" y="1581869"/>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a:t>workingday: Whether the day is a working day (1) or not (0).</a:t>
          </a:r>
          <a:endParaRPr lang="en-IN" sz="800" kern="1200"/>
        </a:p>
      </dsp:txBody>
      <dsp:txXfrm>
        <a:off x="9824" y="1591693"/>
        <a:ext cx="3756796" cy="1815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E13C3-989B-46D0-B55D-9EF5D325C985}">
      <dsp:nvSpPr>
        <dsp:cNvPr id="0" name=""/>
        <dsp:cNvSpPr/>
      </dsp:nvSpPr>
      <dsp:spPr>
        <a:xfrm>
          <a:off x="0" y="8850"/>
          <a:ext cx="3886200" cy="25155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0" i="0" kern="1200" baseline="0" dirty="0" err="1"/>
            <a:t>weathersit</a:t>
          </a:r>
          <a:r>
            <a:rPr lang="en-US" sz="1000" b="0" i="0" kern="1200" baseline="0" dirty="0"/>
            <a:t>: The weather situation (1: Clear, 2: Few clouds, 3: Partly cloudy)</a:t>
          </a:r>
          <a:endParaRPr lang="en-IN" sz="1000" kern="1200" dirty="0"/>
        </a:p>
      </dsp:txBody>
      <dsp:txXfrm>
        <a:off x="12280" y="21130"/>
        <a:ext cx="3861640" cy="226990"/>
      </dsp:txXfrm>
    </dsp:sp>
    <dsp:sp modelId="{989A2FB1-0CBA-40CB-A00B-5AC78A9BED23}">
      <dsp:nvSpPr>
        <dsp:cNvPr id="0" name=""/>
        <dsp:cNvSpPr/>
      </dsp:nvSpPr>
      <dsp:spPr>
        <a:xfrm>
          <a:off x="0" y="289200"/>
          <a:ext cx="3886200" cy="25155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0" i="0" kern="1200" baseline="0"/>
            <a:t>temp: Normalized temperature in Celsius. </a:t>
          </a:r>
          <a:endParaRPr lang="en-IN" sz="1000" kern="1200"/>
        </a:p>
      </dsp:txBody>
      <dsp:txXfrm>
        <a:off x="12280" y="301480"/>
        <a:ext cx="3861640" cy="226990"/>
      </dsp:txXfrm>
    </dsp:sp>
    <dsp:sp modelId="{7637393B-683D-49A1-81A7-7FC6D1B77921}">
      <dsp:nvSpPr>
        <dsp:cNvPr id="0" name=""/>
        <dsp:cNvSpPr/>
      </dsp:nvSpPr>
      <dsp:spPr>
        <a:xfrm>
          <a:off x="0" y="569550"/>
          <a:ext cx="3886200" cy="25155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0" i="0" kern="1200" baseline="0"/>
            <a:t>atemp: Normalized feeling temperature in Celsius.</a:t>
          </a:r>
          <a:endParaRPr lang="en-IN" sz="1000" kern="1200"/>
        </a:p>
      </dsp:txBody>
      <dsp:txXfrm>
        <a:off x="12280" y="581830"/>
        <a:ext cx="3861640" cy="226990"/>
      </dsp:txXfrm>
    </dsp:sp>
    <dsp:sp modelId="{9733828D-3FF2-43A6-ACDE-AFE0E0E8F07B}">
      <dsp:nvSpPr>
        <dsp:cNvPr id="0" name=""/>
        <dsp:cNvSpPr/>
      </dsp:nvSpPr>
      <dsp:spPr>
        <a:xfrm>
          <a:off x="0" y="849900"/>
          <a:ext cx="3886200" cy="25155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0" i="0" kern="1200" baseline="0"/>
            <a:t>hum: Normalized humidity.</a:t>
          </a:r>
          <a:endParaRPr lang="en-IN" sz="1000" kern="1200"/>
        </a:p>
      </dsp:txBody>
      <dsp:txXfrm>
        <a:off x="12280" y="862180"/>
        <a:ext cx="3861640" cy="226990"/>
      </dsp:txXfrm>
    </dsp:sp>
    <dsp:sp modelId="{0F3229C2-B154-4295-9C5F-A9618E0FF6BF}">
      <dsp:nvSpPr>
        <dsp:cNvPr id="0" name=""/>
        <dsp:cNvSpPr/>
      </dsp:nvSpPr>
      <dsp:spPr>
        <a:xfrm>
          <a:off x="0" y="1130250"/>
          <a:ext cx="3886200" cy="25155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0" i="0" kern="1200" baseline="0"/>
            <a:t>windspeed: Normalized wind speed</a:t>
          </a:r>
          <a:endParaRPr lang="en-IN" sz="1000" kern="1200"/>
        </a:p>
      </dsp:txBody>
      <dsp:txXfrm>
        <a:off x="12280" y="1142530"/>
        <a:ext cx="3861640" cy="2269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91D44A-04E3-4979-A49D-EE146177F1F8}">
      <dsp:nvSpPr>
        <dsp:cNvPr id="0" name=""/>
        <dsp:cNvSpPr/>
      </dsp:nvSpPr>
      <dsp:spPr>
        <a:xfrm>
          <a:off x="0" y="10724"/>
          <a:ext cx="3658604" cy="2263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baseline="0"/>
            <a:t>casual: Count of casual users (unregistered).</a:t>
          </a:r>
          <a:endParaRPr lang="en-IN" sz="900" kern="1200"/>
        </a:p>
      </dsp:txBody>
      <dsp:txXfrm>
        <a:off x="11052" y="21776"/>
        <a:ext cx="3636500" cy="204291"/>
      </dsp:txXfrm>
    </dsp:sp>
    <dsp:sp modelId="{4AAAE247-DFB3-4E4B-94EB-7B407655A683}">
      <dsp:nvSpPr>
        <dsp:cNvPr id="0" name=""/>
        <dsp:cNvSpPr/>
      </dsp:nvSpPr>
      <dsp:spPr>
        <a:xfrm>
          <a:off x="0" y="263040"/>
          <a:ext cx="3658604" cy="2263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baseline="0" dirty="0"/>
            <a:t>registered: Count of registered users. </a:t>
          </a:r>
          <a:endParaRPr lang="en-IN" sz="900" kern="1200" dirty="0"/>
        </a:p>
      </dsp:txBody>
      <dsp:txXfrm>
        <a:off x="11052" y="274092"/>
        <a:ext cx="3636500" cy="204291"/>
      </dsp:txXfrm>
    </dsp:sp>
    <dsp:sp modelId="{FF2F93D9-98C3-42A2-BAB6-E2E7007B3384}">
      <dsp:nvSpPr>
        <dsp:cNvPr id="0" name=""/>
        <dsp:cNvSpPr/>
      </dsp:nvSpPr>
      <dsp:spPr>
        <a:xfrm>
          <a:off x="0" y="515355"/>
          <a:ext cx="3658604" cy="2263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baseline="0"/>
            <a:t>count: Total count of users [‘casual’] + [‘registered’].</a:t>
          </a:r>
          <a:endParaRPr lang="en-IN" sz="900" kern="1200"/>
        </a:p>
      </dsp:txBody>
      <dsp:txXfrm>
        <a:off x="11052" y="526407"/>
        <a:ext cx="3636500" cy="20429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A57456-157A-C12A-2FEC-91B7B9EE49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D46761-828E-1508-56BD-BAEADF348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F95820-84BB-3447-8286-60A51307E7F2}" type="datetimeFigureOut">
              <a:rPr lang="en-US" smtClean="0"/>
              <a:t>6/7/2024</a:t>
            </a:fld>
            <a:endParaRPr lang="en-US" dirty="0"/>
          </a:p>
        </p:txBody>
      </p:sp>
      <p:sp>
        <p:nvSpPr>
          <p:cNvPr id="4" name="Footer Placeholder 3">
            <a:extLst>
              <a:ext uri="{FF2B5EF4-FFF2-40B4-BE49-F238E27FC236}">
                <a16:creationId xmlns:a16="http://schemas.microsoft.com/office/drawing/2014/main" id="{CD428A7E-6B0E-809C-73D1-4B5E2FF47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89A5AA6-0C5B-430A-E0C4-C90B2F0A1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476440-F66F-F947-8EFC-EA5202ACFD25}" type="slidenum">
              <a:rPr lang="en-US" smtClean="0"/>
              <a:t>‹#›</a:t>
            </a:fld>
            <a:endParaRPr lang="en-US" dirty="0"/>
          </a:p>
        </p:txBody>
      </p:sp>
    </p:spTree>
    <p:extLst>
      <p:ext uri="{BB962C8B-B14F-4D97-AF65-F5344CB8AC3E}">
        <p14:creationId xmlns:p14="http://schemas.microsoft.com/office/powerpoint/2010/main" val="23371176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8FC54-6AE4-6A4A-9756-823A0F1BE5A6}" type="datetimeFigureOut">
              <a:rPr lang="en-US" smtClean="0"/>
              <a:t>6/7/2024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9E9EB-07EB-9D44-9F5A-AB1FBECCDD88}" type="slidenum">
              <a:rPr lang="en-US" smtClean="0"/>
              <a:t>‹#›</a:t>
            </a:fld>
            <a:endParaRPr lang="en-US" dirty="0"/>
          </a:p>
        </p:txBody>
      </p:sp>
    </p:spTree>
    <p:extLst>
      <p:ext uri="{BB962C8B-B14F-4D97-AF65-F5344CB8AC3E}">
        <p14:creationId xmlns:p14="http://schemas.microsoft.com/office/powerpoint/2010/main" val="154675874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50097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85623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50424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424244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1C745E-9B5A-59BF-BF50-4F251E39D58D}"/>
              </a:ext>
            </a:extLst>
          </p:cNvPr>
          <p:cNvSpPr/>
          <p:nvPr userDrawn="1"/>
        </p:nvSpPr>
        <p:spPr>
          <a:xfrm>
            <a:off x="304800" y="266701"/>
            <a:ext cx="11582400" cy="63245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F2B4A7EA-9E3F-9CE1-56B5-92F4FDDA6991}"/>
              </a:ext>
            </a:extLst>
          </p:cNvPr>
          <p:cNvSpPr>
            <a:spLocks noGrp="1"/>
          </p:cNvSpPr>
          <p:nvPr>
            <p:ph type="pic" sz="quarter" idx="10"/>
          </p:nvPr>
        </p:nvSpPr>
        <p:spPr>
          <a:xfrm>
            <a:off x="2324100" y="758952"/>
            <a:ext cx="7543800" cy="5029200"/>
          </a:xfrm>
          <a:custGeom>
            <a:avLst/>
            <a:gdLst>
              <a:gd name="connsiteX0" fmla="*/ 3567113 w 7543800"/>
              <a:gd name="connsiteY0" fmla="*/ 4869270 h 5029200"/>
              <a:gd name="connsiteX1" fmla="*/ 3567113 w 7543800"/>
              <a:gd name="connsiteY1" fmla="*/ 4957572 h 5029200"/>
              <a:gd name="connsiteX2" fmla="*/ 3976688 w 7543800"/>
              <a:gd name="connsiteY2" fmla="*/ 4957572 h 5029200"/>
              <a:gd name="connsiteX3" fmla="*/ 3976688 w 7543800"/>
              <a:gd name="connsiteY3" fmla="*/ 4869270 h 5029200"/>
              <a:gd name="connsiteX4" fmla="*/ 0 w 7543800"/>
              <a:gd name="connsiteY4" fmla="*/ 0 h 5029200"/>
              <a:gd name="connsiteX5" fmla="*/ 7543800 w 7543800"/>
              <a:gd name="connsiteY5" fmla="*/ 0 h 5029200"/>
              <a:gd name="connsiteX6" fmla="*/ 7543800 w 7543800"/>
              <a:gd name="connsiteY6" fmla="*/ 5029200 h 5029200"/>
              <a:gd name="connsiteX7" fmla="*/ 0 w 7543800"/>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43800" h="5029200">
                <a:moveTo>
                  <a:pt x="3567113" y="4869270"/>
                </a:moveTo>
                <a:lnTo>
                  <a:pt x="3567113" y="4957572"/>
                </a:lnTo>
                <a:lnTo>
                  <a:pt x="3976688" y="4957572"/>
                </a:lnTo>
                <a:lnTo>
                  <a:pt x="3976688" y="4869270"/>
                </a:lnTo>
                <a:close/>
                <a:moveTo>
                  <a:pt x="0" y="0"/>
                </a:moveTo>
                <a:lnTo>
                  <a:pt x="7543800" y="0"/>
                </a:lnTo>
                <a:lnTo>
                  <a:pt x="7543800" y="5029200"/>
                </a:lnTo>
                <a:lnTo>
                  <a:pt x="0" y="5029200"/>
                </a:lnTo>
                <a:close/>
              </a:path>
            </a:pathLst>
          </a:custGeom>
        </p:spPr>
        <p:txBody>
          <a:bodyPr wrap="square">
            <a:noAutofit/>
          </a:bodyPr>
          <a:lstStyle>
            <a:lvl1pPr marL="0" indent="0" algn="ctr">
              <a:buNone/>
              <a:defRPr/>
            </a:lvl1pPr>
          </a:lstStyle>
          <a:p>
            <a:r>
              <a:rPr lang="en-US"/>
              <a:t>Click icon to add picture</a:t>
            </a:r>
            <a:endParaRPr lang="en-US" dirty="0"/>
          </a:p>
        </p:txBody>
      </p:sp>
      <p:sp>
        <p:nvSpPr>
          <p:cNvPr id="9" name="Title 8">
            <a:extLst>
              <a:ext uri="{FF2B5EF4-FFF2-40B4-BE49-F238E27FC236}">
                <a16:creationId xmlns:a16="http://schemas.microsoft.com/office/drawing/2014/main" id="{42398E06-9E0E-BC81-DEB5-1DB2F8635C23}"/>
              </a:ext>
            </a:extLst>
          </p:cNvPr>
          <p:cNvSpPr>
            <a:spLocks noGrp="1"/>
          </p:cNvSpPr>
          <p:nvPr>
            <p:ph type="title"/>
          </p:nvPr>
        </p:nvSpPr>
        <p:spPr>
          <a:xfrm>
            <a:off x="838200" y="3108960"/>
            <a:ext cx="10515600" cy="640080"/>
          </a:xfrm>
        </p:spPr>
        <p:txBody>
          <a:bodyPr anchor="ctr"/>
          <a:lstStyle>
            <a:lvl1pPr algn="ctr">
              <a:defRPr sz="6000" spc="300" baseline="0"/>
            </a:lvl1pPr>
          </a:lstStyle>
          <a:p>
            <a:r>
              <a:rPr lang="en-US"/>
              <a:t>Click to edit Master title style</a:t>
            </a:r>
            <a:endParaRPr lang="en-US" dirty="0"/>
          </a:p>
        </p:txBody>
      </p:sp>
      <p:sp>
        <p:nvSpPr>
          <p:cNvPr id="11" name="Rectangle 10">
            <a:extLst>
              <a:ext uri="{FF2B5EF4-FFF2-40B4-BE49-F238E27FC236}">
                <a16:creationId xmlns:a16="http://schemas.microsoft.com/office/drawing/2014/main" id="{39F70834-CB8D-A95B-D859-6E5B4C6B4F78}"/>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0691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94B2501-78A9-E41B-7C2D-09F09ADDCB5E}"/>
              </a:ext>
            </a:extLst>
          </p:cNvPr>
          <p:cNvSpPr/>
          <p:nvPr userDrawn="1"/>
        </p:nvSpPr>
        <p:spPr>
          <a:xfrm>
            <a:off x="8610600" y="0"/>
            <a:ext cx="35814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BA0478E-A529-CF4E-CE5C-583ACA20D66C}"/>
              </a:ext>
            </a:extLst>
          </p:cNvPr>
          <p:cNvSpPr/>
          <p:nvPr userDrawn="1"/>
        </p:nvSpPr>
        <p:spPr>
          <a:xfrm>
            <a:off x="4462849" y="685800"/>
            <a:ext cx="7119551" cy="54864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95400" y="1124712"/>
            <a:ext cx="3886200" cy="548640"/>
          </a:xfrm>
        </p:spPr>
        <p:txBody>
          <a:bodyPr/>
          <a:lstStyle>
            <a:lvl1pPr>
              <a:defRPr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95400" y="2816352"/>
            <a:ext cx="3602736" cy="3364992"/>
          </a:xfrm>
        </p:spPr>
        <p:txBody>
          <a:bodyPr/>
          <a:lstStyle>
            <a:lvl1pPr marL="0" indent="0">
              <a:lnSpc>
                <a:spcPct val="150000"/>
              </a:lnSpc>
              <a:buNone/>
              <a:defRPr sz="2000" cap="all" spc="0" baseline="0"/>
            </a:lvl1pPr>
            <a:lvl2pPr marL="228600">
              <a:defRPr spc="0" baseline="0"/>
            </a:lvl2pPr>
            <a:lvl3pPr marL="457200">
              <a:defRPr spc="0" baseline="0"/>
            </a:lvl3pPr>
            <a:lvl4pPr marL="685800">
              <a:defRPr spc="0" baseline="0"/>
            </a:lvl4pPr>
            <a:lvl5pPr marL="1143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4946904" y="1188720"/>
            <a:ext cx="6638544" cy="4480560"/>
          </a:xfrm>
          <a:noFill/>
        </p:spPr>
        <p:txBody>
          <a:bodyPr anchor="ctr"/>
          <a:lstStyle>
            <a:lvl1pPr marL="0" indent="0" algn="ctr">
              <a:buNone/>
              <a:defRPr/>
            </a:lvl1pPr>
          </a:lstStyle>
          <a:p>
            <a:r>
              <a:rPr lang="en-US"/>
              <a:t>Click icon to add picture</a:t>
            </a:r>
            <a:endParaRPr lang="en-US" dirty="0"/>
          </a:p>
        </p:txBody>
      </p:sp>
      <p:cxnSp>
        <p:nvCxnSpPr>
          <p:cNvPr id="8" name="Straight Connector 7">
            <a:extLst>
              <a:ext uri="{FF2B5EF4-FFF2-40B4-BE49-F238E27FC236}">
                <a16:creationId xmlns:a16="http://schemas.microsoft.com/office/drawing/2014/main" id="{D792E47F-4E2C-B4B2-51F0-43D9D15C5A60}"/>
              </a:ext>
            </a:extLst>
          </p:cNvPr>
          <p:cNvCxnSpPr>
            <a:cxnSpLocks/>
          </p:cNvCxnSpPr>
          <p:nvPr userDrawn="1"/>
        </p:nvCxnSpPr>
        <p:spPr>
          <a:xfrm>
            <a:off x="1295400"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816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4"/>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BA0478E-A529-CF4E-CE5C-583ACA20D66C}"/>
              </a:ext>
            </a:extLst>
          </p:cNvPr>
          <p:cNvSpPr/>
          <p:nvPr userDrawn="1"/>
        </p:nvSpPr>
        <p:spPr>
          <a:xfrm>
            <a:off x="3578352" y="0"/>
            <a:ext cx="861364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5449824" y="1124712"/>
            <a:ext cx="5760720" cy="548640"/>
          </a:xfrm>
        </p:spPr>
        <p:txBody>
          <a:bodyPr/>
          <a:lstStyle>
            <a:lvl1pPr>
              <a:defRPr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449824" y="2889504"/>
            <a:ext cx="5760720" cy="3319272"/>
          </a:xfrm>
        </p:spPr>
        <p:txBody>
          <a:bodyPr/>
          <a:lstStyle>
            <a:lvl1pPr marL="0" indent="0">
              <a:lnSpc>
                <a:spcPct val="150000"/>
              </a:lnSpc>
              <a:buNone/>
              <a:defRPr sz="2000" cap="none" spc="0" baseline="0"/>
            </a:lvl1pPr>
            <a:lvl2pPr marL="228600">
              <a:defRPr spc="0" baseline="0"/>
            </a:lvl2pPr>
            <a:lvl3pPr marL="457200">
              <a:defRPr spc="0" baseline="0"/>
            </a:lvl3pPr>
            <a:lvl4pPr marL="685800">
              <a:defRPr spc="0" baseline="0"/>
            </a:lvl4pPr>
            <a:lvl5pPr marL="1143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lvl1pPr>
              <a:defRPr>
                <a:solidFill>
                  <a:schemeClr val="bg1"/>
                </a:solidFill>
              </a:defRPr>
            </a:lvl1pPr>
          </a:lstStyle>
          <a:p>
            <a:fld id="{75DF2D63-3FF5-D547-96B9-BE9CCD1ABA58}" type="slidenum">
              <a:rPr lang="en-US" smtClean="0"/>
              <a:pPr/>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lvl1pPr>
              <a:defRPr>
                <a:solidFill>
                  <a:schemeClr val="bg1"/>
                </a:solidFill>
              </a:defRPr>
            </a:lvl1pPr>
          </a:lstStyle>
          <a:p>
            <a:r>
              <a:rPr lang="en-US" dirty="0"/>
              <a:t>presentation title</a:t>
            </a:r>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1298448" y="1828800"/>
            <a:ext cx="3200400" cy="3200400"/>
          </a:xfrm>
          <a:prstGeom prst="ellipse">
            <a:avLst/>
          </a:prstGeom>
          <a:noFill/>
        </p:spPr>
        <p:txBody>
          <a:bodyPr anchor="ctr"/>
          <a:lstStyle>
            <a:lvl1pPr marL="0" indent="0" algn="ctr">
              <a:buNone/>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F036BAAC-D89F-682D-12A3-1C31F92F0FAF}"/>
              </a:ext>
            </a:extLst>
          </p:cNvPr>
          <p:cNvCxnSpPr>
            <a:cxnSpLocks/>
          </p:cNvCxnSpPr>
          <p:nvPr userDrawn="1"/>
        </p:nvCxnSpPr>
        <p:spPr>
          <a:xfrm>
            <a:off x="649224" y="2667000"/>
            <a:ext cx="0" cy="31242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F877625-E710-6DF2-3E49-374C6DD8DBC0}"/>
              </a:ext>
            </a:extLst>
          </p:cNvPr>
          <p:cNvCxnSpPr>
            <a:cxnSpLocks/>
          </p:cNvCxnSpPr>
          <p:nvPr userDrawn="1"/>
        </p:nvCxnSpPr>
        <p:spPr>
          <a:xfrm>
            <a:off x="5447344"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7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iton Header">
    <p:bg>
      <p:bgPr>
        <a:solidFill>
          <a:schemeClr val="accent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ED0AC02C-19A4-4754-CC96-34357DEFF55D}"/>
              </a:ext>
            </a:extLst>
          </p:cNvPr>
          <p:cNvSpPr>
            <a:spLocks noGrp="1"/>
          </p:cNvSpPr>
          <p:nvPr>
            <p:ph type="pic" sz="quarter" idx="10"/>
          </p:nvPr>
        </p:nvSpPr>
        <p:spPr>
          <a:xfrm>
            <a:off x="1527048" y="1481328"/>
            <a:ext cx="9144000" cy="3886200"/>
          </a:xfrm>
          <a:custGeom>
            <a:avLst/>
            <a:gdLst>
              <a:gd name="connsiteX0" fmla="*/ 6521576 w 9144000"/>
              <a:gd name="connsiteY0" fmla="*/ 2811867 h 3886200"/>
              <a:gd name="connsiteX1" fmla="*/ 6521576 w 9144000"/>
              <a:gd name="connsiteY1" fmla="*/ 2900169 h 3886200"/>
              <a:gd name="connsiteX2" fmla="*/ 6931151 w 9144000"/>
              <a:gd name="connsiteY2" fmla="*/ 2900169 h 3886200"/>
              <a:gd name="connsiteX3" fmla="*/ 6931151 w 9144000"/>
              <a:gd name="connsiteY3" fmla="*/ 2811867 h 3886200"/>
              <a:gd name="connsiteX4" fmla="*/ 0 w 9144000"/>
              <a:gd name="connsiteY4" fmla="*/ 0 h 3886200"/>
              <a:gd name="connsiteX5" fmla="*/ 9144000 w 9144000"/>
              <a:gd name="connsiteY5" fmla="*/ 0 h 3886200"/>
              <a:gd name="connsiteX6" fmla="*/ 9144000 w 9144000"/>
              <a:gd name="connsiteY6" fmla="*/ 3886200 h 3886200"/>
              <a:gd name="connsiteX7" fmla="*/ 0 w 9144000"/>
              <a:gd name="connsiteY7" fmla="*/ 3886200 h 388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3886200">
                <a:moveTo>
                  <a:pt x="6521576" y="2811867"/>
                </a:moveTo>
                <a:lnTo>
                  <a:pt x="6521576" y="2900169"/>
                </a:lnTo>
                <a:lnTo>
                  <a:pt x="6931151" y="2900169"/>
                </a:lnTo>
                <a:lnTo>
                  <a:pt x="6931151" y="2811867"/>
                </a:lnTo>
                <a:close/>
                <a:moveTo>
                  <a:pt x="0" y="0"/>
                </a:moveTo>
                <a:lnTo>
                  <a:pt x="9144000" y="0"/>
                </a:lnTo>
                <a:lnTo>
                  <a:pt x="9144000" y="3886200"/>
                </a:lnTo>
                <a:lnTo>
                  <a:pt x="0" y="38862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2040636" y="3200400"/>
            <a:ext cx="8110728" cy="457200"/>
          </a:xfrm>
        </p:spPr>
        <p:txBody>
          <a:bodyPr anchor="ctr"/>
          <a:lstStyle>
            <a:lvl1pPr algn="ctr">
              <a:defRPr sz="4800" spc="3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8046720" y="4745736"/>
            <a:ext cx="1389888" cy="1280160"/>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42E7004C-CFEF-6E88-A3C1-60FBC7F8CD13}"/>
              </a:ext>
            </a:extLst>
          </p:cNvPr>
          <p:cNvSpPr/>
          <p:nvPr userDrawn="1"/>
        </p:nvSpPr>
        <p:spPr>
          <a:xfrm>
            <a:off x="8048624" y="4293195"/>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0031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95399" y="609600"/>
            <a:ext cx="10058400" cy="914400"/>
          </a:xfrm>
        </p:spPr>
        <p:txBody>
          <a:bodyPr/>
          <a:lstStyle>
            <a:lvl1pPr>
              <a:defRPr spc="3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95400" y="1855945"/>
            <a:ext cx="9820656" cy="4352544"/>
          </a:xfrm>
        </p:spPr>
        <p:txBody>
          <a:bodyPr/>
          <a:lstStyle>
            <a:lvl1pPr>
              <a:defRPr spc="0" baseline="0"/>
            </a:lvl1pPr>
            <a:lvl2pPr>
              <a:defRPr spc="0" baseline="0"/>
            </a:lvl2pPr>
            <a:lvl3pPr>
              <a:defRPr spc="0" baseline="0"/>
            </a:lvl3pPr>
            <a:lvl4pPr>
              <a:defRPr spc="0" baseline="0"/>
            </a:lvl4pPr>
            <a:lvl5pPr>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521339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88720" y="609600"/>
            <a:ext cx="9829800" cy="914400"/>
          </a:xfrm>
        </p:spPr>
        <p:txBody>
          <a:bodyPr/>
          <a:lstStyle>
            <a:lvl1pPr algn="ctr">
              <a:defRPr spc="3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88720" y="1746504"/>
            <a:ext cx="9829800" cy="4352544"/>
          </a:xfrm>
        </p:spPr>
        <p:txBody>
          <a:bodyPr/>
          <a:lstStyle>
            <a:lvl1pPr>
              <a:defRPr spc="0" baseline="0"/>
            </a:lvl1pPr>
            <a:lvl2pPr>
              <a:defRPr spc="0" baseline="0"/>
            </a:lvl2pPr>
            <a:lvl3pPr>
              <a:defRPr spc="0" baseline="0"/>
            </a:lvl3pPr>
            <a:lvl4pPr>
              <a:defRPr spc="0" baseline="0"/>
            </a:lvl4pPr>
            <a:lvl5pPr>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641840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
        <p:nvSpPr>
          <p:cNvPr id="5" name="Picture Placeholder 4">
            <a:extLst>
              <a:ext uri="{FF2B5EF4-FFF2-40B4-BE49-F238E27FC236}">
                <a16:creationId xmlns:a16="http://schemas.microsoft.com/office/drawing/2014/main" id="{B7811310-A21F-0BFB-8198-22EDFCF9F45B}"/>
              </a:ext>
            </a:extLst>
          </p:cNvPr>
          <p:cNvSpPr>
            <a:spLocks noGrp="1"/>
          </p:cNvSpPr>
          <p:nvPr>
            <p:ph type="pic" sz="quarter" idx="10"/>
          </p:nvPr>
        </p:nvSpPr>
        <p:spPr>
          <a:xfrm>
            <a:off x="5370576" y="658368"/>
            <a:ext cx="6821424" cy="3346704"/>
          </a:xfrm>
          <a:prstGeom prst="rect">
            <a:avLst/>
          </a:prstGeom>
        </p:spPr>
        <p:txBody>
          <a:bodyPr wrap="square">
            <a:noAutofit/>
          </a:bodyPr>
          <a:lstStyle/>
          <a:p>
            <a:r>
              <a:rPr lang="en-US"/>
              <a:t>Click icon to add picture</a:t>
            </a:r>
            <a:endParaRPr lang="en-US" dirty="0"/>
          </a:p>
        </p:txBody>
      </p:sp>
      <p:cxnSp>
        <p:nvCxnSpPr>
          <p:cNvPr id="7" name="Straight Connector 6">
            <a:extLst>
              <a:ext uri="{FF2B5EF4-FFF2-40B4-BE49-F238E27FC236}">
                <a16:creationId xmlns:a16="http://schemas.microsoft.com/office/drawing/2014/main" id="{A73D2EFC-F14F-5508-06EE-4E5B5C535E16}"/>
              </a:ext>
            </a:extLst>
          </p:cNvPr>
          <p:cNvCxnSpPr>
            <a:cxnSpLocks/>
          </p:cNvCxnSpPr>
          <p:nvPr userDrawn="1"/>
        </p:nvCxnSpPr>
        <p:spPr>
          <a:xfrm>
            <a:off x="1819102" y="554884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Subtitle 2">
            <a:extLst>
              <a:ext uri="{FF2B5EF4-FFF2-40B4-BE49-F238E27FC236}">
                <a16:creationId xmlns:a16="http://schemas.microsoft.com/office/drawing/2014/main" id="{28A6ACFB-D620-056D-1C62-903C5FBCEBCF}"/>
              </a:ext>
            </a:extLst>
          </p:cNvPr>
          <p:cNvSpPr>
            <a:spLocks noGrp="1"/>
          </p:cNvSpPr>
          <p:nvPr>
            <p:ph type="subTitle" idx="1"/>
          </p:nvPr>
        </p:nvSpPr>
        <p:spPr>
          <a:xfrm>
            <a:off x="1819656" y="5943600"/>
            <a:ext cx="4809744" cy="256032"/>
          </a:xfrm>
        </p:spPr>
        <p:txBody>
          <a:bodyPr/>
          <a:lstStyle>
            <a:lvl1pPr marL="0" indent="0" algn="l">
              <a:buNone/>
              <a:defRPr sz="2000" cap="all" spc="200"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819656" y="2459736"/>
            <a:ext cx="5157216" cy="2670048"/>
          </a:xfrm>
        </p:spPr>
        <p:txBody>
          <a:bodyPr anchor="b"/>
          <a:lstStyle>
            <a:lvl1pPr algn="l">
              <a:lnSpc>
                <a:spcPts val="5200"/>
              </a:lnSpc>
              <a:defRPr sz="3600" spc="0" baseline="0">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340618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021824" cy="539496"/>
          </a:xfrm>
        </p:spPr>
        <p:txBody>
          <a:bodyPr/>
          <a:lstStyle>
            <a:lvl1pPr algn="ctr">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5" name="Picture Placeholder 8">
            <a:extLst>
              <a:ext uri="{FF2B5EF4-FFF2-40B4-BE49-F238E27FC236}">
                <a16:creationId xmlns:a16="http://schemas.microsoft.com/office/drawing/2014/main" id="{6F01F221-54DA-6EF2-D9DE-2B9A7AB60B1C}"/>
              </a:ext>
            </a:extLst>
          </p:cNvPr>
          <p:cNvSpPr>
            <a:spLocks noGrp="1"/>
          </p:cNvSpPr>
          <p:nvPr>
            <p:ph type="pic" sz="quarter" idx="12"/>
          </p:nvPr>
        </p:nvSpPr>
        <p:spPr>
          <a:xfrm>
            <a:off x="1298448"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9BEECCD2-A0EF-0622-7377-A2BAE978656E}"/>
              </a:ext>
            </a:extLst>
          </p:cNvPr>
          <p:cNvSpPr>
            <a:spLocks noGrp="1"/>
          </p:cNvSpPr>
          <p:nvPr>
            <p:ph type="pic" sz="quarter" idx="13"/>
          </p:nvPr>
        </p:nvSpPr>
        <p:spPr>
          <a:xfrm>
            <a:off x="3886200"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DDD9A982-D940-ADB7-F949-B3898D1984E6}"/>
              </a:ext>
            </a:extLst>
          </p:cNvPr>
          <p:cNvSpPr>
            <a:spLocks noGrp="1"/>
          </p:cNvSpPr>
          <p:nvPr>
            <p:ph type="pic" sz="quarter" idx="14"/>
          </p:nvPr>
        </p:nvSpPr>
        <p:spPr>
          <a:xfrm>
            <a:off x="6473952"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492630AD-4FA0-C5D3-DC29-AE0E67CB6CAA}"/>
              </a:ext>
            </a:extLst>
          </p:cNvPr>
          <p:cNvSpPr>
            <a:spLocks noGrp="1"/>
          </p:cNvSpPr>
          <p:nvPr>
            <p:ph type="pic" sz="quarter" idx="15"/>
          </p:nvPr>
        </p:nvSpPr>
        <p:spPr>
          <a:xfrm>
            <a:off x="9034272"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6473952"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6473952"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9070848"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9070848"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cxnSp>
        <p:nvCxnSpPr>
          <p:cNvPr id="18" name="Straight Connector 17">
            <a:extLst>
              <a:ext uri="{FF2B5EF4-FFF2-40B4-BE49-F238E27FC236}">
                <a16:creationId xmlns:a16="http://schemas.microsoft.com/office/drawing/2014/main" id="{B6E73E07-0346-2BA8-44BC-6CB3BDEAAA99}"/>
              </a:ext>
            </a:extLst>
          </p:cNvPr>
          <p:cNvCxnSpPr>
            <a:cxnSpLocks/>
          </p:cNvCxnSpPr>
          <p:nvPr userDrawn="1"/>
        </p:nvCxnSpPr>
        <p:spPr>
          <a:xfrm>
            <a:off x="4592478"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E62977-27C7-5882-6A33-75257911D09A}"/>
              </a:ext>
            </a:extLst>
          </p:cNvPr>
          <p:cNvCxnSpPr>
            <a:cxnSpLocks/>
          </p:cNvCxnSpPr>
          <p:nvPr userDrawn="1"/>
        </p:nvCxnSpPr>
        <p:spPr>
          <a:xfrm>
            <a:off x="2004720"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705476C-2972-A423-7282-BABA9AAB32E6}"/>
              </a:ext>
            </a:extLst>
          </p:cNvPr>
          <p:cNvCxnSpPr>
            <a:cxnSpLocks/>
          </p:cNvCxnSpPr>
          <p:nvPr userDrawn="1"/>
        </p:nvCxnSpPr>
        <p:spPr>
          <a:xfrm>
            <a:off x="9737699"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E0D781B-3CB4-A523-427F-3D444B28E60E}"/>
              </a:ext>
            </a:extLst>
          </p:cNvPr>
          <p:cNvCxnSpPr>
            <a:cxnSpLocks/>
          </p:cNvCxnSpPr>
          <p:nvPr userDrawn="1"/>
        </p:nvCxnSpPr>
        <p:spPr>
          <a:xfrm>
            <a:off x="7183278"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048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332720" cy="539496"/>
          </a:xfrm>
        </p:spPr>
        <p:txBody>
          <a:bodyPr/>
          <a:lstStyle>
            <a:lvl1pPr algn="ctr">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5" name="Picture Placeholder 8">
            <a:extLst>
              <a:ext uri="{FF2B5EF4-FFF2-40B4-BE49-F238E27FC236}">
                <a16:creationId xmlns:a16="http://schemas.microsoft.com/office/drawing/2014/main" id="{6F01F221-54DA-6EF2-D9DE-2B9A7AB60B1C}"/>
              </a:ext>
            </a:extLst>
          </p:cNvPr>
          <p:cNvSpPr>
            <a:spLocks noGrp="1"/>
          </p:cNvSpPr>
          <p:nvPr>
            <p:ph type="pic" sz="quarter" idx="12"/>
          </p:nvPr>
        </p:nvSpPr>
        <p:spPr>
          <a:xfrm>
            <a:off x="1636776"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9BEECCD2-A0EF-0622-7377-A2BAE978656E}"/>
              </a:ext>
            </a:extLst>
          </p:cNvPr>
          <p:cNvSpPr>
            <a:spLocks noGrp="1"/>
          </p:cNvSpPr>
          <p:nvPr>
            <p:ph type="pic" sz="quarter" idx="13"/>
          </p:nvPr>
        </p:nvSpPr>
        <p:spPr>
          <a:xfrm>
            <a:off x="4224528"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DDD9A982-D940-ADB7-F949-B3898D1984E6}"/>
              </a:ext>
            </a:extLst>
          </p:cNvPr>
          <p:cNvSpPr>
            <a:spLocks noGrp="1"/>
          </p:cNvSpPr>
          <p:nvPr>
            <p:ph type="pic" sz="quarter" idx="14"/>
          </p:nvPr>
        </p:nvSpPr>
        <p:spPr>
          <a:xfrm>
            <a:off x="6848856"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492630AD-4FA0-C5D3-DC29-AE0E67CB6CAA}"/>
              </a:ext>
            </a:extLst>
          </p:cNvPr>
          <p:cNvSpPr>
            <a:spLocks noGrp="1"/>
          </p:cNvSpPr>
          <p:nvPr>
            <p:ph type="pic" sz="quarter" idx="15"/>
          </p:nvPr>
        </p:nvSpPr>
        <p:spPr>
          <a:xfrm>
            <a:off x="9381744"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6510528"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6510528"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9034272"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9034272"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cxnSp>
        <p:nvCxnSpPr>
          <p:cNvPr id="17" name="Straight Connector 16">
            <a:extLst>
              <a:ext uri="{FF2B5EF4-FFF2-40B4-BE49-F238E27FC236}">
                <a16:creationId xmlns:a16="http://schemas.microsoft.com/office/drawing/2014/main" id="{BF42A71B-2F05-7F67-85C0-0C5AA947983D}"/>
              </a:ext>
            </a:extLst>
          </p:cNvPr>
          <p:cNvCxnSpPr>
            <a:cxnSpLocks/>
          </p:cNvCxnSpPr>
          <p:nvPr userDrawn="1"/>
        </p:nvCxnSpPr>
        <p:spPr>
          <a:xfrm>
            <a:off x="4684061"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BC25395-CA95-6040-8ED6-C7D8A2E16C49}"/>
              </a:ext>
            </a:extLst>
          </p:cNvPr>
          <p:cNvCxnSpPr>
            <a:cxnSpLocks/>
          </p:cNvCxnSpPr>
          <p:nvPr userDrawn="1"/>
        </p:nvCxnSpPr>
        <p:spPr>
          <a:xfrm>
            <a:off x="2096160"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2F589B-649A-57C2-1D3E-79FDFF84BADB}"/>
              </a:ext>
            </a:extLst>
          </p:cNvPr>
          <p:cNvCxnSpPr>
            <a:cxnSpLocks/>
          </p:cNvCxnSpPr>
          <p:nvPr userDrawn="1"/>
        </p:nvCxnSpPr>
        <p:spPr>
          <a:xfrm>
            <a:off x="983798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F3728F-0FBF-5AD2-357E-FFCFFBF7687E}"/>
              </a:ext>
            </a:extLst>
          </p:cNvPr>
          <p:cNvCxnSpPr>
            <a:cxnSpLocks/>
          </p:cNvCxnSpPr>
          <p:nvPr userDrawn="1"/>
        </p:nvCxnSpPr>
        <p:spPr>
          <a:xfrm>
            <a:off x="730623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Picture Placeholder 8">
            <a:extLst>
              <a:ext uri="{FF2B5EF4-FFF2-40B4-BE49-F238E27FC236}">
                <a16:creationId xmlns:a16="http://schemas.microsoft.com/office/drawing/2014/main" id="{09A756E1-5275-58A9-7B09-95BEA4F4FACA}"/>
              </a:ext>
            </a:extLst>
          </p:cNvPr>
          <p:cNvSpPr>
            <a:spLocks noGrp="1"/>
          </p:cNvSpPr>
          <p:nvPr>
            <p:ph type="pic" sz="quarter" idx="24"/>
          </p:nvPr>
        </p:nvSpPr>
        <p:spPr>
          <a:xfrm>
            <a:off x="1636776"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2" name="Picture Placeholder 8">
            <a:extLst>
              <a:ext uri="{FF2B5EF4-FFF2-40B4-BE49-F238E27FC236}">
                <a16:creationId xmlns:a16="http://schemas.microsoft.com/office/drawing/2014/main" id="{A4DA2F88-85BF-29B8-6321-AF19B25A6261}"/>
              </a:ext>
            </a:extLst>
          </p:cNvPr>
          <p:cNvSpPr>
            <a:spLocks noGrp="1"/>
          </p:cNvSpPr>
          <p:nvPr>
            <p:ph type="pic" sz="quarter" idx="25"/>
          </p:nvPr>
        </p:nvSpPr>
        <p:spPr>
          <a:xfrm>
            <a:off x="4224528"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3" name="Picture Placeholder 8">
            <a:extLst>
              <a:ext uri="{FF2B5EF4-FFF2-40B4-BE49-F238E27FC236}">
                <a16:creationId xmlns:a16="http://schemas.microsoft.com/office/drawing/2014/main" id="{4636CEF4-05E9-F5BB-BD6F-6B081DBDCA9D}"/>
              </a:ext>
            </a:extLst>
          </p:cNvPr>
          <p:cNvSpPr>
            <a:spLocks noGrp="1"/>
          </p:cNvSpPr>
          <p:nvPr>
            <p:ph type="pic" sz="quarter" idx="26"/>
          </p:nvPr>
        </p:nvSpPr>
        <p:spPr>
          <a:xfrm>
            <a:off x="6848856"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4" name="Picture Placeholder 8">
            <a:extLst>
              <a:ext uri="{FF2B5EF4-FFF2-40B4-BE49-F238E27FC236}">
                <a16:creationId xmlns:a16="http://schemas.microsoft.com/office/drawing/2014/main" id="{67B57C06-A1D0-7C74-6A14-2BFF0B1FC172}"/>
              </a:ext>
            </a:extLst>
          </p:cNvPr>
          <p:cNvSpPr>
            <a:spLocks noGrp="1"/>
          </p:cNvSpPr>
          <p:nvPr>
            <p:ph type="pic" sz="quarter" idx="27"/>
          </p:nvPr>
        </p:nvSpPr>
        <p:spPr>
          <a:xfrm>
            <a:off x="9381744"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1298448"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1298448"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27" name="Text Placeholder 13">
            <a:extLst>
              <a:ext uri="{FF2B5EF4-FFF2-40B4-BE49-F238E27FC236}">
                <a16:creationId xmlns:a16="http://schemas.microsoft.com/office/drawing/2014/main" id="{697C28E5-6260-6DA9-B4F0-665506F52586}"/>
              </a:ext>
            </a:extLst>
          </p:cNvPr>
          <p:cNvSpPr>
            <a:spLocks noGrp="1"/>
          </p:cNvSpPr>
          <p:nvPr>
            <p:ph type="body" sz="quarter" idx="30"/>
          </p:nvPr>
        </p:nvSpPr>
        <p:spPr>
          <a:xfrm>
            <a:off x="3886200"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8" name="Text Placeholder 13">
            <a:extLst>
              <a:ext uri="{FF2B5EF4-FFF2-40B4-BE49-F238E27FC236}">
                <a16:creationId xmlns:a16="http://schemas.microsoft.com/office/drawing/2014/main" id="{A594A25E-7F2D-4188-16B7-C34485FDD2F8}"/>
              </a:ext>
            </a:extLst>
          </p:cNvPr>
          <p:cNvSpPr>
            <a:spLocks noGrp="1"/>
          </p:cNvSpPr>
          <p:nvPr>
            <p:ph type="body" sz="quarter" idx="31"/>
          </p:nvPr>
        </p:nvSpPr>
        <p:spPr>
          <a:xfrm>
            <a:off x="3886200"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29" name="Text Placeholder 13">
            <a:extLst>
              <a:ext uri="{FF2B5EF4-FFF2-40B4-BE49-F238E27FC236}">
                <a16:creationId xmlns:a16="http://schemas.microsoft.com/office/drawing/2014/main" id="{584B38BF-6197-486D-7134-F86E1754AF78}"/>
              </a:ext>
            </a:extLst>
          </p:cNvPr>
          <p:cNvSpPr>
            <a:spLocks noGrp="1"/>
          </p:cNvSpPr>
          <p:nvPr>
            <p:ph type="body" sz="quarter" idx="32"/>
          </p:nvPr>
        </p:nvSpPr>
        <p:spPr>
          <a:xfrm>
            <a:off x="6510528"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30" name="Text Placeholder 13">
            <a:extLst>
              <a:ext uri="{FF2B5EF4-FFF2-40B4-BE49-F238E27FC236}">
                <a16:creationId xmlns:a16="http://schemas.microsoft.com/office/drawing/2014/main" id="{D788F8D9-8CDB-C458-9AAD-0426AB467D2A}"/>
              </a:ext>
            </a:extLst>
          </p:cNvPr>
          <p:cNvSpPr>
            <a:spLocks noGrp="1"/>
          </p:cNvSpPr>
          <p:nvPr>
            <p:ph type="body" sz="quarter" idx="33"/>
          </p:nvPr>
        </p:nvSpPr>
        <p:spPr>
          <a:xfrm>
            <a:off x="6510528"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31" name="Text Placeholder 13">
            <a:extLst>
              <a:ext uri="{FF2B5EF4-FFF2-40B4-BE49-F238E27FC236}">
                <a16:creationId xmlns:a16="http://schemas.microsoft.com/office/drawing/2014/main" id="{78447882-2C86-B3A7-9450-29A0778E1B08}"/>
              </a:ext>
            </a:extLst>
          </p:cNvPr>
          <p:cNvSpPr>
            <a:spLocks noGrp="1"/>
          </p:cNvSpPr>
          <p:nvPr>
            <p:ph type="body" sz="quarter" idx="34"/>
          </p:nvPr>
        </p:nvSpPr>
        <p:spPr>
          <a:xfrm>
            <a:off x="9034272"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32" name="Text Placeholder 13">
            <a:extLst>
              <a:ext uri="{FF2B5EF4-FFF2-40B4-BE49-F238E27FC236}">
                <a16:creationId xmlns:a16="http://schemas.microsoft.com/office/drawing/2014/main" id="{E321AAE1-532A-23F0-9108-055D0D7BDFBA}"/>
              </a:ext>
            </a:extLst>
          </p:cNvPr>
          <p:cNvSpPr>
            <a:spLocks noGrp="1"/>
          </p:cNvSpPr>
          <p:nvPr>
            <p:ph type="body" sz="quarter" idx="35"/>
          </p:nvPr>
        </p:nvSpPr>
        <p:spPr>
          <a:xfrm>
            <a:off x="9034272"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cxnSp>
        <p:nvCxnSpPr>
          <p:cNvPr id="33" name="Straight Connector 32">
            <a:extLst>
              <a:ext uri="{FF2B5EF4-FFF2-40B4-BE49-F238E27FC236}">
                <a16:creationId xmlns:a16="http://schemas.microsoft.com/office/drawing/2014/main" id="{11BC4478-FBEA-422F-73BA-0A422F15D7EA}"/>
              </a:ext>
            </a:extLst>
          </p:cNvPr>
          <p:cNvCxnSpPr>
            <a:cxnSpLocks/>
          </p:cNvCxnSpPr>
          <p:nvPr userDrawn="1"/>
        </p:nvCxnSpPr>
        <p:spPr>
          <a:xfrm>
            <a:off x="4684061"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A9AA302-5107-FDE7-557C-3305A9A7DEC2}"/>
              </a:ext>
            </a:extLst>
          </p:cNvPr>
          <p:cNvCxnSpPr>
            <a:cxnSpLocks/>
          </p:cNvCxnSpPr>
          <p:nvPr userDrawn="1"/>
        </p:nvCxnSpPr>
        <p:spPr>
          <a:xfrm>
            <a:off x="2096160"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9C9F7A3-B120-C59A-E379-173F84B7D153}"/>
              </a:ext>
            </a:extLst>
          </p:cNvPr>
          <p:cNvCxnSpPr>
            <a:cxnSpLocks/>
          </p:cNvCxnSpPr>
          <p:nvPr userDrawn="1"/>
        </p:nvCxnSpPr>
        <p:spPr>
          <a:xfrm>
            <a:off x="983798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073A4E7-9D16-A6C0-E297-A36B10A2FABB}"/>
              </a:ext>
            </a:extLst>
          </p:cNvPr>
          <p:cNvCxnSpPr>
            <a:cxnSpLocks/>
          </p:cNvCxnSpPr>
          <p:nvPr userDrawn="1"/>
        </p:nvCxnSpPr>
        <p:spPr>
          <a:xfrm>
            <a:off x="730623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1777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7068A9B7-F56A-44B7-D61E-66289C79F1C3}"/>
              </a:ext>
            </a:extLst>
          </p:cNvPr>
          <p:cNvSpPr>
            <a:spLocks noGrp="1"/>
          </p:cNvSpPr>
          <p:nvPr>
            <p:ph type="pic" sz="quarter" idx="30"/>
          </p:nvPr>
        </p:nvSpPr>
        <p:spPr>
          <a:xfrm>
            <a:off x="0" y="5175504"/>
            <a:ext cx="12188952" cy="1682496"/>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85088" y="609600"/>
            <a:ext cx="10021824" cy="1252728"/>
          </a:xfrm>
        </p:spPr>
        <p:txBody>
          <a:bodyPr/>
          <a:lstStyle>
            <a:lvl1pPr algn="ctr">
              <a:lnSpc>
                <a:spcPts val="5760"/>
              </a:lnSpc>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lvl1pPr>
              <a:defRPr>
                <a:solidFill>
                  <a:schemeClr val="bg1"/>
                </a:solidFill>
              </a:defRPr>
            </a:lvl1p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383280"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383280"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5468112"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5468112"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7552944"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7552944"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cxnSp>
        <p:nvCxnSpPr>
          <p:cNvPr id="17" name="Straight Connector 16">
            <a:extLst>
              <a:ext uri="{FF2B5EF4-FFF2-40B4-BE49-F238E27FC236}">
                <a16:creationId xmlns:a16="http://schemas.microsoft.com/office/drawing/2014/main" id="{BF42A71B-2F05-7F67-85C0-0C5AA947983D}"/>
              </a:ext>
            </a:extLst>
          </p:cNvPr>
          <p:cNvCxnSpPr>
            <a:cxnSpLocks/>
          </p:cNvCxnSpPr>
          <p:nvPr userDrawn="1"/>
        </p:nvCxnSpPr>
        <p:spPr>
          <a:xfrm>
            <a:off x="3383280"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BC25395-CA95-6040-8ED6-C7D8A2E16C49}"/>
              </a:ext>
            </a:extLst>
          </p:cNvPr>
          <p:cNvCxnSpPr>
            <a:cxnSpLocks/>
          </p:cNvCxnSpPr>
          <p:nvPr userDrawn="1"/>
        </p:nvCxnSpPr>
        <p:spPr>
          <a:xfrm>
            <a:off x="9637776"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2F589B-649A-57C2-1D3E-79FDFF84BADB}"/>
              </a:ext>
            </a:extLst>
          </p:cNvPr>
          <p:cNvCxnSpPr>
            <a:cxnSpLocks/>
          </p:cNvCxnSpPr>
          <p:nvPr userDrawn="1"/>
        </p:nvCxnSpPr>
        <p:spPr>
          <a:xfrm>
            <a:off x="7552944"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F3728F-0FBF-5AD2-357E-FFCFFBF7687E}"/>
              </a:ext>
            </a:extLst>
          </p:cNvPr>
          <p:cNvCxnSpPr>
            <a:cxnSpLocks/>
          </p:cNvCxnSpPr>
          <p:nvPr userDrawn="1"/>
        </p:nvCxnSpPr>
        <p:spPr>
          <a:xfrm>
            <a:off x="5468112"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9637776"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9637776"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cxnSp>
        <p:nvCxnSpPr>
          <p:cNvPr id="34" name="Straight Connector 33">
            <a:extLst>
              <a:ext uri="{FF2B5EF4-FFF2-40B4-BE49-F238E27FC236}">
                <a16:creationId xmlns:a16="http://schemas.microsoft.com/office/drawing/2014/main" id="{7A9AA302-5107-FDE7-557C-3305A9A7DEC2}"/>
              </a:ext>
            </a:extLst>
          </p:cNvPr>
          <p:cNvCxnSpPr>
            <a:cxnSpLocks/>
          </p:cNvCxnSpPr>
          <p:nvPr userDrawn="1"/>
        </p:nvCxnSpPr>
        <p:spPr>
          <a:xfrm>
            <a:off x="1298448"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4106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7068A9B7-F56A-44B7-D61E-66289C79F1C3}"/>
              </a:ext>
            </a:extLst>
          </p:cNvPr>
          <p:cNvSpPr>
            <a:spLocks noGrp="1"/>
          </p:cNvSpPr>
          <p:nvPr>
            <p:ph type="pic" sz="quarter" idx="30"/>
          </p:nvPr>
        </p:nvSpPr>
        <p:spPr>
          <a:xfrm>
            <a:off x="0" y="0"/>
            <a:ext cx="12188952" cy="1682496"/>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298448" y="5221224"/>
            <a:ext cx="3621024" cy="621792"/>
          </a:xfrm>
        </p:spPr>
        <p:txBody>
          <a:bodyPr/>
          <a:lstStyle>
            <a:lvl1pPr algn="l">
              <a:lnSpc>
                <a:spcPts val="5760"/>
              </a:lnSpc>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lvl1pPr>
              <a:defRPr>
                <a:solidFill>
                  <a:schemeClr val="accent1"/>
                </a:solidFill>
              </a:defRPr>
            </a:lvl1p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300984"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5312664"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7315200"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9321800"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73769F54-E10C-40C4-5EFF-E8A9CA520AEC}"/>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6E7B1EF-9D07-1E66-7467-93C9AE48BD85}"/>
              </a:ext>
            </a:extLst>
          </p:cNvPr>
          <p:cNvCxnSpPr>
            <a:cxnSpLocks/>
          </p:cNvCxnSpPr>
          <p:nvPr userDrawn="1"/>
        </p:nvCxnSpPr>
        <p:spPr>
          <a:xfrm flipH="1">
            <a:off x="1219200" y="2871216"/>
            <a:ext cx="9595104" cy="0"/>
          </a:xfrm>
          <a:prstGeom prst="line">
            <a:avLst/>
          </a:prstGeom>
          <a:ln w="12700"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cxn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300984"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5312664"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7315200"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9321800"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8" name="Text Placeholder 7">
            <a:extLst>
              <a:ext uri="{FF2B5EF4-FFF2-40B4-BE49-F238E27FC236}">
                <a16:creationId xmlns:a16="http://schemas.microsoft.com/office/drawing/2014/main" id="{75476138-49FF-70BE-6359-0A511EFB243F}"/>
              </a:ext>
            </a:extLst>
          </p:cNvPr>
          <p:cNvSpPr>
            <a:spLocks noGrp="1"/>
          </p:cNvSpPr>
          <p:nvPr>
            <p:ph type="body" sz="quarter" idx="31" hasCustomPrompt="1"/>
          </p:nvPr>
        </p:nvSpPr>
        <p:spPr>
          <a:xfrm>
            <a:off x="3300984"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2" name="Text Placeholder 7">
            <a:extLst>
              <a:ext uri="{FF2B5EF4-FFF2-40B4-BE49-F238E27FC236}">
                <a16:creationId xmlns:a16="http://schemas.microsoft.com/office/drawing/2014/main" id="{46EFC43B-3F8D-6957-F343-F3D9C3E7A716}"/>
              </a:ext>
            </a:extLst>
          </p:cNvPr>
          <p:cNvSpPr>
            <a:spLocks noGrp="1"/>
          </p:cNvSpPr>
          <p:nvPr>
            <p:ph type="body" sz="quarter" idx="32" hasCustomPrompt="1"/>
          </p:nvPr>
        </p:nvSpPr>
        <p:spPr>
          <a:xfrm>
            <a:off x="1298448"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3" name="Text Placeholder 7">
            <a:extLst>
              <a:ext uri="{FF2B5EF4-FFF2-40B4-BE49-F238E27FC236}">
                <a16:creationId xmlns:a16="http://schemas.microsoft.com/office/drawing/2014/main" id="{D6007DD2-0F2E-6F92-8457-FC670750ED38}"/>
              </a:ext>
            </a:extLst>
          </p:cNvPr>
          <p:cNvSpPr>
            <a:spLocks noGrp="1"/>
          </p:cNvSpPr>
          <p:nvPr>
            <p:ph type="body" sz="quarter" idx="33" hasCustomPrompt="1"/>
          </p:nvPr>
        </p:nvSpPr>
        <p:spPr>
          <a:xfrm>
            <a:off x="5312664"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4" name="Text Placeholder 7">
            <a:extLst>
              <a:ext uri="{FF2B5EF4-FFF2-40B4-BE49-F238E27FC236}">
                <a16:creationId xmlns:a16="http://schemas.microsoft.com/office/drawing/2014/main" id="{06C5667F-C463-51B6-B8D6-F757BDB8AFCC}"/>
              </a:ext>
            </a:extLst>
          </p:cNvPr>
          <p:cNvSpPr>
            <a:spLocks noGrp="1"/>
          </p:cNvSpPr>
          <p:nvPr>
            <p:ph type="body" sz="quarter" idx="34" hasCustomPrompt="1"/>
          </p:nvPr>
        </p:nvSpPr>
        <p:spPr>
          <a:xfrm>
            <a:off x="7315200"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7" name="Text Placeholder 7">
            <a:extLst>
              <a:ext uri="{FF2B5EF4-FFF2-40B4-BE49-F238E27FC236}">
                <a16:creationId xmlns:a16="http://schemas.microsoft.com/office/drawing/2014/main" id="{0FF09CBB-BD48-E8E5-EECF-B6CBC36B236C}"/>
              </a:ext>
            </a:extLst>
          </p:cNvPr>
          <p:cNvSpPr>
            <a:spLocks noGrp="1"/>
          </p:cNvSpPr>
          <p:nvPr>
            <p:ph type="body" sz="quarter" idx="35" hasCustomPrompt="1"/>
          </p:nvPr>
        </p:nvSpPr>
        <p:spPr>
          <a:xfrm>
            <a:off x="9321800"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Tree>
    <p:extLst>
      <p:ext uri="{BB962C8B-B14F-4D97-AF65-F5344CB8AC3E}">
        <p14:creationId xmlns:p14="http://schemas.microsoft.com/office/powerpoint/2010/main" val="2333783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1A881D2A-2C75-8B2A-DA41-F42ABBA59AA9}"/>
              </a:ext>
            </a:extLst>
          </p:cNvPr>
          <p:cNvSpPr>
            <a:spLocks noGrp="1"/>
          </p:cNvSpPr>
          <p:nvPr>
            <p:ph type="pic" sz="quarter" idx="13"/>
          </p:nvPr>
        </p:nvSpPr>
        <p:spPr>
          <a:xfrm>
            <a:off x="0" y="0"/>
            <a:ext cx="6656832" cy="6858000"/>
          </a:xfrm>
          <a:custGeom>
            <a:avLst/>
            <a:gdLst>
              <a:gd name="connsiteX0" fmla="*/ 1295400 w 6656832"/>
              <a:gd name="connsiteY0" fmla="*/ 1492377 h 6858000"/>
              <a:gd name="connsiteX1" fmla="*/ 1295400 w 6656832"/>
              <a:gd name="connsiteY1" fmla="*/ 1580679 h 6858000"/>
              <a:gd name="connsiteX2" fmla="*/ 1704975 w 6656832"/>
              <a:gd name="connsiteY2" fmla="*/ 1580679 h 6858000"/>
              <a:gd name="connsiteX3" fmla="*/ 1704975 w 6656832"/>
              <a:gd name="connsiteY3" fmla="*/ 1492377 h 6858000"/>
              <a:gd name="connsiteX4" fmla="*/ 0 w 6656832"/>
              <a:gd name="connsiteY4" fmla="*/ 0 h 6858000"/>
              <a:gd name="connsiteX5" fmla="*/ 6656832 w 6656832"/>
              <a:gd name="connsiteY5" fmla="*/ 0 h 6858000"/>
              <a:gd name="connsiteX6" fmla="*/ 6656832 w 6656832"/>
              <a:gd name="connsiteY6" fmla="*/ 6858000 h 6858000"/>
              <a:gd name="connsiteX7" fmla="*/ 0 w 665683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56832" h="6858000">
                <a:moveTo>
                  <a:pt x="1295400" y="1492377"/>
                </a:moveTo>
                <a:lnTo>
                  <a:pt x="1295400" y="1580679"/>
                </a:lnTo>
                <a:lnTo>
                  <a:pt x="1704975" y="1580679"/>
                </a:lnTo>
                <a:lnTo>
                  <a:pt x="1704975" y="1492377"/>
                </a:lnTo>
                <a:close/>
                <a:moveTo>
                  <a:pt x="0" y="0"/>
                </a:moveTo>
                <a:lnTo>
                  <a:pt x="6656832" y="0"/>
                </a:lnTo>
                <a:lnTo>
                  <a:pt x="6656832" y="6858000"/>
                </a:lnTo>
                <a:lnTo>
                  <a:pt x="0" y="68580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298448" y="609600"/>
            <a:ext cx="6656832" cy="530352"/>
          </a:xfrm>
        </p:spPr>
        <p:txBody>
          <a:bodyPr anchor="t" anchorCtr="0"/>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CCA7A15A-B484-E46E-FF4D-179F31F1777F}"/>
              </a:ext>
            </a:extLst>
          </p:cNvPr>
          <p:cNvSpPr>
            <a:spLocks noGrp="1"/>
          </p:cNvSpPr>
          <p:nvPr>
            <p:ph type="body" idx="1"/>
          </p:nvPr>
        </p:nvSpPr>
        <p:spPr>
          <a:xfrm>
            <a:off x="1298448"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anchor="t">
            <a:noAutofit/>
          </a:bodyPr>
          <a:lstStyle>
            <a:lvl1pPr marL="0" indent="0">
              <a:lnSpc>
                <a:spcPts val="240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618488" y="3630168"/>
            <a:ext cx="3886200" cy="2514600"/>
          </a:xfrm>
        </p:spPr>
        <p:txBody>
          <a:bodyPr/>
          <a:lstStyle>
            <a:lvl1pPr marL="0" indent="0">
              <a:buNone/>
              <a:defRPr sz="1400"/>
            </a:lvl1pPr>
            <a:lvl2pPr marL="228600">
              <a:defRPr sz="1400"/>
            </a:lvl2pPr>
            <a:lvl3pPr marL="457200">
              <a:defRPr sz="1400"/>
            </a:lvl3pPr>
            <a:lvl4pPr marL="685800">
              <a:defRPr sz="1400"/>
            </a:lvl4pPr>
            <a:lvl5pPr marL="11430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0">
            <a:extLst>
              <a:ext uri="{FF2B5EF4-FFF2-40B4-BE49-F238E27FC236}">
                <a16:creationId xmlns:a16="http://schemas.microsoft.com/office/drawing/2014/main" id="{A123542D-139D-45CC-7853-FE3702B4BB1E}"/>
              </a:ext>
            </a:extLst>
          </p:cNvPr>
          <p:cNvSpPr>
            <a:spLocks noGrp="1"/>
          </p:cNvSpPr>
          <p:nvPr>
            <p:ph type="body" sz="quarter" idx="3"/>
          </p:nvPr>
        </p:nvSpPr>
        <p:spPr>
          <a:xfrm>
            <a:off x="6705600"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anchor="t" anchorCtr="0">
            <a:noAutofit/>
          </a:bodyPr>
          <a:lstStyle>
            <a:lvl1pPr marL="0" indent="0">
              <a:lnSpc>
                <a:spcPts val="240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7013448" y="3630168"/>
            <a:ext cx="3886200" cy="2514600"/>
          </a:xfrm>
        </p:spPr>
        <p:txBody>
          <a:bodyPr/>
          <a:lstStyle>
            <a:lvl1pPr marL="0" indent="0">
              <a:buNone/>
              <a:defRPr sz="1400"/>
            </a:lvl1pPr>
            <a:lvl2pPr marL="228600">
              <a:defRPr sz="1400"/>
            </a:lvl2pPr>
            <a:lvl3pPr marL="457200">
              <a:defRPr sz="1400"/>
            </a:lvl3pPr>
            <a:lvl4pPr marL="685800">
              <a:defRPr sz="1400"/>
            </a:lvl4pPr>
            <a:lvl5pPr marL="11430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2" name="Footer Placeholder 11">
            <a:extLst>
              <a:ext uri="{FF2B5EF4-FFF2-40B4-BE49-F238E27FC236}">
                <a16:creationId xmlns:a16="http://schemas.microsoft.com/office/drawing/2014/main" id="{971F094C-919A-3E78-DE58-27C2B997C940}"/>
              </a:ext>
            </a:extLst>
          </p:cNvPr>
          <p:cNvSpPr>
            <a:spLocks noGrp="1"/>
          </p:cNvSpPr>
          <p:nvPr>
            <p:ph type="ftr" sz="quarter" idx="12"/>
          </p:nvPr>
        </p:nvSpPr>
        <p:spPr/>
        <p:txBody>
          <a:bodyPr/>
          <a:lstStyle/>
          <a:p>
            <a:r>
              <a:rPr lang="en-US" dirty="0"/>
              <a:t>presentation title</a:t>
            </a:r>
          </a:p>
        </p:txBody>
      </p:sp>
      <p:sp>
        <p:nvSpPr>
          <p:cNvPr id="17" name="Rectangle 16">
            <a:extLst>
              <a:ext uri="{FF2B5EF4-FFF2-40B4-BE49-F238E27FC236}">
                <a16:creationId xmlns:a16="http://schemas.microsoft.com/office/drawing/2014/main" id="{D5896335-CC4F-4D72-23F0-F7FBFA640021}"/>
              </a:ext>
            </a:extLst>
          </p:cNvPr>
          <p:cNvSpPr/>
          <p:nvPr userDrawn="1"/>
        </p:nvSpPr>
        <p:spPr>
          <a:xfrm>
            <a:off x="1295400" y="1492377"/>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zon x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EF4E7-F4EF-FFCD-9B0C-961E519F6DDD}"/>
              </a:ext>
            </a:extLst>
          </p:cNvPr>
          <p:cNvSpPr/>
          <p:nvPr userDrawn="1"/>
        </p:nvSpPr>
        <p:spPr>
          <a:xfrm>
            <a:off x="5791200" y="0"/>
            <a:ext cx="6400800" cy="685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298448" y="4014216"/>
            <a:ext cx="4160520" cy="1828800"/>
          </a:xfrm>
        </p:spPr>
        <p:txBody>
          <a:bodyPr anchor="b" anchorCtr="0"/>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CCA7A15A-B484-E46E-FF4D-179F31F1777F}"/>
              </a:ext>
            </a:extLst>
          </p:cNvPr>
          <p:cNvSpPr>
            <a:spLocks noGrp="1"/>
          </p:cNvSpPr>
          <p:nvPr>
            <p:ph type="body" idx="1"/>
          </p:nvPr>
        </p:nvSpPr>
        <p:spPr>
          <a:xfrm>
            <a:off x="7498080" y="621792"/>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7498080" y="1069848"/>
            <a:ext cx="3886200" cy="1527048"/>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0">
            <a:extLst>
              <a:ext uri="{FF2B5EF4-FFF2-40B4-BE49-F238E27FC236}">
                <a16:creationId xmlns:a16="http://schemas.microsoft.com/office/drawing/2014/main" id="{A123542D-139D-45CC-7853-FE3702B4BB1E}"/>
              </a:ext>
            </a:extLst>
          </p:cNvPr>
          <p:cNvSpPr>
            <a:spLocks noGrp="1"/>
          </p:cNvSpPr>
          <p:nvPr>
            <p:ph type="body" sz="quarter" idx="3"/>
          </p:nvPr>
        </p:nvSpPr>
        <p:spPr>
          <a:xfrm>
            <a:off x="7498080" y="3172968"/>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chorCtr="0">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7498080" y="3621024"/>
            <a:ext cx="3886200" cy="1179576"/>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2" name="Footer Placeholder 11">
            <a:extLst>
              <a:ext uri="{FF2B5EF4-FFF2-40B4-BE49-F238E27FC236}">
                <a16:creationId xmlns:a16="http://schemas.microsoft.com/office/drawing/2014/main" id="{971F094C-919A-3E78-DE58-27C2B997C940}"/>
              </a:ext>
            </a:extLst>
          </p:cNvPr>
          <p:cNvSpPr>
            <a:spLocks noGrp="1"/>
          </p:cNvSpPr>
          <p:nvPr>
            <p:ph type="ftr" sz="quarter" idx="12"/>
          </p:nvPr>
        </p:nvSpPr>
        <p:spPr/>
        <p:txBody>
          <a:bodyPr/>
          <a:lstStyle/>
          <a:p>
            <a:r>
              <a:rPr lang="en-US" dirty="0"/>
              <a:t>presentation title</a:t>
            </a:r>
          </a:p>
        </p:txBody>
      </p:sp>
      <p:sp>
        <p:nvSpPr>
          <p:cNvPr id="5" name="Picture Placeholder 6">
            <a:extLst>
              <a:ext uri="{FF2B5EF4-FFF2-40B4-BE49-F238E27FC236}">
                <a16:creationId xmlns:a16="http://schemas.microsoft.com/office/drawing/2014/main" id="{AD6DBECB-0E53-C186-A485-96A8FC1252C7}"/>
              </a:ext>
            </a:extLst>
          </p:cNvPr>
          <p:cNvSpPr>
            <a:spLocks noGrp="1"/>
          </p:cNvSpPr>
          <p:nvPr>
            <p:ph type="pic" sz="quarter" idx="14"/>
          </p:nvPr>
        </p:nvSpPr>
        <p:spPr>
          <a:xfrm>
            <a:off x="1298448" y="612648"/>
            <a:ext cx="3200400" cy="3200400"/>
          </a:xfrm>
          <a:prstGeom prst="ellipse">
            <a:avLst/>
          </a:prstGeom>
          <a:noFill/>
        </p:spPr>
        <p:txBody>
          <a:bodyPr anchor="ctr"/>
          <a:lstStyle>
            <a:lvl1pPr marL="0" indent="0" algn="ctr">
              <a:buNone/>
              <a:defRPr/>
            </a:lvl1pPr>
          </a:lstStyle>
          <a:p>
            <a:r>
              <a:rPr lang="en-US"/>
              <a:t>Click icon to add picture</a:t>
            </a:r>
            <a:endParaRPr lang="en-US" dirty="0"/>
          </a:p>
        </p:txBody>
      </p:sp>
      <p:sp>
        <p:nvSpPr>
          <p:cNvPr id="7" name="Text Placeholder 20">
            <a:extLst>
              <a:ext uri="{FF2B5EF4-FFF2-40B4-BE49-F238E27FC236}">
                <a16:creationId xmlns:a16="http://schemas.microsoft.com/office/drawing/2014/main" id="{F0B28D44-29B3-3396-973D-82E361161253}"/>
              </a:ext>
            </a:extLst>
          </p:cNvPr>
          <p:cNvSpPr>
            <a:spLocks noGrp="1"/>
          </p:cNvSpPr>
          <p:nvPr>
            <p:ph type="body" sz="quarter" idx="15"/>
          </p:nvPr>
        </p:nvSpPr>
        <p:spPr>
          <a:xfrm>
            <a:off x="7498080" y="5129784"/>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chorCtr="0">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5">
            <a:extLst>
              <a:ext uri="{FF2B5EF4-FFF2-40B4-BE49-F238E27FC236}">
                <a16:creationId xmlns:a16="http://schemas.microsoft.com/office/drawing/2014/main" id="{C06156AC-1153-3958-CFE6-6CDCC21C38A9}"/>
              </a:ext>
            </a:extLst>
          </p:cNvPr>
          <p:cNvSpPr>
            <a:spLocks noGrp="1"/>
          </p:cNvSpPr>
          <p:nvPr>
            <p:ph sz="quarter" idx="16"/>
          </p:nvPr>
        </p:nvSpPr>
        <p:spPr>
          <a:xfrm>
            <a:off x="7498080" y="5568696"/>
            <a:ext cx="3886200" cy="905256"/>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A4CE90CA-176B-1E45-FECF-0290B1DCF55C}"/>
              </a:ext>
            </a:extLst>
          </p:cNvPr>
          <p:cNvSpPr>
            <a:spLocks noGrp="1"/>
          </p:cNvSpPr>
          <p:nvPr>
            <p:ph type="pic" sz="quarter" idx="17"/>
          </p:nvPr>
        </p:nvSpPr>
        <p:spPr>
          <a:xfrm>
            <a:off x="6245352" y="704088"/>
            <a:ext cx="914400" cy="914400"/>
          </a:xfrm>
        </p:spPr>
        <p:txBody>
          <a:bodyPr anchor="ctr"/>
          <a:lstStyle>
            <a:lvl1pPr marL="0" indent="0" algn="ctr">
              <a:buNone/>
              <a:defRPr sz="900"/>
            </a:lvl1pPr>
          </a:lstStyle>
          <a:p>
            <a:r>
              <a:rPr lang="en-US"/>
              <a:t>Click icon to add picture</a:t>
            </a:r>
            <a:endParaRPr lang="en-US" dirty="0"/>
          </a:p>
        </p:txBody>
      </p:sp>
      <p:sp>
        <p:nvSpPr>
          <p:cNvPr id="13" name="Picture Placeholder 10">
            <a:extLst>
              <a:ext uri="{FF2B5EF4-FFF2-40B4-BE49-F238E27FC236}">
                <a16:creationId xmlns:a16="http://schemas.microsoft.com/office/drawing/2014/main" id="{365BC287-99EE-D6FA-48B9-1E6FFE9357EA}"/>
              </a:ext>
            </a:extLst>
          </p:cNvPr>
          <p:cNvSpPr>
            <a:spLocks noGrp="1"/>
          </p:cNvSpPr>
          <p:nvPr>
            <p:ph type="pic" sz="quarter" idx="18"/>
          </p:nvPr>
        </p:nvSpPr>
        <p:spPr>
          <a:xfrm>
            <a:off x="6245352" y="3273552"/>
            <a:ext cx="914400" cy="914400"/>
          </a:xfrm>
        </p:spPr>
        <p:txBody>
          <a:bodyPr anchor="ctr"/>
          <a:lstStyle>
            <a:lvl1pPr marL="0" indent="0" algn="ctr">
              <a:buNone/>
              <a:defRPr sz="900"/>
            </a:lvl1pPr>
          </a:lstStyle>
          <a:p>
            <a:r>
              <a:rPr lang="en-US"/>
              <a:t>Click icon to add picture</a:t>
            </a:r>
            <a:endParaRPr lang="en-US" dirty="0"/>
          </a:p>
        </p:txBody>
      </p:sp>
      <p:sp>
        <p:nvSpPr>
          <p:cNvPr id="14" name="Picture Placeholder 10">
            <a:extLst>
              <a:ext uri="{FF2B5EF4-FFF2-40B4-BE49-F238E27FC236}">
                <a16:creationId xmlns:a16="http://schemas.microsoft.com/office/drawing/2014/main" id="{ECE7A377-A1E6-77DF-79F9-F251BD757741}"/>
              </a:ext>
            </a:extLst>
          </p:cNvPr>
          <p:cNvSpPr>
            <a:spLocks noGrp="1"/>
          </p:cNvSpPr>
          <p:nvPr>
            <p:ph type="pic" sz="quarter" idx="19"/>
          </p:nvPr>
        </p:nvSpPr>
        <p:spPr>
          <a:xfrm>
            <a:off x="6245352" y="5166360"/>
            <a:ext cx="914400" cy="914400"/>
          </a:xfrm>
        </p:spPr>
        <p:txBody>
          <a:bodyPr anchor="ctr"/>
          <a:lstStyle>
            <a:lvl1pPr marL="0" indent="0" algn="ctr">
              <a:buNone/>
              <a:defRPr sz="900"/>
            </a:lvl1p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52D976B1-BEF2-CB69-E97E-A6DAD1F04689}"/>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3116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358819-7D9B-11CB-DBC5-CC8BC5C076D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B2EB2EEB-FE70-98B2-9437-0E1E91F929E8}"/>
              </a:ext>
            </a:extLst>
          </p:cNvPr>
          <p:cNvSpPr>
            <a:spLocks noGrp="1"/>
          </p:cNvSpPr>
          <p:nvPr>
            <p:ph type="ftr" sz="quarter" idx="11"/>
          </p:nvPr>
        </p:nvSpPr>
        <p:spPr/>
        <p:txBody>
          <a:bodyPr/>
          <a:lstStyle/>
          <a:p>
            <a:r>
              <a:rPr lang="en-US" dirty="0"/>
              <a:t>presentation title</a:t>
            </a:r>
          </a:p>
        </p:txBody>
      </p:sp>
      <p:cxnSp>
        <p:nvCxnSpPr>
          <p:cNvPr id="5" name="Straight Connector 4">
            <a:extLst>
              <a:ext uri="{FF2B5EF4-FFF2-40B4-BE49-F238E27FC236}">
                <a16:creationId xmlns:a16="http://schemas.microsoft.com/office/drawing/2014/main" id="{DFAA902D-BDC9-E5AF-D40D-7B8DE616EBE0}"/>
              </a:ext>
            </a:extLst>
          </p:cNvPr>
          <p:cNvCxnSpPr>
            <a:cxnSpLocks/>
          </p:cNvCxnSpPr>
          <p:nvPr userDrawn="1"/>
        </p:nvCxnSpPr>
        <p:spPr>
          <a:xfrm>
            <a:off x="5890260" y="153619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92A4017E-4CAA-8499-38AE-3A3306A7EB26}"/>
              </a:ext>
            </a:extLst>
          </p:cNvPr>
          <p:cNvSpPr>
            <a:spLocks noGrp="1"/>
          </p:cNvSpPr>
          <p:nvPr>
            <p:ph type="body" sz="quarter" idx="12"/>
          </p:nvPr>
        </p:nvSpPr>
        <p:spPr>
          <a:xfrm>
            <a:off x="2834640" y="2057400"/>
            <a:ext cx="6519672" cy="2971800"/>
          </a:xfrm>
          <a:solidFill>
            <a:schemeClr val="accent4"/>
          </a:solidFill>
        </p:spPr>
        <p:txBody>
          <a:bodyPr lIns="576072" tIns="228600" rIns="576072" bIns="228600" anchor="ctr"/>
          <a:lstStyle>
            <a:lvl1pPr marL="0" indent="0" algn="ctr">
              <a:lnSpc>
                <a:spcPts val="2460"/>
              </a:lnSpc>
              <a:buNone/>
              <a:defRPr sz="2000"/>
            </a:lvl1pPr>
          </a:lstStyle>
          <a:p>
            <a:pPr lvl="0"/>
            <a:r>
              <a:rPr lang="en-US"/>
              <a:t>Click to edit Master text styles</a:t>
            </a:r>
          </a:p>
        </p:txBody>
      </p:sp>
      <p:sp>
        <p:nvSpPr>
          <p:cNvPr id="11" name="Picture Placeholder 10">
            <a:extLst>
              <a:ext uri="{FF2B5EF4-FFF2-40B4-BE49-F238E27FC236}">
                <a16:creationId xmlns:a16="http://schemas.microsoft.com/office/drawing/2014/main" id="{E9103CB5-F9EF-D6DA-A5D4-DCCAEBEBE615}"/>
              </a:ext>
            </a:extLst>
          </p:cNvPr>
          <p:cNvSpPr>
            <a:spLocks noGrp="1"/>
          </p:cNvSpPr>
          <p:nvPr>
            <p:ph type="pic" sz="quarter" idx="13"/>
          </p:nvPr>
        </p:nvSpPr>
        <p:spPr>
          <a:xfrm>
            <a:off x="2871216" y="5330952"/>
            <a:ext cx="6519672" cy="1527048"/>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E217F00C-8F19-CB9F-D5BF-9A5F4C77E256}"/>
              </a:ext>
            </a:extLst>
          </p:cNvPr>
          <p:cNvSpPr>
            <a:spLocks noGrp="1"/>
          </p:cNvSpPr>
          <p:nvPr>
            <p:ph type="title"/>
          </p:nvPr>
        </p:nvSpPr>
        <p:spPr>
          <a:xfrm>
            <a:off x="4116324" y="609600"/>
            <a:ext cx="3959352" cy="530352"/>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466626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8C402F40-958A-D2BF-629C-39B659EC95D4}"/>
              </a:ext>
            </a:extLst>
          </p:cNvPr>
          <p:cNvSpPr>
            <a:spLocks noGrp="1"/>
          </p:cNvSpPr>
          <p:nvPr>
            <p:ph type="pic" sz="quarter" idx="12"/>
          </p:nvPr>
        </p:nvSpPr>
        <p:spPr>
          <a:xfrm>
            <a:off x="0" y="1"/>
            <a:ext cx="12191999" cy="6858000"/>
          </a:xfrm>
          <a:custGeom>
            <a:avLst/>
            <a:gdLst>
              <a:gd name="connsiteX0" fmla="*/ 5890261 w 12191999"/>
              <a:gd name="connsiteY0" fmla="*/ 4496651 h 6858000"/>
              <a:gd name="connsiteX1" fmla="*/ 5890261 w 12191999"/>
              <a:gd name="connsiteY1" fmla="*/ 4584953 h 6858000"/>
              <a:gd name="connsiteX2" fmla="*/ 6299835 w 12191999"/>
              <a:gd name="connsiteY2" fmla="*/ 4584953 h 6858000"/>
              <a:gd name="connsiteX3" fmla="*/ 6299835 w 12191999"/>
              <a:gd name="connsiteY3" fmla="*/ 4496651 h 6858000"/>
              <a:gd name="connsiteX4" fmla="*/ 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5890261" y="4496651"/>
                </a:moveTo>
                <a:lnTo>
                  <a:pt x="5890261" y="4584953"/>
                </a:lnTo>
                <a:lnTo>
                  <a:pt x="6299835" y="4584953"/>
                </a:lnTo>
                <a:lnTo>
                  <a:pt x="6299835" y="4496651"/>
                </a:lnTo>
                <a:close/>
                <a:moveTo>
                  <a:pt x="0" y="0"/>
                </a:moveTo>
                <a:lnTo>
                  <a:pt x="12191999" y="0"/>
                </a:lnTo>
                <a:lnTo>
                  <a:pt x="12191999" y="6858000"/>
                </a:lnTo>
                <a:lnTo>
                  <a:pt x="0" y="6858000"/>
                </a:lnTo>
                <a:close/>
              </a:path>
            </a:pathLst>
          </a:custGeom>
        </p:spPr>
        <p:txBody>
          <a:bodyPr wrap="square">
            <a:noAutofit/>
          </a:bodyPr>
          <a:lstStyle/>
          <a:p>
            <a:r>
              <a:rPr lang="en-US"/>
              <a:t>Click icon to add picture</a:t>
            </a:r>
            <a:endParaRPr lang="en-US" dirty="0"/>
          </a:p>
        </p:txBody>
      </p:sp>
      <p:sp>
        <p:nvSpPr>
          <p:cNvPr id="16" name="Title 15">
            <a:extLst>
              <a:ext uri="{FF2B5EF4-FFF2-40B4-BE49-F238E27FC236}">
                <a16:creationId xmlns:a16="http://schemas.microsoft.com/office/drawing/2014/main" id="{ABAFD431-F46D-3701-6A51-738ADAF3A5E3}"/>
              </a:ext>
            </a:extLst>
          </p:cNvPr>
          <p:cNvSpPr>
            <a:spLocks noGrp="1"/>
          </p:cNvSpPr>
          <p:nvPr>
            <p:ph type="title"/>
          </p:nvPr>
        </p:nvSpPr>
        <p:spPr>
          <a:xfrm>
            <a:off x="1535715" y="1485302"/>
            <a:ext cx="9120570" cy="3887396"/>
          </a:xfrm>
          <a:custGeom>
            <a:avLst/>
            <a:gdLst>
              <a:gd name="connsiteX0" fmla="*/ 4354545 w 9120570"/>
              <a:gd name="connsiteY0" fmla="*/ 3011350 h 3887396"/>
              <a:gd name="connsiteX1" fmla="*/ 4354545 w 9120570"/>
              <a:gd name="connsiteY1" fmla="*/ 3099652 h 3887396"/>
              <a:gd name="connsiteX2" fmla="*/ 4764120 w 9120570"/>
              <a:gd name="connsiteY2" fmla="*/ 3099652 h 3887396"/>
              <a:gd name="connsiteX3" fmla="*/ 4764120 w 9120570"/>
              <a:gd name="connsiteY3" fmla="*/ 3011350 h 3887396"/>
              <a:gd name="connsiteX4" fmla="*/ 0 w 9120570"/>
              <a:gd name="connsiteY4" fmla="*/ 0 h 3887396"/>
              <a:gd name="connsiteX5" fmla="*/ 9120570 w 9120570"/>
              <a:gd name="connsiteY5" fmla="*/ 0 h 3887396"/>
              <a:gd name="connsiteX6" fmla="*/ 9120570 w 9120570"/>
              <a:gd name="connsiteY6" fmla="*/ 3887396 h 3887396"/>
              <a:gd name="connsiteX7" fmla="*/ 0 w 9120570"/>
              <a:gd name="connsiteY7" fmla="*/ 3887396 h 388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20570" h="3887396">
                <a:moveTo>
                  <a:pt x="4354545" y="3011350"/>
                </a:moveTo>
                <a:lnTo>
                  <a:pt x="4354545" y="3099652"/>
                </a:lnTo>
                <a:lnTo>
                  <a:pt x="4764120" y="3099652"/>
                </a:lnTo>
                <a:lnTo>
                  <a:pt x="4764120" y="3011350"/>
                </a:lnTo>
                <a:close/>
                <a:moveTo>
                  <a:pt x="0" y="0"/>
                </a:moveTo>
                <a:lnTo>
                  <a:pt x="9120570" y="0"/>
                </a:lnTo>
                <a:lnTo>
                  <a:pt x="9120570" y="3887396"/>
                </a:lnTo>
                <a:lnTo>
                  <a:pt x="0" y="3887396"/>
                </a:lnTo>
                <a:close/>
              </a:path>
            </a:pathLst>
          </a:custGeom>
          <a:solidFill>
            <a:schemeClr val="accent1">
              <a:lumMod val="20000"/>
              <a:lumOff val="80000"/>
            </a:schemeClr>
          </a:solidFill>
        </p:spPr>
        <p:txBody>
          <a:bodyPr wrap="square" bIns="1097280" anchor="b">
            <a:noAutofit/>
          </a:bodyPr>
          <a:lstStyle>
            <a:lvl1pPr algn="ctr">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612648"/>
            <a:ext cx="2286000" cy="2286000"/>
          </a:xfrm>
          <a:prstGeom prst="ellipse">
            <a:avLst/>
          </a:prstGeom>
        </p:spPr>
        <p:txBody>
          <a:bodyPr anchor="ctr"/>
          <a:lstStyle>
            <a:lvl1pPr marL="0" indent="0" algn="ctr">
              <a:buNone/>
              <a:defRPr sz="1050"/>
            </a:lvl1pPr>
          </a:lstStyle>
          <a:p>
            <a:r>
              <a:rPr lang="en-US"/>
              <a:t>Click icon to add picture</a:t>
            </a:r>
            <a:endParaRPr lang="en-US" dirty="0"/>
          </a:p>
        </p:txBody>
      </p:sp>
      <p:sp>
        <p:nvSpPr>
          <p:cNvPr id="13" name="Text Placeholder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5751576"/>
            <a:ext cx="9116568" cy="722376"/>
          </a:xfrm>
        </p:spPr>
        <p:txBody>
          <a:bodyPr anchor="ctr"/>
          <a:lstStyle>
            <a:lvl1pPr marL="0" indent="0" algn="ctr">
              <a:buNone/>
              <a:defRPr sz="2000" cap="all" baseline="0"/>
            </a:lvl1pPr>
          </a:lstStyle>
          <a:p>
            <a:pPr lvl="0"/>
            <a:r>
              <a:rPr lang="en-US"/>
              <a:t>Click to edit Master text styles</a:t>
            </a:r>
          </a:p>
        </p:txBody>
      </p:sp>
      <p:sp>
        <p:nvSpPr>
          <p:cNvPr id="20" name="Rectangle 19">
            <a:extLst>
              <a:ext uri="{FF2B5EF4-FFF2-40B4-BE49-F238E27FC236}">
                <a16:creationId xmlns:a16="http://schemas.microsoft.com/office/drawing/2014/main" id="{469017C4-5BB0-DF6F-781B-FB81A3A5D977}"/>
              </a:ext>
            </a:extLst>
          </p:cNvPr>
          <p:cNvSpPr/>
          <p:nvPr userDrawn="1"/>
        </p:nvSpPr>
        <p:spPr>
          <a:xfrm>
            <a:off x="5890260" y="449665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9110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814BC7BE-FECC-8573-D4F0-FA004B4A04F4}"/>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8" name="Footer Placeholder 7">
            <a:extLst>
              <a:ext uri="{FF2B5EF4-FFF2-40B4-BE49-F238E27FC236}">
                <a16:creationId xmlns:a16="http://schemas.microsoft.com/office/drawing/2014/main" id="{A4DB0707-D3A6-4BF0-3225-EC3851AD7387}"/>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1AE946-135C-E4E8-BA60-64AB48B87F80}"/>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7" name="Footer Placeholder 6">
            <a:extLst>
              <a:ext uri="{FF2B5EF4-FFF2-40B4-BE49-F238E27FC236}">
                <a16:creationId xmlns:a16="http://schemas.microsoft.com/office/drawing/2014/main" id="{FFD67329-9F30-BEB7-31E2-FECA7FD59B06}"/>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129844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230684" y="987425"/>
            <a:ext cx="612470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129844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73183587-0236-046F-3B80-4D4EEA7A80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60C67779-9FAD-3FE4-5C67-7E5313C03B45}"/>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129844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230684" y="993775"/>
            <a:ext cx="612470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129844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3AD70A4E-ED43-B5A1-F8FE-762E21A30A3E}"/>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A4125545-56D8-5212-AA45-63F7C1DBF101}"/>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1295400" y="609600"/>
            <a:ext cx="9821955" cy="125611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295400" y="1855945"/>
            <a:ext cx="9821955"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Slide Number Placeholder 20">
            <a:extLst>
              <a:ext uri="{FF2B5EF4-FFF2-40B4-BE49-F238E27FC236}">
                <a16:creationId xmlns:a16="http://schemas.microsoft.com/office/drawing/2014/main" id="{78A08F60-CEF1-832D-D403-282EA76CBEF2}"/>
              </a:ext>
            </a:extLst>
          </p:cNvPr>
          <p:cNvSpPr>
            <a:spLocks noGrp="1"/>
          </p:cNvSpPr>
          <p:nvPr>
            <p:ph type="sldNum" sz="quarter" idx="4"/>
          </p:nvPr>
        </p:nvSpPr>
        <p:spPr>
          <a:xfrm>
            <a:off x="420624" y="6019801"/>
            <a:ext cx="457200" cy="184150"/>
          </a:xfrm>
          <a:prstGeom prst="rect">
            <a:avLst/>
          </a:prstGeom>
        </p:spPr>
        <p:txBody>
          <a:bodyPr vert="horz" lIns="0" tIns="0" rIns="0" bIns="0" rtlCol="0" anchor="ctr"/>
          <a:lstStyle>
            <a:lvl1pPr algn="ctr">
              <a:defRPr sz="1200" cap="all" spc="200" baseline="0">
                <a:solidFill>
                  <a:schemeClr val="accent1"/>
                </a:solidFill>
                <a:latin typeface="Posterama" panose="020B0504020200020000" pitchFamily="34" charset="0"/>
              </a:defRPr>
            </a:lvl1pPr>
          </a:lstStyle>
          <a:p>
            <a:fld id="{75DF2D63-3FF5-D547-96B9-BE9CCD1ABA58}" type="slidenum">
              <a:rPr lang="en-US" smtClean="0"/>
              <a:pPr/>
              <a:t>‹#›</a:t>
            </a:fld>
            <a:endParaRPr lang="en-US" dirty="0"/>
          </a:p>
        </p:txBody>
      </p:sp>
      <p:sp>
        <p:nvSpPr>
          <p:cNvPr id="25" name="Footer Placeholder 24">
            <a:extLst>
              <a:ext uri="{FF2B5EF4-FFF2-40B4-BE49-F238E27FC236}">
                <a16:creationId xmlns:a16="http://schemas.microsoft.com/office/drawing/2014/main" id="{010F9766-B67A-A34E-2927-9A2D6360F77A}"/>
              </a:ext>
            </a:extLst>
          </p:cNvPr>
          <p:cNvSpPr>
            <a:spLocks noGrp="1"/>
          </p:cNvSpPr>
          <p:nvPr>
            <p:ph type="ftr" sz="quarter" idx="3"/>
          </p:nvPr>
        </p:nvSpPr>
        <p:spPr>
          <a:xfrm rot="16200000">
            <a:off x="-242952" y="1451496"/>
            <a:ext cx="1784352" cy="189457"/>
          </a:xfrm>
          <a:prstGeom prst="rect">
            <a:avLst/>
          </a:prstGeom>
        </p:spPr>
        <p:txBody>
          <a:bodyPr vert="horz" lIns="0" tIns="0" rIns="0" bIns="0" rtlCol="0" anchor="ctr"/>
          <a:lstStyle>
            <a:lvl1pPr algn="l">
              <a:defRPr sz="1200" cap="all" spc="100" baseline="0">
                <a:solidFill>
                  <a:schemeClr val="accent1"/>
                </a:solidFill>
                <a:latin typeface="Posterama" panose="020B0504020200020000" pitchFamily="34" charset="0"/>
              </a:defRPr>
            </a:lvl1pPr>
          </a:lstStyle>
          <a:p>
            <a:r>
              <a:rPr lang="en-US" dirty="0"/>
              <a:t>presentation title</a:t>
            </a:r>
          </a:p>
        </p:txBody>
      </p:sp>
      <p:cxnSp>
        <p:nvCxnSpPr>
          <p:cNvPr id="4" name="Straight Connector 3">
            <a:extLst>
              <a:ext uri="{FF2B5EF4-FFF2-40B4-BE49-F238E27FC236}">
                <a16:creationId xmlns:a16="http://schemas.microsoft.com/office/drawing/2014/main" id="{C0A131BE-DFE5-28BE-2AF8-50ADF9AFDB94}"/>
              </a:ext>
            </a:extLst>
          </p:cNvPr>
          <p:cNvCxnSpPr>
            <a:cxnSpLocks/>
          </p:cNvCxnSpPr>
          <p:nvPr userDrawn="1"/>
        </p:nvCxnSpPr>
        <p:spPr>
          <a:xfrm>
            <a:off x="649224" y="2667000"/>
            <a:ext cx="0" cy="31242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53" r:id="rId12"/>
    <p:sldLayoutId id="2147483671" r:id="rId13"/>
    <p:sldLayoutId id="2147483672" r:id="rId14"/>
    <p:sldLayoutId id="2147483673"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archive.ics.uci.edu/dataset/275/bike+sharing+dataset"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18" Type="http://schemas.microsoft.com/office/2007/relationships/diagramDrawing" Target="../diagrams/drawing3.xml"/><Relationship Id="rId3" Type="http://schemas.openxmlformats.org/officeDocument/2006/relationships/image" Target="../media/image7.jpeg"/><Relationship Id="rId7" Type="http://schemas.openxmlformats.org/officeDocument/2006/relationships/diagramColors" Target="../diagrams/colors1.xml"/><Relationship Id="rId12" Type="http://schemas.openxmlformats.org/officeDocument/2006/relationships/diagramColors" Target="../diagrams/colors2.xml"/><Relationship Id="rId17" Type="http://schemas.openxmlformats.org/officeDocument/2006/relationships/diagramColors" Target="../diagrams/colors3.xml"/><Relationship Id="rId2" Type="http://schemas.openxmlformats.org/officeDocument/2006/relationships/notesSlide" Target="../notesSlides/notesSlide1.xml"/><Relationship Id="rId16" Type="http://schemas.openxmlformats.org/officeDocument/2006/relationships/diagramQuickStyle" Target="../diagrams/quickStyle3.xml"/><Relationship Id="rId1" Type="http://schemas.openxmlformats.org/officeDocument/2006/relationships/slideLayout" Target="../slideLayouts/slideLayout1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5" Type="http://schemas.openxmlformats.org/officeDocument/2006/relationships/diagramLayout" Target="../diagrams/layout3.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diagramData" Target="../diagrams/data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42.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8" Type="http://schemas.openxmlformats.org/officeDocument/2006/relationships/image" Target="../media/image50.jpeg"/><Relationship Id="rId3" Type="http://schemas.openxmlformats.org/officeDocument/2006/relationships/image" Target="../media/image45.svg"/><Relationship Id="rId7" Type="http://schemas.openxmlformats.org/officeDocument/2006/relationships/image" Target="../media/image49.svg"/><Relationship Id="rId2" Type="http://schemas.openxmlformats.org/officeDocument/2006/relationships/image" Target="../media/image44.png"/><Relationship Id="rId1" Type="http://schemas.openxmlformats.org/officeDocument/2006/relationships/slideLayout" Target="../slideLayouts/slideLayout13.xml"/><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1.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Predicting Hourly Bike Rentals. In Pursuit of Model Accuracy! | by Lucas O  | Medium">
            <a:extLst>
              <a:ext uri="{FF2B5EF4-FFF2-40B4-BE49-F238E27FC236}">
                <a16:creationId xmlns:a16="http://schemas.microsoft.com/office/drawing/2014/main" id="{63F3EEDD-A9EE-B812-2672-3FB900E9EC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61" b="13769"/>
          <a:stretch/>
        </p:blipFill>
        <p:spPr bwMode="auto">
          <a:xfrm>
            <a:off x="20" y="1"/>
            <a:ext cx="12191979" cy="6858000"/>
          </a:xfrm>
          <a:custGeom>
            <a:avLst/>
            <a:gdLst>
              <a:gd name="connsiteX0" fmla="*/ 5890261 w 12191999"/>
              <a:gd name="connsiteY0" fmla="*/ 4496651 h 6858000"/>
              <a:gd name="connsiteX1" fmla="*/ 5890261 w 12191999"/>
              <a:gd name="connsiteY1" fmla="*/ 4584953 h 6858000"/>
              <a:gd name="connsiteX2" fmla="*/ 6299835 w 12191999"/>
              <a:gd name="connsiteY2" fmla="*/ 4584953 h 6858000"/>
              <a:gd name="connsiteX3" fmla="*/ 6299835 w 12191999"/>
              <a:gd name="connsiteY3" fmla="*/ 4496651 h 6858000"/>
              <a:gd name="connsiteX4" fmla="*/ 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5890261" y="4496651"/>
                </a:moveTo>
                <a:lnTo>
                  <a:pt x="5890261" y="4584953"/>
                </a:lnTo>
                <a:lnTo>
                  <a:pt x="6299835" y="4584953"/>
                </a:lnTo>
                <a:lnTo>
                  <a:pt x="6299835" y="4496651"/>
                </a:lnTo>
                <a:close/>
                <a:moveTo>
                  <a:pt x="0" y="0"/>
                </a:moveTo>
                <a:lnTo>
                  <a:pt x="12191999" y="0"/>
                </a:lnTo>
                <a:lnTo>
                  <a:pt x="12191999" y="6858000"/>
                </a:lnTo>
                <a:lnTo>
                  <a:pt x="0" y="6858000"/>
                </a:lnTo>
                <a:close/>
              </a:path>
            </a:pathLst>
          </a:custGeom>
          <a:solidFill>
            <a:srgbClr val="FFFFFF"/>
          </a:solid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305E10E9-9AB7-0642-D4C4-DDFDAB7B5B2C}"/>
              </a:ext>
            </a:extLst>
          </p:cNvPr>
          <p:cNvSpPr>
            <a:spLocks noGrp="1"/>
          </p:cNvSpPr>
          <p:nvPr>
            <p:ph type="title"/>
          </p:nvPr>
        </p:nvSpPr>
        <p:spPr>
          <a:xfrm>
            <a:off x="1535715" y="1485302"/>
            <a:ext cx="9120570" cy="3887396"/>
          </a:xfrm>
        </p:spPr>
        <p:txBody>
          <a:bodyPr wrap="square" anchor="b">
            <a:normAutofit/>
          </a:bodyPr>
          <a:lstStyle/>
          <a:p>
            <a:r>
              <a:rPr lang="en-US" dirty="0"/>
              <a:t>Business Analysis project</a:t>
            </a:r>
          </a:p>
        </p:txBody>
      </p:sp>
      <p:sp>
        <p:nvSpPr>
          <p:cNvPr id="2" name="Subtitle 1">
            <a:extLst>
              <a:ext uri="{FF2B5EF4-FFF2-40B4-BE49-F238E27FC236}">
                <a16:creationId xmlns:a16="http://schemas.microsoft.com/office/drawing/2014/main" id="{A1307D8B-2864-21B6-1CE1-B605F29281C5}"/>
              </a:ext>
            </a:extLst>
          </p:cNvPr>
          <p:cNvSpPr>
            <a:spLocks noGrp="1"/>
          </p:cNvSpPr>
          <p:nvPr>
            <p:ph type="body" sz="quarter" idx="14"/>
          </p:nvPr>
        </p:nvSpPr>
        <p:spPr>
          <a:xfrm>
            <a:off x="4280908" y="4650322"/>
            <a:ext cx="3630183" cy="722376"/>
          </a:xfrm>
        </p:spPr>
        <p:txBody>
          <a:bodyPr anchor="ctr">
            <a:normAutofit/>
          </a:bodyPr>
          <a:lstStyle/>
          <a:p>
            <a:r>
              <a:rPr lang="en-US" sz="1100" dirty="0"/>
              <a:t>Utkarsh Som 2020A7PS0903U</a:t>
            </a:r>
          </a:p>
          <a:p>
            <a:r>
              <a:rPr lang="en-US" sz="1100" dirty="0" err="1"/>
              <a:t>Sanskriti</a:t>
            </a:r>
            <a:r>
              <a:rPr lang="en-US" sz="1100" dirty="0"/>
              <a:t> </a:t>
            </a:r>
          </a:p>
          <a:p>
            <a:r>
              <a:rPr lang="en-US" sz="1100" dirty="0" err="1"/>
              <a:t>rushi</a:t>
            </a:r>
            <a:r>
              <a:rPr lang="en-US" sz="1100" dirty="0"/>
              <a:t>​</a:t>
            </a:r>
          </a:p>
        </p:txBody>
      </p:sp>
    </p:spTree>
    <p:extLst>
      <p:ext uri="{BB962C8B-B14F-4D97-AF65-F5344CB8AC3E}">
        <p14:creationId xmlns:p14="http://schemas.microsoft.com/office/powerpoint/2010/main" val="85521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B422-1287-FCEB-63CE-599FDC8468D8}"/>
              </a:ext>
            </a:extLst>
          </p:cNvPr>
          <p:cNvSpPr>
            <a:spLocks noGrp="1"/>
          </p:cNvSpPr>
          <p:nvPr>
            <p:ph type="title"/>
          </p:nvPr>
        </p:nvSpPr>
        <p:spPr>
          <a:xfrm>
            <a:off x="877824" y="1188720"/>
            <a:ext cx="3886200" cy="548640"/>
          </a:xfrm>
        </p:spPr>
        <p:txBody>
          <a:bodyPr/>
          <a:lstStyle/>
          <a:p>
            <a:pPr algn="just"/>
            <a:r>
              <a:rPr lang="en-US" sz="2400" dirty="0"/>
              <a:t>UCI</a:t>
            </a:r>
            <a:br>
              <a:rPr lang="en-US" sz="2400" dirty="0"/>
            </a:br>
            <a:r>
              <a:rPr lang="en-US" sz="2400" dirty="0"/>
              <a:t>Bike sharing data</a:t>
            </a:r>
          </a:p>
        </p:txBody>
      </p:sp>
      <p:sp>
        <p:nvSpPr>
          <p:cNvPr id="5" name="Footer Placeholder 4">
            <a:extLst>
              <a:ext uri="{FF2B5EF4-FFF2-40B4-BE49-F238E27FC236}">
                <a16:creationId xmlns:a16="http://schemas.microsoft.com/office/drawing/2014/main" id="{DE9EDB55-C0CF-1610-24F0-07462C63BCEB}"/>
              </a:ext>
            </a:extLst>
          </p:cNvPr>
          <p:cNvSpPr>
            <a:spLocks noGrp="1"/>
          </p:cNvSpPr>
          <p:nvPr>
            <p:ph type="ftr" sz="quarter" idx="12"/>
          </p:nvPr>
        </p:nvSpPr>
        <p:spPr/>
        <p:txBody>
          <a:bodyPr/>
          <a:lstStyle/>
          <a:p>
            <a:r>
              <a:rPr lang="en-US" dirty="0"/>
              <a:t>Business analysis</a:t>
            </a:r>
          </a:p>
        </p:txBody>
      </p:sp>
      <p:sp>
        <p:nvSpPr>
          <p:cNvPr id="4" name="Slide Number Placeholder 3">
            <a:extLst>
              <a:ext uri="{FF2B5EF4-FFF2-40B4-BE49-F238E27FC236}">
                <a16:creationId xmlns:a16="http://schemas.microsoft.com/office/drawing/2014/main" id="{43D6DE2E-F5E3-8CAF-A5C3-E67C03F538DF}"/>
              </a:ext>
            </a:extLst>
          </p:cNvPr>
          <p:cNvSpPr>
            <a:spLocks noGrp="1"/>
          </p:cNvSpPr>
          <p:nvPr>
            <p:ph type="sldNum" sz="quarter" idx="11"/>
          </p:nvPr>
        </p:nvSpPr>
        <p:spPr/>
        <p:txBody>
          <a:bodyPr/>
          <a:lstStyle/>
          <a:p>
            <a:fld id="{75DF2D63-3FF5-D547-96B9-BE9CCD1ABA58}" type="slidenum">
              <a:rPr lang="en-US" smtClean="0"/>
              <a:pPr/>
              <a:t>2</a:t>
            </a:fld>
            <a:endParaRPr lang="en-US" dirty="0"/>
          </a:p>
        </p:txBody>
      </p:sp>
      <p:sp>
        <p:nvSpPr>
          <p:cNvPr id="3" name="Content Placeholder 2">
            <a:extLst>
              <a:ext uri="{FF2B5EF4-FFF2-40B4-BE49-F238E27FC236}">
                <a16:creationId xmlns:a16="http://schemas.microsoft.com/office/drawing/2014/main" id="{4D038CD2-9585-7E51-5359-D52935A77DF0}"/>
              </a:ext>
            </a:extLst>
          </p:cNvPr>
          <p:cNvSpPr>
            <a:spLocks noGrp="1"/>
          </p:cNvSpPr>
          <p:nvPr>
            <p:ph idx="1"/>
          </p:nvPr>
        </p:nvSpPr>
        <p:spPr>
          <a:xfrm>
            <a:off x="1161288" y="2304287"/>
            <a:ext cx="3602736" cy="4239387"/>
          </a:xfrm>
        </p:spPr>
        <p:txBody>
          <a:bodyPr/>
          <a:lstStyle/>
          <a:p>
            <a:pPr marL="285750" indent="-285750">
              <a:buFont typeface="Arial" panose="020B0604020202020204" pitchFamily="34" charset="0"/>
              <a:buChar char="•"/>
            </a:pPr>
            <a:r>
              <a:rPr lang="en-US" sz="1400" dirty="0"/>
              <a:t>Introduction</a:t>
            </a:r>
          </a:p>
          <a:p>
            <a:pPr marL="285750" indent="-285750">
              <a:buFont typeface="Arial" panose="020B0604020202020204" pitchFamily="34" charset="0"/>
              <a:buChar char="•"/>
            </a:pPr>
            <a:r>
              <a:rPr lang="en-US" sz="1400" dirty="0"/>
              <a:t>Understanding the dataset</a:t>
            </a:r>
          </a:p>
          <a:p>
            <a:pPr marL="285750" indent="-285750">
              <a:buFont typeface="Arial" panose="020B0604020202020204" pitchFamily="34" charset="0"/>
              <a:buChar char="•"/>
            </a:pPr>
            <a:r>
              <a:rPr lang="en-US" sz="1400" dirty="0"/>
              <a:t>Data preprocessing</a:t>
            </a:r>
          </a:p>
          <a:p>
            <a:pPr marL="285750" indent="-285750">
              <a:buFont typeface="Arial" panose="020B0604020202020204" pitchFamily="34" charset="0"/>
              <a:buChar char="•"/>
            </a:pPr>
            <a:r>
              <a:rPr lang="en-US" sz="1400" dirty="0"/>
              <a:t>Exploratory data analysis</a:t>
            </a:r>
          </a:p>
          <a:p>
            <a:pPr marL="285750" indent="-285750">
              <a:buFont typeface="Arial" panose="020B0604020202020204" pitchFamily="34" charset="0"/>
              <a:buChar char="•"/>
            </a:pPr>
            <a:r>
              <a:rPr lang="en-US" sz="1400" dirty="0"/>
              <a:t>Descriptive analysis</a:t>
            </a:r>
          </a:p>
          <a:p>
            <a:pPr marL="285750" indent="-285750">
              <a:buFont typeface="Arial" panose="020B0604020202020204" pitchFamily="34" charset="0"/>
              <a:buChar char="•"/>
            </a:pPr>
            <a:r>
              <a:rPr lang="en-US" sz="1400" dirty="0"/>
              <a:t>Predictive analysis</a:t>
            </a:r>
          </a:p>
          <a:p>
            <a:pPr marL="285750" indent="-285750">
              <a:buFont typeface="Arial" panose="020B0604020202020204" pitchFamily="34" charset="0"/>
              <a:buChar char="•"/>
            </a:pPr>
            <a:r>
              <a:rPr lang="en-US" sz="1400" dirty="0"/>
              <a:t>Summary</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p:txBody>
      </p:sp>
      <p:pic>
        <p:nvPicPr>
          <p:cNvPr id="1026" name="Picture 2" descr="Exploratory Data Analysis and Visualization on Seoul Bike Rental dataset |  by Khuong Lân Cao Thai | Medium">
            <a:extLst>
              <a:ext uri="{FF2B5EF4-FFF2-40B4-BE49-F238E27FC236}">
                <a16:creationId xmlns:a16="http://schemas.microsoft.com/office/drawing/2014/main" id="{0BCFCCF9-6302-A852-AE8E-A872CC6B795C}"/>
              </a:ext>
            </a:extLst>
          </p:cNvPr>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rcRect l="567" r="567"/>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866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5327E6-13FB-2F71-A207-72E15A0136DB}"/>
              </a:ext>
            </a:extLst>
          </p:cNvPr>
          <p:cNvSpPr>
            <a:spLocks noGrp="1"/>
          </p:cNvSpPr>
          <p:nvPr>
            <p:ph type="title"/>
          </p:nvPr>
        </p:nvSpPr>
        <p:spPr/>
        <p:txBody>
          <a:bodyPr/>
          <a:lstStyle/>
          <a:p>
            <a:r>
              <a:rPr lang="en-US" dirty="0"/>
              <a:t>Timeline </a:t>
            </a:r>
          </a:p>
        </p:txBody>
      </p:sp>
      <p:sp>
        <p:nvSpPr>
          <p:cNvPr id="22" name="Rectangle 21">
            <a:extLst>
              <a:ext uri="{FF2B5EF4-FFF2-40B4-BE49-F238E27FC236}">
                <a16:creationId xmlns:a16="http://schemas.microsoft.com/office/drawing/2014/main" id="{F6BA20C7-F48C-429D-2FA7-B7B83A800FA9}"/>
              </a:ext>
              <a:ext uri="{C183D7F6-B498-43B3-948B-1728B52AA6E4}">
                <adec:decorative xmlns:adec="http://schemas.microsoft.com/office/drawing/2017/decorative" val="1"/>
              </a:ext>
            </a:extLst>
          </p:cNvPr>
          <p:cNvSpPr/>
          <p:nvPr/>
        </p:nvSpPr>
        <p:spPr>
          <a:xfrm>
            <a:off x="-1" y="0"/>
            <a:ext cx="2285995" cy="1685542"/>
          </a:xfrm>
          <a:prstGeom prst="rect">
            <a:avLst/>
          </a:prstGeom>
          <a:gradFill flip="none" rotWithShape="1">
            <a:gsLst>
              <a:gs pos="0">
                <a:schemeClr val="bg1">
                  <a:alpha val="0"/>
                </a:schemeClr>
              </a:gs>
              <a:gs pos="8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90BE788E-706D-5D5C-B17F-51759A2CC61A}"/>
              </a:ext>
            </a:extLst>
          </p:cNvPr>
          <p:cNvSpPr>
            <a:spLocks noGrp="1"/>
          </p:cNvSpPr>
          <p:nvPr>
            <p:ph type="ftr" sz="quarter" idx="11"/>
          </p:nvPr>
        </p:nvSpPr>
        <p:spPr/>
        <p:txBody>
          <a:bodyPr/>
          <a:lstStyle/>
          <a:p>
            <a:pPr>
              <a:spcAft>
                <a:spcPts val="600"/>
              </a:spcAft>
            </a:pPr>
            <a:r>
              <a:rPr lang="en-US" dirty="0"/>
              <a:t>Business analysis</a:t>
            </a:r>
          </a:p>
        </p:txBody>
      </p:sp>
      <p:sp>
        <p:nvSpPr>
          <p:cNvPr id="4" name="Slide Number Placeholder 3">
            <a:extLst>
              <a:ext uri="{FF2B5EF4-FFF2-40B4-BE49-F238E27FC236}">
                <a16:creationId xmlns:a16="http://schemas.microsoft.com/office/drawing/2014/main" id="{A9519E8E-7F0D-C4E6-CC87-3F8B896EF0E1}"/>
              </a:ext>
            </a:extLst>
          </p:cNvPr>
          <p:cNvSpPr>
            <a:spLocks noGrp="1"/>
          </p:cNvSpPr>
          <p:nvPr>
            <p:ph type="sldNum" sz="quarter" idx="10"/>
          </p:nvPr>
        </p:nvSpPr>
        <p:spPr/>
        <p:txBody>
          <a:bodyPr/>
          <a:lstStyle/>
          <a:p>
            <a:fld id="{75DF2D63-3FF5-D547-96B9-BE9CCD1ABA58}" type="slidenum">
              <a:rPr lang="en-US" smtClean="0"/>
              <a:pPr/>
              <a:t>3</a:t>
            </a:fld>
            <a:endParaRPr lang="en-US" dirty="0"/>
          </a:p>
        </p:txBody>
      </p:sp>
      <p:sp>
        <p:nvSpPr>
          <p:cNvPr id="82" name="Text Placeholder 81">
            <a:extLst>
              <a:ext uri="{FF2B5EF4-FFF2-40B4-BE49-F238E27FC236}">
                <a16:creationId xmlns:a16="http://schemas.microsoft.com/office/drawing/2014/main" id="{2E1F38AB-E038-4CD1-618A-52B12F7A4BB5}"/>
              </a:ext>
            </a:extLst>
          </p:cNvPr>
          <p:cNvSpPr>
            <a:spLocks noGrp="1"/>
          </p:cNvSpPr>
          <p:nvPr>
            <p:ph type="body" sz="quarter" idx="32"/>
          </p:nvPr>
        </p:nvSpPr>
        <p:spPr/>
        <p:txBody>
          <a:bodyPr/>
          <a:lstStyle/>
          <a:p>
            <a:endParaRPr lang="en-US" dirty="0"/>
          </a:p>
        </p:txBody>
      </p:sp>
      <p:sp>
        <p:nvSpPr>
          <p:cNvPr id="6" name="Text Placeholder 5">
            <a:extLst>
              <a:ext uri="{FF2B5EF4-FFF2-40B4-BE49-F238E27FC236}">
                <a16:creationId xmlns:a16="http://schemas.microsoft.com/office/drawing/2014/main" id="{D0A77C80-D935-F537-F818-8C03F02AF5D4}"/>
              </a:ext>
            </a:extLst>
          </p:cNvPr>
          <p:cNvSpPr>
            <a:spLocks noGrp="1"/>
          </p:cNvSpPr>
          <p:nvPr>
            <p:ph type="body" sz="quarter" idx="16"/>
          </p:nvPr>
        </p:nvSpPr>
        <p:spPr/>
        <p:txBody>
          <a:bodyPr/>
          <a:lstStyle/>
          <a:p>
            <a:r>
              <a:rPr lang="en-US" dirty="0"/>
              <a:t>EDA</a:t>
            </a:r>
          </a:p>
        </p:txBody>
      </p:sp>
      <p:sp>
        <p:nvSpPr>
          <p:cNvPr id="11" name="Text Placeholder 10">
            <a:extLst>
              <a:ext uri="{FF2B5EF4-FFF2-40B4-BE49-F238E27FC236}">
                <a16:creationId xmlns:a16="http://schemas.microsoft.com/office/drawing/2014/main" id="{9E703999-0627-E209-2471-30DBE4AD3C40}"/>
              </a:ext>
            </a:extLst>
          </p:cNvPr>
          <p:cNvSpPr>
            <a:spLocks noGrp="1"/>
          </p:cNvSpPr>
          <p:nvPr>
            <p:ph type="body" sz="quarter" idx="17"/>
          </p:nvPr>
        </p:nvSpPr>
        <p:spPr/>
        <p:txBody>
          <a:bodyPr/>
          <a:lstStyle/>
          <a:p>
            <a:endParaRPr lang="en-US" dirty="0"/>
          </a:p>
        </p:txBody>
      </p:sp>
      <p:sp>
        <p:nvSpPr>
          <p:cNvPr id="81" name="Text Placeholder 80">
            <a:extLst>
              <a:ext uri="{FF2B5EF4-FFF2-40B4-BE49-F238E27FC236}">
                <a16:creationId xmlns:a16="http://schemas.microsoft.com/office/drawing/2014/main" id="{F670FB6E-8396-CF15-B901-347F21C06620}"/>
              </a:ext>
            </a:extLst>
          </p:cNvPr>
          <p:cNvSpPr>
            <a:spLocks noGrp="1"/>
          </p:cNvSpPr>
          <p:nvPr>
            <p:ph type="body" sz="quarter" idx="31"/>
          </p:nvPr>
        </p:nvSpPr>
        <p:spPr/>
        <p:txBody>
          <a:bodyPr/>
          <a:lstStyle/>
          <a:p>
            <a:endParaRPr lang="en-US" dirty="0"/>
          </a:p>
        </p:txBody>
      </p:sp>
      <p:sp>
        <p:nvSpPr>
          <p:cNvPr id="7" name="Text Placeholder 6">
            <a:extLst>
              <a:ext uri="{FF2B5EF4-FFF2-40B4-BE49-F238E27FC236}">
                <a16:creationId xmlns:a16="http://schemas.microsoft.com/office/drawing/2014/main" id="{CB9A58C4-B167-911B-151E-289752AE22A4}"/>
              </a:ext>
            </a:extLst>
          </p:cNvPr>
          <p:cNvSpPr>
            <a:spLocks noGrp="1"/>
          </p:cNvSpPr>
          <p:nvPr>
            <p:ph type="body" sz="quarter" idx="18"/>
          </p:nvPr>
        </p:nvSpPr>
        <p:spPr/>
        <p:txBody>
          <a:bodyPr/>
          <a:lstStyle/>
          <a:p>
            <a:r>
              <a:rPr lang="en-US" dirty="0" err="1"/>
              <a:t>ANOvA</a:t>
            </a:r>
            <a:endParaRPr lang="en-US" dirty="0"/>
          </a:p>
        </p:txBody>
      </p:sp>
      <p:sp>
        <p:nvSpPr>
          <p:cNvPr id="12" name="Text Placeholder 11">
            <a:extLst>
              <a:ext uri="{FF2B5EF4-FFF2-40B4-BE49-F238E27FC236}">
                <a16:creationId xmlns:a16="http://schemas.microsoft.com/office/drawing/2014/main" id="{C5EC4B8C-DA99-ED1F-A340-C03D85FEEB16}"/>
              </a:ext>
            </a:extLst>
          </p:cNvPr>
          <p:cNvSpPr>
            <a:spLocks noGrp="1"/>
          </p:cNvSpPr>
          <p:nvPr>
            <p:ph type="body" sz="quarter" idx="19"/>
          </p:nvPr>
        </p:nvSpPr>
        <p:spPr/>
        <p:txBody>
          <a:bodyPr/>
          <a:lstStyle/>
          <a:p>
            <a:endParaRPr lang="en-US" dirty="0"/>
          </a:p>
        </p:txBody>
      </p:sp>
      <p:sp>
        <p:nvSpPr>
          <p:cNvPr id="83" name="Text Placeholder 82">
            <a:extLst>
              <a:ext uri="{FF2B5EF4-FFF2-40B4-BE49-F238E27FC236}">
                <a16:creationId xmlns:a16="http://schemas.microsoft.com/office/drawing/2014/main" id="{D1FC7473-B976-1C94-F51C-63C1354C6881}"/>
              </a:ext>
            </a:extLst>
          </p:cNvPr>
          <p:cNvSpPr>
            <a:spLocks noGrp="1"/>
          </p:cNvSpPr>
          <p:nvPr>
            <p:ph type="body" sz="quarter" idx="33"/>
          </p:nvPr>
        </p:nvSpPr>
        <p:spPr/>
        <p:txBody>
          <a:bodyPr/>
          <a:lstStyle/>
          <a:p>
            <a:endParaRPr lang="en-US" dirty="0"/>
          </a:p>
        </p:txBody>
      </p:sp>
      <p:sp>
        <p:nvSpPr>
          <p:cNvPr id="8" name="Text Placeholder 7">
            <a:extLst>
              <a:ext uri="{FF2B5EF4-FFF2-40B4-BE49-F238E27FC236}">
                <a16:creationId xmlns:a16="http://schemas.microsoft.com/office/drawing/2014/main" id="{CE2FC2AA-1AF5-2B4E-0A3F-ADBC8EED82AE}"/>
              </a:ext>
            </a:extLst>
          </p:cNvPr>
          <p:cNvSpPr>
            <a:spLocks noGrp="1"/>
          </p:cNvSpPr>
          <p:nvPr>
            <p:ph type="body" sz="quarter" idx="20"/>
          </p:nvPr>
        </p:nvSpPr>
        <p:spPr>
          <a:xfrm>
            <a:off x="4919472" y="3351784"/>
            <a:ext cx="1792986" cy="411476"/>
          </a:xfrm>
        </p:spPr>
        <p:txBody>
          <a:bodyPr/>
          <a:lstStyle/>
          <a:p>
            <a:r>
              <a:rPr lang="en-US" dirty="0"/>
              <a:t>Hypothesis</a:t>
            </a:r>
          </a:p>
        </p:txBody>
      </p:sp>
      <p:sp>
        <p:nvSpPr>
          <p:cNvPr id="13" name="Text Placeholder 12">
            <a:extLst>
              <a:ext uri="{FF2B5EF4-FFF2-40B4-BE49-F238E27FC236}">
                <a16:creationId xmlns:a16="http://schemas.microsoft.com/office/drawing/2014/main" id="{2F88EBF3-B74B-2BAE-FD85-77076F5567F5}"/>
              </a:ext>
            </a:extLst>
          </p:cNvPr>
          <p:cNvSpPr>
            <a:spLocks noGrp="1"/>
          </p:cNvSpPr>
          <p:nvPr>
            <p:ph type="body" sz="quarter" idx="21"/>
          </p:nvPr>
        </p:nvSpPr>
        <p:spPr/>
        <p:txBody>
          <a:bodyPr/>
          <a:lstStyle/>
          <a:p>
            <a:endParaRPr lang="en-US" dirty="0"/>
          </a:p>
        </p:txBody>
      </p:sp>
      <p:sp>
        <p:nvSpPr>
          <p:cNvPr id="84" name="Text Placeholder 83">
            <a:extLst>
              <a:ext uri="{FF2B5EF4-FFF2-40B4-BE49-F238E27FC236}">
                <a16:creationId xmlns:a16="http://schemas.microsoft.com/office/drawing/2014/main" id="{3FE9BB50-1FAA-348B-F236-D51B9527BE3B}"/>
              </a:ext>
            </a:extLst>
          </p:cNvPr>
          <p:cNvSpPr>
            <a:spLocks noGrp="1"/>
          </p:cNvSpPr>
          <p:nvPr>
            <p:ph type="body" sz="quarter" idx="34"/>
          </p:nvPr>
        </p:nvSpPr>
        <p:spPr/>
        <p:txBody>
          <a:bodyPr/>
          <a:lstStyle/>
          <a:p>
            <a:endParaRPr lang="en-US" dirty="0"/>
          </a:p>
        </p:txBody>
      </p:sp>
      <p:sp>
        <p:nvSpPr>
          <p:cNvPr id="9" name="Text Placeholder 8">
            <a:extLst>
              <a:ext uri="{FF2B5EF4-FFF2-40B4-BE49-F238E27FC236}">
                <a16:creationId xmlns:a16="http://schemas.microsoft.com/office/drawing/2014/main" id="{94E29500-4B8C-7CD9-C95A-3169C7062B63}"/>
              </a:ext>
            </a:extLst>
          </p:cNvPr>
          <p:cNvSpPr>
            <a:spLocks noGrp="1"/>
          </p:cNvSpPr>
          <p:nvPr>
            <p:ph type="body" sz="quarter" idx="22"/>
          </p:nvPr>
        </p:nvSpPr>
        <p:spPr/>
        <p:txBody>
          <a:bodyPr/>
          <a:lstStyle/>
          <a:p>
            <a:r>
              <a:rPr lang="en-US" dirty="0"/>
              <a:t>MLR</a:t>
            </a:r>
          </a:p>
        </p:txBody>
      </p:sp>
      <p:sp>
        <p:nvSpPr>
          <p:cNvPr id="14" name="Text Placeholder 13">
            <a:extLst>
              <a:ext uri="{FF2B5EF4-FFF2-40B4-BE49-F238E27FC236}">
                <a16:creationId xmlns:a16="http://schemas.microsoft.com/office/drawing/2014/main" id="{24E8877F-2403-58C2-433E-442614700804}"/>
              </a:ext>
            </a:extLst>
          </p:cNvPr>
          <p:cNvSpPr>
            <a:spLocks noGrp="1"/>
          </p:cNvSpPr>
          <p:nvPr>
            <p:ph type="body" sz="quarter" idx="23"/>
          </p:nvPr>
        </p:nvSpPr>
        <p:spPr/>
        <p:txBody>
          <a:bodyPr/>
          <a:lstStyle/>
          <a:p>
            <a:endParaRPr lang="en-US" dirty="0"/>
          </a:p>
        </p:txBody>
      </p:sp>
      <p:sp>
        <p:nvSpPr>
          <p:cNvPr id="85" name="Text Placeholder 84">
            <a:extLst>
              <a:ext uri="{FF2B5EF4-FFF2-40B4-BE49-F238E27FC236}">
                <a16:creationId xmlns:a16="http://schemas.microsoft.com/office/drawing/2014/main" id="{158572BB-F863-F698-0C6D-57D4F3772E56}"/>
              </a:ext>
            </a:extLst>
          </p:cNvPr>
          <p:cNvSpPr>
            <a:spLocks noGrp="1"/>
          </p:cNvSpPr>
          <p:nvPr>
            <p:ph type="body" sz="quarter" idx="35"/>
          </p:nvPr>
        </p:nvSpPr>
        <p:spPr/>
        <p:txBody>
          <a:bodyPr/>
          <a:lstStyle/>
          <a:p>
            <a:endParaRPr lang="en-US" dirty="0"/>
          </a:p>
        </p:txBody>
      </p:sp>
      <p:sp>
        <p:nvSpPr>
          <p:cNvPr id="10" name="Text Placeholder 9">
            <a:extLst>
              <a:ext uri="{FF2B5EF4-FFF2-40B4-BE49-F238E27FC236}">
                <a16:creationId xmlns:a16="http://schemas.microsoft.com/office/drawing/2014/main" id="{F9A6F37A-B065-126D-BAD3-C956D8BD8717}"/>
              </a:ext>
            </a:extLst>
          </p:cNvPr>
          <p:cNvSpPr>
            <a:spLocks noGrp="1"/>
          </p:cNvSpPr>
          <p:nvPr>
            <p:ph type="body" sz="quarter" idx="28"/>
          </p:nvPr>
        </p:nvSpPr>
        <p:spPr/>
        <p:txBody>
          <a:bodyPr/>
          <a:lstStyle/>
          <a:p>
            <a:r>
              <a:rPr lang="en-US" dirty="0" err="1"/>
              <a:t>REsults</a:t>
            </a:r>
            <a:endParaRPr lang="en-US" dirty="0"/>
          </a:p>
        </p:txBody>
      </p:sp>
      <p:sp>
        <p:nvSpPr>
          <p:cNvPr id="15" name="Text Placeholder 14">
            <a:extLst>
              <a:ext uri="{FF2B5EF4-FFF2-40B4-BE49-F238E27FC236}">
                <a16:creationId xmlns:a16="http://schemas.microsoft.com/office/drawing/2014/main" id="{9AE2A7F3-EC70-CDB1-A10E-1EEDBFBDD571}"/>
              </a:ext>
            </a:extLst>
          </p:cNvPr>
          <p:cNvSpPr>
            <a:spLocks noGrp="1"/>
          </p:cNvSpPr>
          <p:nvPr>
            <p:ph type="body" sz="quarter" idx="29"/>
          </p:nvPr>
        </p:nvSpPr>
        <p:spPr/>
        <p:txBody>
          <a:bodyPr/>
          <a:lstStyle/>
          <a:p>
            <a:endParaRPr lang="en-US" dirty="0"/>
          </a:p>
        </p:txBody>
      </p:sp>
      <p:pic>
        <p:nvPicPr>
          <p:cNvPr id="18440" name="Picture 8" descr="Bike Rentals | Transportation and Parking Services">
            <a:extLst>
              <a:ext uri="{FF2B5EF4-FFF2-40B4-BE49-F238E27FC236}">
                <a16:creationId xmlns:a16="http://schemas.microsoft.com/office/drawing/2014/main" id="{BC3B0207-1B75-7653-0CE6-721EC0142110}"/>
              </a:ext>
            </a:extLst>
          </p:cNvPr>
          <p:cNvPicPr>
            <a:picLocks noGrp="1" noChangeAspect="1" noChangeArrowheads="1"/>
          </p:cNvPicPr>
          <p:nvPr>
            <p:ph type="pic" sz="quarter" idx="30"/>
          </p:nvPr>
        </p:nvPicPr>
        <p:blipFill>
          <a:blip r:embed="rId2">
            <a:extLst>
              <a:ext uri="{28A0092B-C50C-407E-A947-70E740481C1C}">
                <a14:useLocalDpi xmlns:a14="http://schemas.microsoft.com/office/drawing/2010/main" val="0"/>
              </a:ext>
            </a:extLst>
          </a:blip>
          <a:srcRect t="31592" b="31592"/>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882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586F16-C3E1-6E51-D140-EF50382CA456}"/>
              </a:ext>
            </a:extLst>
          </p:cNvPr>
          <p:cNvSpPr>
            <a:spLocks noGrp="1"/>
          </p:cNvSpPr>
          <p:nvPr>
            <p:ph type="sldNum" sz="quarter" idx="10"/>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4</a:t>
            </a:fld>
            <a:endParaRPr lang="en-US"/>
          </a:p>
        </p:txBody>
      </p:sp>
      <p:sp>
        <p:nvSpPr>
          <p:cNvPr id="5" name="Footer Placeholder 4">
            <a:extLst>
              <a:ext uri="{FF2B5EF4-FFF2-40B4-BE49-F238E27FC236}">
                <a16:creationId xmlns:a16="http://schemas.microsoft.com/office/drawing/2014/main" id="{241D8BC6-DD9D-7F06-3B9F-9F2B462E4984}"/>
              </a:ext>
            </a:extLst>
          </p:cNvPr>
          <p:cNvSpPr>
            <a:spLocks noGrp="1"/>
          </p:cNvSpPr>
          <p:nvPr>
            <p:ph type="ftr" sz="quarter" idx="11"/>
          </p:nvPr>
        </p:nvSpPr>
        <p:spPr>
          <a:xfrm rot="16200000">
            <a:off x="-242952" y="1451496"/>
            <a:ext cx="1784352" cy="189457"/>
          </a:xfrm>
        </p:spPr>
        <p:txBody>
          <a:bodyPr anchor="ctr">
            <a:normAutofit/>
          </a:bodyPr>
          <a:lstStyle/>
          <a:p>
            <a:r>
              <a:rPr lang="en-US" dirty="0"/>
              <a:t>Business analysis</a:t>
            </a:r>
          </a:p>
        </p:txBody>
      </p:sp>
      <p:sp>
        <p:nvSpPr>
          <p:cNvPr id="3" name="Content Placeholder 2">
            <a:extLst>
              <a:ext uri="{FF2B5EF4-FFF2-40B4-BE49-F238E27FC236}">
                <a16:creationId xmlns:a16="http://schemas.microsoft.com/office/drawing/2014/main" id="{77C9C890-ADC6-0AA7-BBC0-05E856AA7C3C}"/>
              </a:ext>
            </a:extLst>
          </p:cNvPr>
          <p:cNvSpPr>
            <a:spLocks noGrp="1"/>
          </p:cNvSpPr>
          <p:nvPr>
            <p:ph type="body" sz="quarter" idx="12"/>
          </p:nvPr>
        </p:nvSpPr>
        <p:spPr>
          <a:xfrm>
            <a:off x="2834640" y="2057400"/>
            <a:ext cx="6519672" cy="2971800"/>
          </a:xfrm>
        </p:spPr>
        <p:txBody>
          <a:bodyPr anchor="ctr">
            <a:normAutofit/>
          </a:bodyPr>
          <a:lstStyle/>
          <a:p>
            <a:pPr marL="0" indent="0" algn="just">
              <a:buNone/>
            </a:pPr>
            <a:r>
              <a:rPr lang="en-US" dirty="0"/>
              <a:t>Our analysis delves into the rich data provided by the UCI Bike Sharing Dataset This dataset offers valuable insights into user behaviors, seasonal trends, and operational patterns within the bike-sharing industry. Through meticulous examination and analysis, our group has unearthed key findings that illuminate opportunities and challenges for stakeholders in this thriving sector.</a:t>
            </a:r>
            <a:endParaRPr lang="en-US" spc="0" dirty="0"/>
          </a:p>
        </p:txBody>
      </p:sp>
      <p:pic>
        <p:nvPicPr>
          <p:cNvPr id="2052" name="Picture 4" descr="Bike Sharing Demand | Kaggle">
            <a:extLst>
              <a:ext uri="{FF2B5EF4-FFF2-40B4-BE49-F238E27FC236}">
                <a16:creationId xmlns:a16="http://schemas.microsoft.com/office/drawing/2014/main" id="{F3AFFD19-005F-6C23-42DB-ACCBBCCF19E8}"/>
              </a:ext>
            </a:extLst>
          </p:cNvPr>
          <p:cNvPicPr>
            <a:picLocks noGrp="1" noChangeAspect="1" noChangeArrowheads="1"/>
          </p:cNvPicPr>
          <p:nvPr>
            <p:ph type="pic" sz="quarter" idx="13"/>
          </p:nvPr>
        </p:nvPicPr>
        <p:blipFill rotWithShape="1">
          <a:blip r:embed="rId2">
            <a:extLst>
              <a:ext uri="{28A0092B-C50C-407E-A947-70E740481C1C}">
                <a14:useLocalDpi xmlns:a14="http://schemas.microsoft.com/office/drawing/2010/main" val="0"/>
              </a:ext>
            </a:extLst>
          </a:blip>
          <a:srcRect l="12267" r="5546" b="1"/>
          <a:stretch/>
        </p:blipFill>
        <p:spPr bwMode="auto">
          <a:xfrm>
            <a:off x="2871216" y="5330952"/>
            <a:ext cx="6519672" cy="152704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0984788-646A-CF90-D67D-14752A71745D}"/>
              </a:ext>
            </a:extLst>
          </p:cNvPr>
          <p:cNvSpPr>
            <a:spLocks noGrp="1"/>
          </p:cNvSpPr>
          <p:nvPr>
            <p:ph type="title"/>
          </p:nvPr>
        </p:nvSpPr>
        <p:spPr>
          <a:xfrm>
            <a:off x="4116324" y="609600"/>
            <a:ext cx="3959352" cy="530352"/>
          </a:xfrm>
        </p:spPr>
        <p:txBody>
          <a:bodyPr anchor="t">
            <a:normAutofit/>
          </a:bodyPr>
          <a:lstStyle/>
          <a:p>
            <a:r>
              <a:rPr lang="en-US" sz="3400" dirty="0"/>
              <a:t>Introduction</a:t>
            </a:r>
          </a:p>
        </p:txBody>
      </p:sp>
    </p:spTree>
    <p:extLst>
      <p:ext uri="{BB962C8B-B14F-4D97-AF65-F5344CB8AC3E}">
        <p14:creationId xmlns:p14="http://schemas.microsoft.com/office/powerpoint/2010/main" val="2810133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A064A7B-1595-E3B3-C451-5346B63B8521}"/>
              </a:ext>
            </a:extLst>
          </p:cNvPr>
          <p:cNvSpPr>
            <a:spLocks noGrp="1"/>
          </p:cNvSpPr>
          <p:nvPr>
            <p:ph type="title"/>
          </p:nvPr>
        </p:nvSpPr>
        <p:spPr>
          <a:xfrm>
            <a:off x="5449824" y="1124712"/>
            <a:ext cx="5760720" cy="548640"/>
          </a:xfrm>
        </p:spPr>
        <p:txBody>
          <a:bodyPr anchor="t">
            <a:normAutofit/>
          </a:bodyPr>
          <a:lstStyle/>
          <a:p>
            <a:r>
              <a:rPr lang="en-US" sz="3700"/>
              <a:t>dataset</a:t>
            </a:r>
            <a:endParaRPr lang="en-IN" sz="3700"/>
          </a:p>
        </p:txBody>
      </p:sp>
      <p:sp>
        <p:nvSpPr>
          <p:cNvPr id="37" name="Content Placeholder 2">
            <a:extLst>
              <a:ext uri="{FF2B5EF4-FFF2-40B4-BE49-F238E27FC236}">
                <a16:creationId xmlns:a16="http://schemas.microsoft.com/office/drawing/2014/main" id="{08C9C0D9-AAC5-19DE-C3AE-7BA04F127FD4}"/>
              </a:ext>
            </a:extLst>
          </p:cNvPr>
          <p:cNvSpPr>
            <a:spLocks noGrp="1"/>
          </p:cNvSpPr>
          <p:nvPr>
            <p:ph idx="1"/>
          </p:nvPr>
        </p:nvSpPr>
        <p:spPr>
          <a:xfrm>
            <a:off x="5449824" y="2414016"/>
            <a:ext cx="5760720" cy="3319272"/>
          </a:xfrm>
        </p:spPr>
        <p:txBody>
          <a:bodyPr>
            <a:normAutofit/>
          </a:bodyPr>
          <a:lstStyle/>
          <a:p>
            <a:pPr>
              <a:lnSpc>
                <a:spcPct val="140000"/>
              </a:lnSpc>
            </a:pPr>
            <a:r>
              <a:rPr lang="en-US" sz="1100" dirty="0"/>
              <a:t>The </a:t>
            </a:r>
            <a:r>
              <a:rPr lang="en-US" sz="1100" dirty="0">
                <a:hlinkClick r:id="rId2"/>
              </a:rPr>
              <a:t>UCI Bike Sharing Dataset </a:t>
            </a:r>
            <a:r>
              <a:rPr lang="en-US" sz="1100" dirty="0"/>
              <a:t>contains two table:</a:t>
            </a:r>
          </a:p>
          <a:p>
            <a:pPr>
              <a:lnSpc>
                <a:spcPct val="140000"/>
              </a:lnSpc>
            </a:pPr>
            <a:r>
              <a:rPr lang="en-US" sz="1100" dirty="0"/>
              <a:t>	- Table ‘hour’ comprises of 17,379 records along 18 dimensions</a:t>
            </a:r>
          </a:p>
          <a:p>
            <a:pPr>
              <a:lnSpc>
                <a:spcPct val="140000"/>
              </a:lnSpc>
            </a:pPr>
            <a:r>
              <a:rPr lang="en-US" sz="1100" dirty="0"/>
              <a:t>	- Table ‘day’ comprises 731 records along 17 dimensions</a:t>
            </a:r>
          </a:p>
          <a:p>
            <a:pPr>
              <a:lnSpc>
                <a:spcPct val="140000"/>
              </a:lnSpc>
            </a:pPr>
            <a:r>
              <a:rPr lang="en-US" sz="1100" dirty="0"/>
              <a:t>The dataset includes a wide array of features such as temporal variables like date, month, hour, and day of the week, allowing for the exploration of seasonal trends and daily usage patterns. Additionally, categorical features like season and weather conditions shed light on how external factors impact bike rental demands.</a:t>
            </a:r>
          </a:p>
          <a:p>
            <a:pPr>
              <a:lnSpc>
                <a:spcPct val="140000"/>
              </a:lnSpc>
            </a:pPr>
            <a:r>
              <a:rPr lang="en-US" sz="1100" dirty="0"/>
              <a:t>Meteorological variables like temperature, feeling temperature, humidity, and wind speed provide insights into how weather conditions affect bike rental preferences.</a:t>
            </a:r>
          </a:p>
          <a:p>
            <a:pPr>
              <a:lnSpc>
                <a:spcPct val="140000"/>
              </a:lnSpc>
            </a:pPr>
            <a:r>
              <a:rPr lang="en-US" sz="1100" dirty="0"/>
              <a:t>Moreover, the dataset distinguishes between holidays, working days, and weekends, enabling analysis on how these different types of days influence bike sharing usage.</a:t>
            </a:r>
          </a:p>
        </p:txBody>
      </p:sp>
      <p:sp>
        <p:nvSpPr>
          <p:cNvPr id="2" name="Slide Number Placeholder 1">
            <a:extLst>
              <a:ext uri="{FF2B5EF4-FFF2-40B4-BE49-F238E27FC236}">
                <a16:creationId xmlns:a16="http://schemas.microsoft.com/office/drawing/2014/main" id="{3D9369E1-32B7-2AF1-945B-E78FE4FE60E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5</a:t>
            </a:fld>
            <a:endParaRPr lang="en-US"/>
          </a:p>
        </p:txBody>
      </p:sp>
      <p:sp>
        <p:nvSpPr>
          <p:cNvPr id="3" name="Footer Placeholder 2">
            <a:extLst>
              <a:ext uri="{FF2B5EF4-FFF2-40B4-BE49-F238E27FC236}">
                <a16:creationId xmlns:a16="http://schemas.microsoft.com/office/drawing/2014/main" id="{EE4C599C-AC9F-059C-5B2E-00F2B8557FEF}"/>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3076" name="Picture 4" descr="University of California, Irvine - Wikipedia">
            <a:extLst>
              <a:ext uri="{FF2B5EF4-FFF2-40B4-BE49-F238E27FC236}">
                <a16:creationId xmlns:a16="http://schemas.microsoft.com/office/drawing/2014/main" id="{C3B02BDC-2474-4434-F2A2-A2C06EA6DD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1298448" y="1828800"/>
            <a:ext cx="3200400" cy="3200400"/>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293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DC68E-CB5D-8509-DF9A-F3741290EC35}"/>
              </a:ext>
            </a:extLst>
          </p:cNvPr>
          <p:cNvSpPr>
            <a:spLocks noGrp="1"/>
          </p:cNvSpPr>
          <p:nvPr>
            <p:ph type="title"/>
          </p:nvPr>
        </p:nvSpPr>
        <p:spPr>
          <a:xfrm>
            <a:off x="1188720" y="609600"/>
            <a:ext cx="9829800" cy="914400"/>
          </a:xfrm>
        </p:spPr>
        <p:txBody>
          <a:bodyPr anchor="ctr">
            <a:normAutofit/>
          </a:bodyPr>
          <a:lstStyle/>
          <a:p>
            <a:r>
              <a:rPr lang="en-US" sz="4400"/>
              <a:t>Understanding the dataset</a:t>
            </a:r>
            <a:endParaRPr lang="en-IN" sz="4400"/>
          </a:p>
        </p:txBody>
      </p:sp>
      <p:sp>
        <p:nvSpPr>
          <p:cNvPr id="3" name="Content Placeholder 2">
            <a:extLst>
              <a:ext uri="{FF2B5EF4-FFF2-40B4-BE49-F238E27FC236}">
                <a16:creationId xmlns:a16="http://schemas.microsoft.com/office/drawing/2014/main" id="{31043B93-89EB-EF4A-894F-577E437EE824}"/>
              </a:ext>
            </a:extLst>
          </p:cNvPr>
          <p:cNvSpPr>
            <a:spLocks noGrp="1"/>
          </p:cNvSpPr>
          <p:nvPr>
            <p:ph idx="1"/>
          </p:nvPr>
        </p:nvSpPr>
        <p:spPr>
          <a:xfrm>
            <a:off x="1188720" y="1746504"/>
            <a:ext cx="4819650" cy="4352544"/>
          </a:xfrm>
        </p:spPr>
        <p:txBody>
          <a:bodyPr>
            <a:normAutofit/>
          </a:bodyPr>
          <a:lstStyle/>
          <a:p>
            <a:r>
              <a:rPr lang="en-US" sz="2000" dirty="0"/>
              <a:t> We began by understanding the structure and content of the dataset. This involved examining the variables, their descriptions, and their types to gain insight into the available information.</a:t>
            </a:r>
          </a:p>
          <a:p>
            <a:r>
              <a:rPr lang="en-US" sz="2000" dirty="0"/>
              <a:t>The dataset consists of daily records of bike-sharing usage across a two-year period (2011 and 2012). Each record provides information on the number of bikes rented on a particular day, alongside several features that could potentially influence bike rental patterns.</a:t>
            </a:r>
          </a:p>
          <a:p>
            <a:r>
              <a:rPr lang="en-US" sz="2000" dirty="0"/>
              <a:t>With this report we aim to find trends in the rental business and maximize sales.</a:t>
            </a:r>
          </a:p>
          <a:p>
            <a:r>
              <a:rPr lang="en-US" sz="2000" dirty="0"/>
              <a:t>Hence choosing our </a:t>
            </a:r>
            <a:r>
              <a:rPr lang="en-US" sz="2000" i="1" dirty="0"/>
              <a:t>Target Variable: Count</a:t>
            </a:r>
          </a:p>
        </p:txBody>
      </p:sp>
      <p:sp>
        <p:nvSpPr>
          <p:cNvPr id="4" name="Slide Number Placeholder 3">
            <a:extLst>
              <a:ext uri="{FF2B5EF4-FFF2-40B4-BE49-F238E27FC236}">
                <a16:creationId xmlns:a16="http://schemas.microsoft.com/office/drawing/2014/main" id="{3473141D-EA57-072F-B982-08670663AB89}"/>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6</a:t>
            </a:fld>
            <a:endParaRPr lang="en-US"/>
          </a:p>
        </p:txBody>
      </p:sp>
      <p:sp>
        <p:nvSpPr>
          <p:cNvPr id="5" name="Footer Placeholder 4">
            <a:extLst>
              <a:ext uri="{FF2B5EF4-FFF2-40B4-BE49-F238E27FC236}">
                <a16:creationId xmlns:a16="http://schemas.microsoft.com/office/drawing/2014/main" id="{4BC60FB2-62DA-473A-B246-053E5B8ACEAD}"/>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170" name="Picture 2" descr="What is Sales Management? A Handy Guide for 2024">
            <a:extLst>
              <a:ext uri="{FF2B5EF4-FFF2-40B4-BE49-F238E27FC236}">
                <a16:creationId xmlns:a16="http://schemas.microsoft.com/office/drawing/2014/main" id="{B70DC469-43BD-D0B1-BFD9-16AD30FA3CBE}"/>
              </a:ext>
            </a:extLst>
          </p:cNvPr>
          <p:cNvPicPr>
            <a:picLocks noGrp="1" noChangeAspect="1" noChangeArrowheads="1"/>
          </p:cNvPicPr>
          <p:nvPr>
            <p:ph type="pic" sz="quarter" idx="4294967295"/>
          </p:nvPr>
        </p:nvPicPr>
        <p:blipFill rotWithShape="1">
          <a:blip r:embed="rId2">
            <a:extLst>
              <a:ext uri="{28A0092B-C50C-407E-A947-70E740481C1C}">
                <a14:useLocalDpi xmlns:a14="http://schemas.microsoft.com/office/drawing/2010/main" val="0"/>
              </a:ext>
            </a:extLst>
          </a:blip>
          <a:srcRect l="26506" r="18683" b="2"/>
          <a:stretch/>
        </p:blipFill>
        <p:spPr bwMode="auto">
          <a:xfrm>
            <a:off x="6198870" y="1746504"/>
            <a:ext cx="4819650" cy="4352544"/>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987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12" name="Picture 16" descr="Database schemas guide">
            <a:extLst>
              <a:ext uri="{FF2B5EF4-FFF2-40B4-BE49-F238E27FC236}">
                <a16:creationId xmlns:a16="http://schemas.microsoft.com/office/drawing/2014/main" id="{8DD56811-6902-E7F5-5161-1EE9CC438E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200892"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1CB5D1E-ED6F-2A3A-CE01-0E08312019DA}"/>
              </a:ext>
            </a:extLst>
          </p:cNvPr>
          <p:cNvSpPr>
            <a:spLocks noGrp="1"/>
          </p:cNvSpPr>
          <p:nvPr>
            <p:ph type="title"/>
          </p:nvPr>
        </p:nvSpPr>
        <p:spPr>
          <a:xfrm>
            <a:off x="743953" y="272922"/>
            <a:ext cx="10704094" cy="530352"/>
          </a:xfrm>
        </p:spPr>
        <p:txBody>
          <a:bodyPr anchor="t">
            <a:normAutofit fontScale="90000"/>
          </a:bodyPr>
          <a:lstStyle/>
          <a:p>
            <a:pPr algn="ctr"/>
            <a:r>
              <a:rPr lang="en-US" sz="4000" dirty="0">
                <a:solidFill>
                  <a:schemeClr val="bg1"/>
                </a:solidFill>
                <a:highlight>
                  <a:srgbClr val="000080"/>
                </a:highlight>
              </a:rPr>
              <a:t>Understanding the dataset</a:t>
            </a:r>
            <a:endParaRPr lang="en-IN" sz="3700" dirty="0">
              <a:solidFill>
                <a:schemeClr val="bg1"/>
              </a:solidFill>
              <a:highlight>
                <a:srgbClr val="000080"/>
              </a:highlight>
            </a:endParaRPr>
          </a:p>
        </p:txBody>
      </p:sp>
      <p:sp>
        <p:nvSpPr>
          <p:cNvPr id="14" name="Text Placeholder 3">
            <a:extLst>
              <a:ext uri="{FF2B5EF4-FFF2-40B4-BE49-F238E27FC236}">
                <a16:creationId xmlns:a16="http://schemas.microsoft.com/office/drawing/2014/main" id="{E243C885-1F56-C681-AAF4-23246E47B038}"/>
              </a:ext>
            </a:extLst>
          </p:cNvPr>
          <p:cNvSpPr>
            <a:spLocks noGrp="1"/>
          </p:cNvSpPr>
          <p:nvPr>
            <p:ph type="body" idx="1"/>
          </p:nvPr>
        </p:nvSpPr>
        <p:spPr>
          <a:xfrm>
            <a:off x="743953" y="952500"/>
            <a:ext cx="3999032" cy="3505201"/>
          </a:xfrm>
        </p:spPr>
        <p:txBody>
          <a:bodyPr/>
          <a:lstStyle/>
          <a:p>
            <a:pPr algn="ctr"/>
            <a:r>
              <a:rPr lang="en-US" sz="2000" dirty="0"/>
              <a:t>Temporal features</a:t>
            </a:r>
            <a:endParaRPr lang="en-US" dirty="0"/>
          </a:p>
        </p:txBody>
      </p:sp>
      <p:graphicFrame>
        <p:nvGraphicFramePr>
          <p:cNvPr id="32" name="Content Placeholder 31">
            <a:extLst>
              <a:ext uri="{FF2B5EF4-FFF2-40B4-BE49-F238E27FC236}">
                <a16:creationId xmlns:a16="http://schemas.microsoft.com/office/drawing/2014/main" id="{4F5FDA54-9B72-760D-6C8E-BF92E0E8E854}"/>
              </a:ext>
            </a:extLst>
          </p:cNvPr>
          <p:cNvGraphicFramePr>
            <a:graphicFrameLocks noGrp="1"/>
          </p:cNvGraphicFramePr>
          <p:nvPr>
            <p:ph sz="half" idx="2"/>
            <p:extLst>
              <p:ext uri="{D42A27DB-BD31-4B8C-83A1-F6EECF244321}">
                <p14:modId xmlns:p14="http://schemas.microsoft.com/office/powerpoint/2010/main" val="1316006703"/>
              </p:ext>
            </p:extLst>
          </p:nvPr>
        </p:nvGraphicFramePr>
        <p:xfrm>
          <a:off x="853709" y="1463293"/>
          <a:ext cx="3776444" cy="20193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6" name="Text Placeholder 5">
            <a:extLst>
              <a:ext uri="{FF2B5EF4-FFF2-40B4-BE49-F238E27FC236}">
                <a16:creationId xmlns:a16="http://schemas.microsoft.com/office/drawing/2014/main" id="{B45EF9CA-19D9-6B87-EA00-3F84BFDCCAB0}"/>
              </a:ext>
            </a:extLst>
          </p:cNvPr>
          <p:cNvSpPr>
            <a:spLocks noGrp="1"/>
          </p:cNvSpPr>
          <p:nvPr>
            <p:ph type="body" sz="quarter" idx="3"/>
          </p:nvPr>
        </p:nvSpPr>
        <p:spPr>
          <a:xfrm>
            <a:off x="4096484" y="4305300"/>
            <a:ext cx="3999032" cy="2514600"/>
          </a:xfrm>
        </p:spPr>
        <p:txBody>
          <a:bodyPr/>
          <a:lstStyle/>
          <a:p>
            <a:pPr algn="ctr"/>
            <a:r>
              <a:rPr kumimoji="0" lang="en-US" altLang="en-US" sz="2000" i="0" u="none" strike="noStrike" cap="none" normalizeH="0" baseline="0" dirty="0">
                <a:ln>
                  <a:noFill/>
                </a:ln>
                <a:solidFill>
                  <a:schemeClr val="tx1"/>
                </a:solidFill>
                <a:effectLst/>
              </a:rPr>
              <a:t>WEATHER</a:t>
            </a:r>
            <a:r>
              <a:rPr kumimoji="0" lang="en-US" altLang="en-US" sz="2000" i="0" u="none" strike="noStrike" cap="none" normalizeH="0" baseline="0" dirty="0">
                <a:ln>
                  <a:noFill/>
                </a:ln>
                <a:solidFill>
                  <a:schemeClr val="tx1"/>
                </a:solidFill>
                <a:effectLst/>
                <a:latin typeface="Arial" panose="020B0604020202020204" pitchFamily="34" charset="0"/>
              </a:rPr>
              <a:t> FEATURES</a:t>
            </a:r>
          </a:p>
          <a:p>
            <a:endParaRPr lang="en-US" sz="1300" cap="none" dirty="0">
              <a:latin typeface="+mn-lt"/>
              <a:cs typeface="+mn-cs"/>
            </a:endParaRPr>
          </a:p>
        </p:txBody>
      </p:sp>
      <p:sp>
        <p:nvSpPr>
          <p:cNvPr id="4" name="Slide Number Placeholder 3">
            <a:extLst>
              <a:ext uri="{FF2B5EF4-FFF2-40B4-BE49-F238E27FC236}">
                <a16:creationId xmlns:a16="http://schemas.microsoft.com/office/drawing/2014/main" id="{9FA58D55-138E-2827-43F3-42A5C96A0F99}"/>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7</a:t>
            </a:fld>
            <a:endParaRPr lang="en-US"/>
          </a:p>
        </p:txBody>
      </p:sp>
      <p:sp>
        <p:nvSpPr>
          <p:cNvPr id="5" name="Footer Placeholder 4">
            <a:extLst>
              <a:ext uri="{FF2B5EF4-FFF2-40B4-BE49-F238E27FC236}">
                <a16:creationId xmlns:a16="http://schemas.microsoft.com/office/drawing/2014/main" id="{5DF822FF-3FDB-0245-C14C-27496C955780}"/>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graphicFrame>
        <p:nvGraphicFramePr>
          <p:cNvPr id="34" name="Diagram 33">
            <a:extLst>
              <a:ext uri="{FF2B5EF4-FFF2-40B4-BE49-F238E27FC236}">
                <a16:creationId xmlns:a16="http://schemas.microsoft.com/office/drawing/2014/main" id="{B15E35AB-C1EC-8E8D-DAFC-010BF0223A91}"/>
              </a:ext>
            </a:extLst>
          </p:cNvPr>
          <p:cNvGraphicFramePr/>
          <p:nvPr>
            <p:extLst>
              <p:ext uri="{D42A27DB-BD31-4B8C-83A1-F6EECF244321}">
                <p14:modId xmlns:p14="http://schemas.microsoft.com/office/powerpoint/2010/main" val="2108423177"/>
              </p:ext>
            </p:extLst>
          </p:nvPr>
        </p:nvGraphicFramePr>
        <p:xfrm>
          <a:off x="4230355" y="5019294"/>
          <a:ext cx="3886200" cy="139065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1" name="Text Placeholder 3">
            <a:extLst>
              <a:ext uri="{FF2B5EF4-FFF2-40B4-BE49-F238E27FC236}">
                <a16:creationId xmlns:a16="http://schemas.microsoft.com/office/drawing/2014/main" id="{5BD5015A-EDC0-E6C0-EEE9-81BA2675B4ED}"/>
              </a:ext>
            </a:extLst>
          </p:cNvPr>
          <p:cNvSpPr>
            <a:spLocks noGrp="1"/>
          </p:cNvSpPr>
          <p:nvPr>
            <p:ph type="body" idx="1"/>
          </p:nvPr>
        </p:nvSpPr>
        <p:spPr>
          <a:xfrm>
            <a:off x="7372389" y="952500"/>
            <a:ext cx="4075658" cy="3581400"/>
          </a:xfrm>
        </p:spPr>
        <p:txBody>
          <a:bodyPr/>
          <a:lstStyle/>
          <a:p>
            <a:pPr algn="ctr"/>
            <a:r>
              <a:rPr lang="en-US" sz="2000" dirty="0"/>
              <a:t>USAGE features</a:t>
            </a:r>
            <a:endParaRPr lang="en-US" dirty="0"/>
          </a:p>
        </p:txBody>
      </p:sp>
      <p:sp>
        <p:nvSpPr>
          <p:cNvPr id="25" name="Text Placeholder 3">
            <a:extLst>
              <a:ext uri="{FF2B5EF4-FFF2-40B4-BE49-F238E27FC236}">
                <a16:creationId xmlns:a16="http://schemas.microsoft.com/office/drawing/2014/main" id="{0BAB0F9F-CCED-32A1-31DA-3E1BD404E077}"/>
              </a:ext>
            </a:extLst>
          </p:cNvPr>
          <p:cNvSpPr txBox="1">
            <a:spLocks/>
          </p:cNvSpPr>
          <p:nvPr/>
        </p:nvSpPr>
        <p:spPr>
          <a:xfrm>
            <a:off x="7372388" y="952500"/>
            <a:ext cx="3999032" cy="3505201"/>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vert="horz" wrap="square" lIns="310896" tIns="365760" rIns="274320" bIns="0" rtlCol="0" anchor="t">
            <a:noAutofit/>
          </a:bodyPr>
          <a:lstStyle>
            <a:lvl1pPr marL="0" indent="0" algn="l" defTabSz="914400" rtl="0" eaLnBrk="1" latinLnBrk="0" hangingPunct="1">
              <a:lnSpc>
                <a:spcPts val="2400"/>
              </a:lnSpc>
              <a:spcBef>
                <a:spcPts val="1000"/>
              </a:spcBef>
              <a:buFont typeface="Arial" panose="020B0604020202020204" pitchFamily="34" charset="0"/>
              <a:buNone/>
              <a:defRPr sz="2000" b="0" i="0" kern="1200" cap="all" spc="200" baseline="0">
                <a:solidFill>
                  <a:schemeClr val="tx1"/>
                </a:solidFill>
                <a:latin typeface="+mj-lt"/>
                <a:ea typeface="+mn-ea"/>
                <a:cs typeface="Posterama" panose="020B0504020200020000"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i="0" kern="1200" baseline="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0" kern="1200" baseline="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0" kern="1200" baseline="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0" kern="1200" baseline="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dirty="0" err="1"/>
              <a:t>uSAGE</a:t>
            </a:r>
            <a:r>
              <a:rPr lang="en-US" dirty="0"/>
              <a:t> features</a:t>
            </a:r>
          </a:p>
        </p:txBody>
      </p:sp>
      <p:sp>
        <p:nvSpPr>
          <p:cNvPr id="26" name="Rectangle 1">
            <a:extLst>
              <a:ext uri="{FF2B5EF4-FFF2-40B4-BE49-F238E27FC236}">
                <a16:creationId xmlns:a16="http://schemas.microsoft.com/office/drawing/2014/main" id="{9646D0DC-2333-DD13-A3A6-D8DCBE16D5B5}"/>
              </a:ext>
            </a:extLst>
          </p:cNvPr>
          <p:cNvSpPr txBox="1">
            <a:spLocks noChangeArrowheads="1"/>
          </p:cNvSpPr>
          <p:nvPr/>
        </p:nvSpPr>
        <p:spPr bwMode="auto">
          <a:xfrm>
            <a:off x="7561847" y="1695450"/>
            <a:ext cx="3776444" cy="2514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1400" b="0" i="0" kern="1200" baseline="0">
                <a:solidFill>
                  <a:schemeClr val="tx1"/>
                </a:solidFill>
                <a:latin typeface="+mn-lt"/>
                <a:ea typeface="+mn-ea"/>
                <a:cs typeface="+mn-cs"/>
              </a:defRPr>
            </a:lvl1pPr>
            <a:lvl2pPr marL="2286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mn-lt"/>
                <a:ea typeface="+mn-ea"/>
                <a:cs typeface="+mn-cs"/>
              </a:defRPr>
            </a:lvl2pPr>
            <a:lvl3pPr marL="4572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mn-lt"/>
                <a:ea typeface="+mn-ea"/>
                <a:cs typeface="+mn-cs"/>
              </a:defRPr>
            </a:lvl3pPr>
            <a:lvl4pPr marL="6858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mn-lt"/>
                <a:ea typeface="+mn-ea"/>
                <a:cs typeface="+mn-cs"/>
              </a:defRPr>
            </a:lvl4pPr>
            <a:lvl5pPr marL="11430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eaLnBrk="0" fontAlgn="base" hangingPunct="0">
              <a:spcBef>
                <a:spcPct val="0"/>
              </a:spcBef>
              <a:spcAft>
                <a:spcPts val="600"/>
              </a:spcAft>
              <a:buFont typeface="Arial" panose="020B0604020202020204" pitchFamily="34" charset="0"/>
              <a:buChar char="•"/>
            </a:pPr>
            <a:endParaRPr lang="en-US" altLang="en-US" sz="1300" dirty="0"/>
          </a:p>
        </p:txBody>
      </p:sp>
      <p:graphicFrame>
        <p:nvGraphicFramePr>
          <p:cNvPr id="33" name="Diagram 32">
            <a:extLst>
              <a:ext uri="{FF2B5EF4-FFF2-40B4-BE49-F238E27FC236}">
                <a16:creationId xmlns:a16="http://schemas.microsoft.com/office/drawing/2014/main" id="{45CB4D80-5A29-1D74-7AA2-FC1C7F6060DD}"/>
              </a:ext>
            </a:extLst>
          </p:cNvPr>
          <p:cNvGraphicFramePr/>
          <p:nvPr>
            <p:extLst>
              <p:ext uri="{D42A27DB-BD31-4B8C-83A1-F6EECF244321}">
                <p14:modId xmlns:p14="http://schemas.microsoft.com/office/powerpoint/2010/main" val="2616360632"/>
              </p:ext>
            </p:extLst>
          </p:nvPr>
        </p:nvGraphicFramePr>
        <p:xfrm>
          <a:off x="7561846" y="1704976"/>
          <a:ext cx="3658604" cy="752475"/>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3544586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EF51C9-1750-A1B8-9EA3-E6E2C5813DC1}"/>
              </a:ext>
            </a:extLst>
          </p:cNvPr>
          <p:cNvSpPr>
            <a:spLocks noGrp="1"/>
          </p:cNvSpPr>
          <p:nvPr>
            <p:ph type="title"/>
          </p:nvPr>
        </p:nvSpPr>
        <p:spPr>
          <a:xfrm>
            <a:off x="1188720" y="609600"/>
            <a:ext cx="9829800" cy="914400"/>
          </a:xfrm>
        </p:spPr>
        <p:txBody>
          <a:bodyPr anchor="ctr">
            <a:normAutofit/>
          </a:bodyPr>
          <a:lstStyle/>
          <a:p>
            <a:r>
              <a:rPr lang="en-IN"/>
              <a:t>Data Preprocessing</a:t>
            </a:r>
            <a:endParaRPr lang="en-IN" dirty="0"/>
          </a:p>
        </p:txBody>
      </p:sp>
      <p:sp>
        <p:nvSpPr>
          <p:cNvPr id="10" name="Rectangle 1">
            <a:extLst>
              <a:ext uri="{FF2B5EF4-FFF2-40B4-BE49-F238E27FC236}">
                <a16:creationId xmlns:a16="http://schemas.microsoft.com/office/drawing/2014/main" id="{ADC09FE4-C8AD-AF66-94B3-78F6CD33BD53}"/>
              </a:ext>
            </a:extLst>
          </p:cNvPr>
          <p:cNvSpPr>
            <a:spLocks noGrp="1" noChangeArrowheads="1"/>
          </p:cNvSpPr>
          <p:nvPr>
            <p:ph idx="1"/>
          </p:nvPr>
        </p:nvSpPr>
        <p:spPr bwMode="auto">
          <a:xfrm>
            <a:off x="1188720" y="1746504"/>
            <a:ext cx="4819650" cy="435254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2000" b="0" i="0" u="none" strike="noStrike" cap="none" normalizeH="0" baseline="0" dirty="0">
                <a:ln>
                  <a:noFill/>
                </a:ln>
                <a:effectLst/>
              </a:rPr>
              <a:t>We performed the following preprocessing steps to ensure the dataset was ready for analysis:</a:t>
            </a:r>
          </a:p>
          <a:p>
            <a:pPr marL="0" marR="0" lvl="0" indent="0" defTabSz="914400" rtl="0" eaLnBrk="0" fontAlgn="base" latinLnBrk="0" hangingPunct="0">
              <a:spcBef>
                <a:spcPct val="0"/>
              </a:spcBef>
              <a:spcAft>
                <a:spcPts val="600"/>
              </a:spcAft>
              <a:buClrTx/>
              <a:buSzTx/>
              <a:buFontTx/>
              <a:buNone/>
              <a:tabLst/>
            </a:pPr>
            <a:r>
              <a:rPr lang="en-US" altLang="en-US" sz="2000" i="1" dirty="0"/>
              <a:t>Tool used: MS Excel</a:t>
            </a:r>
            <a:endParaRPr kumimoji="0" lang="en-US" altLang="en-US" sz="2000" b="0" i="1"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AutoNum type="arabicPeriod"/>
              <a:tabLst/>
            </a:pPr>
            <a:r>
              <a:rPr kumimoji="0" lang="en-US" altLang="en-US" sz="2000" b="1" i="0" u="none" strike="noStrike" cap="none" normalizeH="0" baseline="0" dirty="0">
                <a:ln>
                  <a:noFill/>
                </a:ln>
                <a:effectLst/>
              </a:rPr>
              <a:t>Date Conversion</a:t>
            </a:r>
            <a:r>
              <a:rPr kumimoji="0" lang="en-US" altLang="en-US" sz="2000" b="0" i="0" u="none" strike="noStrike" cap="none" normalizeH="0" baseline="0" dirty="0">
                <a:ln>
                  <a:noFill/>
                </a:ln>
                <a:effectLst/>
              </a:rPr>
              <a:t>: We converted the </a:t>
            </a:r>
            <a:r>
              <a:rPr kumimoji="0" lang="en-US" altLang="en-US" sz="2000" b="0" i="0" u="none" strike="noStrike" cap="none" normalizeH="0" baseline="0" dirty="0" err="1">
                <a:ln>
                  <a:noFill/>
                </a:ln>
                <a:effectLst/>
              </a:rPr>
              <a:t>dteday</a:t>
            </a:r>
            <a:r>
              <a:rPr kumimoji="0" lang="en-US" altLang="en-US" sz="2000" b="0" i="0" u="none" strike="noStrike" cap="none" normalizeH="0" baseline="0" dirty="0">
                <a:ln>
                  <a:noFill/>
                </a:ln>
                <a:effectLst/>
              </a:rPr>
              <a:t> column to a datetime object to facilitate time series analysis.</a:t>
            </a:r>
          </a:p>
          <a:p>
            <a:pPr marL="0" marR="0" lvl="0" indent="0" defTabSz="914400" rtl="0" eaLnBrk="0" fontAlgn="base" latinLnBrk="0" hangingPunct="0">
              <a:spcBef>
                <a:spcPct val="0"/>
              </a:spcBef>
              <a:spcAft>
                <a:spcPts val="600"/>
              </a:spcAft>
              <a:buClrTx/>
              <a:buSzTx/>
              <a:buFontTx/>
              <a:buAutoNum type="arabicPeriod" startAt="2"/>
              <a:tabLst/>
            </a:pPr>
            <a:r>
              <a:rPr kumimoji="0" lang="en-US" altLang="en-US" sz="2000" b="1" i="0" u="none" strike="noStrike" cap="none" normalizeH="0" baseline="0" dirty="0">
                <a:ln>
                  <a:noFill/>
                </a:ln>
                <a:effectLst/>
              </a:rPr>
              <a:t>Feature Mapping</a:t>
            </a:r>
            <a:r>
              <a:rPr kumimoji="0" lang="en-US" altLang="en-US" sz="2000" b="0" i="0" u="none" strike="noStrike" cap="none" normalizeH="0" baseline="0" dirty="0">
                <a:ln>
                  <a:noFill/>
                </a:ln>
                <a:effectLst/>
              </a:rPr>
              <a:t>: Categorical features like season, </a:t>
            </a:r>
            <a:r>
              <a:rPr kumimoji="0" lang="en-US" altLang="en-US" sz="2000" b="0" i="0" u="none" strike="noStrike" cap="none" normalizeH="0" baseline="0" dirty="0" err="1">
                <a:ln>
                  <a:noFill/>
                </a:ln>
                <a:effectLst/>
              </a:rPr>
              <a:t>yr</a:t>
            </a:r>
            <a:r>
              <a:rPr kumimoji="0" lang="en-US" altLang="en-US" sz="2000" b="0" i="0" u="none" strike="noStrike" cap="none" normalizeH="0" baseline="0" dirty="0">
                <a:ln>
                  <a:noFill/>
                </a:ln>
                <a:effectLst/>
              </a:rPr>
              <a:t>, and </a:t>
            </a:r>
            <a:r>
              <a:rPr kumimoji="0" lang="en-US" altLang="en-US" sz="2000" b="0" i="0" u="none" strike="noStrike" cap="none" normalizeH="0" baseline="0" dirty="0" err="1">
                <a:ln>
                  <a:noFill/>
                </a:ln>
                <a:effectLst/>
              </a:rPr>
              <a:t>weathersit</a:t>
            </a:r>
            <a:r>
              <a:rPr kumimoji="0" lang="en-US" altLang="en-US" sz="2000" b="0" i="0" u="none" strike="noStrike" cap="none" normalizeH="0" baseline="0" dirty="0">
                <a:ln>
                  <a:noFill/>
                </a:ln>
                <a:effectLst/>
              </a:rPr>
              <a:t> were mapped to their corresponding names for better readability.</a:t>
            </a:r>
          </a:p>
          <a:p>
            <a:pPr marL="0" marR="0" lvl="0" indent="0" defTabSz="914400" rtl="0" eaLnBrk="0" fontAlgn="base" latinLnBrk="0" hangingPunct="0">
              <a:spcBef>
                <a:spcPct val="0"/>
              </a:spcBef>
              <a:spcAft>
                <a:spcPts val="600"/>
              </a:spcAft>
              <a:buClrTx/>
              <a:buSzTx/>
              <a:buFontTx/>
              <a:buAutoNum type="arabicPeriod" startAt="3"/>
              <a:tabLst/>
            </a:pPr>
            <a:r>
              <a:rPr kumimoji="0" lang="en-US" altLang="en-US" sz="2000" b="1" i="0" u="none" strike="noStrike" cap="none" normalizeH="0" baseline="0" dirty="0">
                <a:ln>
                  <a:noFill/>
                </a:ln>
                <a:effectLst/>
              </a:rPr>
              <a:t>Normalization</a:t>
            </a:r>
            <a:r>
              <a:rPr kumimoji="0" lang="en-US" altLang="en-US" sz="2000" b="0" i="0" u="none" strike="noStrike" cap="none" normalizeH="0" baseline="0" dirty="0">
                <a:ln>
                  <a:noFill/>
                </a:ln>
                <a:effectLst/>
              </a:rPr>
              <a:t>: We understood that some weather-related features (temp, </a:t>
            </a:r>
            <a:r>
              <a:rPr kumimoji="0" lang="en-US" altLang="en-US" sz="2000" b="0" i="0" u="none" strike="noStrike" cap="none" normalizeH="0" baseline="0" dirty="0" err="1">
                <a:ln>
                  <a:noFill/>
                </a:ln>
                <a:effectLst/>
              </a:rPr>
              <a:t>atemp</a:t>
            </a:r>
            <a:r>
              <a:rPr kumimoji="0" lang="en-US" altLang="en-US" sz="2000" b="0" i="0" u="none" strike="noStrike" cap="none" normalizeH="0" baseline="0" dirty="0">
                <a:ln>
                  <a:noFill/>
                </a:ln>
                <a:effectLst/>
              </a:rPr>
              <a:t>, hum, and windspeed) were normalized. We noted this to interpret the values correctly during analysis.</a:t>
            </a:r>
          </a:p>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endParaRPr>
          </a:p>
        </p:txBody>
      </p:sp>
      <p:sp>
        <p:nvSpPr>
          <p:cNvPr id="8" name="Slide Number Placeholder 7">
            <a:extLst>
              <a:ext uri="{FF2B5EF4-FFF2-40B4-BE49-F238E27FC236}">
                <a16:creationId xmlns:a16="http://schemas.microsoft.com/office/drawing/2014/main" id="{232FB4ED-DEA7-67CA-7696-B7937AAA8847}"/>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8</a:t>
            </a:fld>
            <a:endParaRPr lang="en-US"/>
          </a:p>
        </p:txBody>
      </p:sp>
      <p:sp>
        <p:nvSpPr>
          <p:cNvPr id="9" name="Footer Placeholder 8">
            <a:extLst>
              <a:ext uri="{FF2B5EF4-FFF2-40B4-BE49-F238E27FC236}">
                <a16:creationId xmlns:a16="http://schemas.microsoft.com/office/drawing/2014/main" id="{B132C0FB-7664-49E7-A944-930A95AD937B}"/>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13" name="Picture 12" descr="A screenshot of a calendar&#10;&#10;Description automatically generated">
            <a:extLst>
              <a:ext uri="{FF2B5EF4-FFF2-40B4-BE49-F238E27FC236}">
                <a16:creationId xmlns:a16="http://schemas.microsoft.com/office/drawing/2014/main" id="{AEFDF732-08A6-52B3-B235-53EC8657BBC9}"/>
              </a:ext>
            </a:extLst>
          </p:cNvPr>
          <p:cNvPicPr>
            <a:picLocks noChangeAspect="1"/>
          </p:cNvPicPr>
          <p:nvPr/>
        </p:nvPicPr>
        <p:blipFill rotWithShape="1">
          <a:blip r:embed="rId2"/>
          <a:srcRect l="3992" r="20710"/>
          <a:stretch/>
        </p:blipFill>
        <p:spPr>
          <a:xfrm>
            <a:off x="6198870" y="1746504"/>
            <a:ext cx="4819650" cy="4352544"/>
          </a:xfrm>
          <a:prstGeom prst="rect">
            <a:avLst/>
          </a:prstGeom>
          <a:noFill/>
          <a:ln>
            <a:solidFill>
              <a:schemeClr val="tx1"/>
            </a:solidFill>
          </a:ln>
        </p:spPr>
      </p:pic>
    </p:spTree>
    <p:extLst>
      <p:ext uri="{BB962C8B-B14F-4D97-AF65-F5344CB8AC3E}">
        <p14:creationId xmlns:p14="http://schemas.microsoft.com/office/powerpoint/2010/main" val="1670869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3F406-DF55-7918-3682-2619C7ABA73B}"/>
              </a:ext>
            </a:extLst>
          </p:cNvPr>
          <p:cNvSpPr>
            <a:spLocks noGrp="1"/>
          </p:cNvSpPr>
          <p:nvPr>
            <p:ph type="title"/>
          </p:nvPr>
        </p:nvSpPr>
        <p:spPr>
          <a:xfrm>
            <a:off x="743952" y="609600"/>
            <a:ext cx="10724147" cy="914400"/>
          </a:xfrm>
        </p:spPr>
        <p:txBody>
          <a:bodyPr/>
          <a:lstStyle/>
          <a:p>
            <a:r>
              <a:rPr lang="en-IN" dirty="0"/>
              <a:t>Exploratory Data Analysis</a:t>
            </a:r>
          </a:p>
        </p:txBody>
      </p:sp>
      <p:sp>
        <p:nvSpPr>
          <p:cNvPr id="3" name="Content Placeholder 2">
            <a:extLst>
              <a:ext uri="{FF2B5EF4-FFF2-40B4-BE49-F238E27FC236}">
                <a16:creationId xmlns:a16="http://schemas.microsoft.com/office/drawing/2014/main" id="{93A10F28-FCE8-A80E-0AE7-1A11F9AA6EC2}"/>
              </a:ext>
            </a:extLst>
          </p:cNvPr>
          <p:cNvSpPr>
            <a:spLocks noGrp="1"/>
          </p:cNvSpPr>
          <p:nvPr>
            <p:ph idx="1"/>
          </p:nvPr>
        </p:nvSpPr>
        <p:spPr/>
        <p:txBody>
          <a:bodyPr/>
          <a:lstStyle/>
          <a:p>
            <a:r>
              <a:rPr lang="en-US" dirty="0"/>
              <a:t>We conducted an EDA to gain initial insights into the data: 	</a:t>
            </a:r>
            <a:r>
              <a:rPr lang="en-US" i="1" dirty="0"/>
              <a:t>Tool used: python</a:t>
            </a:r>
          </a:p>
          <a:p>
            <a:pPr>
              <a:buFont typeface="+mj-lt"/>
              <a:buAutoNum type="arabicPeriod"/>
            </a:pPr>
            <a:r>
              <a:rPr lang="en-US" b="1" dirty="0"/>
              <a:t>Descriptive Statistics</a:t>
            </a:r>
            <a:r>
              <a:rPr lang="en-US" dirty="0"/>
              <a:t>: We calculated summary statistics (mean, median, standard deviation) for continuous variables to understand their distribution and central tendency.</a:t>
            </a:r>
          </a:p>
          <a:p>
            <a:pPr>
              <a:buFont typeface="+mj-lt"/>
              <a:buAutoNum type="arabicPeriod"/>
            </a:pPr>
            <a:r>
              <a:rPr lang="en-US" b="1" dirty="0"/>
              <a:t>Data Visualization</a:t>
            </a:r>
            <a:r>
              <a:rPr lang="en-US" dirty="0"/>
              <a:t>: We used various plots to visualize the data:</a:t>
            </a:r>
          </a:p>
          <a:p>
            <a:pPr marL="742950" lvl="1" indent="-285750">
              <a:buFont typeface="+mj-lt"/>
              <a:buAutoNum type="arabicPeriod"/>
            </a:pPr>
            <a:r>
              <a:rPr lang="en-US" b="1" dirty="0"/>
              <a:t>Time Series Plots</a:t>
            </a:r>
            <a:r>
              <a:rPr lang="en-US" dirty="0"/>
              <a:t>: To observe trends and seasonal patterns in bike rentals over time.</a:t>
            </a:r>
          </a:p>
          <a:p>
            <a:pPr marL="742950" lvl="1" indent="-285750">
              <a:buFont typeface="+mj-lt"/>
              <a:buAutoNum type="arabicPeriod"/>
            </a:pPr>
            <a:r>
              <a:rPr lang="en-US" b="1" dirty="0"/>
              <a:t>Scatter Plots</a:t>
            </a:r>
            <a:r>
              <a:rPr lang="en-US" dirty="0"/>
              <a:t>: To explore relationships between weather conditions (e.g., temperature, humidity) and bike rentals.</a:t>
            </a:r>
          </a:p>
          <a:p>
            <a:pPr marL="742950" lvl="1" indent="-285750">
              <a:buFont typeface="+mj-lt"/>
              <a:buAutoNum type="arabicPeriod"/>
            </a:pPr>
            <a:r>
              <a:rPr lang="en-US" b="1" dirty="0"/>
              <a:t>Histograms</a:t>
            </a:r>
            <a:r>
              <a:rPr lang="en-US" dirty="0"/>
              <a:t>: To examine the distribution of bike rentals and other features.</a:t>
            </a:r>
          </a:p>
          <a:p>
            <a:pPr marL="742950" lvl="1" indent="-285750">
              <a:buFont typeface="+mj-lt"/>
              <a:buAutoNum type="arabicPeriod"/>
            </a:pPr>
            <a:r>
              <a:rPr lang="en-US" b="1" dirty="0"/>
              <a:t>Box Plots</a:t>
            </a:r>
            <a:r>
              <a:rPr lang="en-US" dirty="0"/>
              <a:t>: To identify outliers and understand the spread of continuous variables.</a:t>
            </a:r>
          </a:p>
          <a:p>
            <a:endParaRPr lang="en-IN" dirty="0"/>
          </a:p>
        </p:txBody>
      </p:sp>
      <p:sp>
        <p:nvSpPr>
          <p:cNvPr id="4" name="Slide Number Placeholder 3">
            <a:extLst>
              <a:ext uri="{FF2B5EF4-FFF2-40B4-BE49-F238E27FC236}">
                <a16:creationId xmlns:a16="http://schemas.microsoft.com/office/drawing/2014/main" id="{CEA2F6B9-A8F9-872A-E44D-1D588C55BDEF}"/>
              </a:ext>
            </a:extLst>
          </p:cNvPr>
          <p:cNvSpPr>
            <a:spLocks noGrp="1"/>
          </p:cNvSpPr>
          <p:nvPr>
            <p:ph type="sldNum" sz="quarter" idx="11"/>
          </p:nvPr>
        </p:nvSpPr>
        <p:spPr/>
        <p:txBody>
          <a:bodyPr/>
          <a:lstStyle/>
          <a:p>
            <a:fld id="{75DF2D63-3FF5-D547-96B9-BE9CCD1ABA58}" type="slidenum">
              <a:rPr lang="en-US" smtClean="0"/>
              <a:t>9</a:t>
            </a:fld>
            <a:endParaRPr lang="en-US" dirty="0"/>
          </a:p>
        </p:txBody>
      </p:sp>
      <p:sp>
        <p:nvSpPr>
          <p:cNvPr id="5" name="Footer Placeholder 4">
            <a:extLst>
              <a:ext uri="{FF2B5EF4-FFF2-40B4-BE49-F238E27FC236}">
                <a16:creationId xmlns:a16="http://schemas.microsoft.com/office/drawing/2014/main" id="{3E0E4771-7F1B-69C9-4944-3C9941D308AA}"/>
              </a:ext>
            </a:extLst>
          </p:cNvPr>
          <p:cNvSpPr>
            <a:spLocks noGrp="1"/>
          </p:cNvSpPr>
          <p:nvPr>
            <p:ph type="ftr" sz="quarter" idx="12"/>
          </p:nvPr>
        </p:nvSpPr>
        <p:spPr/>
        <p:txBody>
          <a:bodyPr/>
          <a:lstStyle/>
          <a:p>
            <a:pPr>
              <a:spcAft>
                <a:spcPts val="600"/>
              </a:spcAft>
            </a:pPr>
            <a:r>
              <a:rPr lang="en-US" dirty="0"/>
              <a:t>Business analysis</a:t>
            </a:r>
          </a:p>
        </p:txBody>
      </p:sp>
    </p:spTree>
    <p:extLst>
      <p:ext uri="{BB962C8B-B14F-4D97-AF65-F5344CB8AC3E}">
        <p14:creationId xmlns:p14="http://schemas.microsoft.com/office/powerpoint/2010/main" val="1164721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US" sz="3700" dirty="0"/>
              <a:t>E</a:t>
            </a:r>
            <a:r>
              <a:rPr lang="en-IN" sz="3700" dirty="0"/>
              <a:t>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295399" y="2173605"/>
            <a:ext cx="5847829" cy="3846196"/>
          </a:xfrm>
        </p:spPr>
        <p:txBody>
          <a:bodyPr>
            <a:normAutofit/>
          </a:bodyPr>
          <a:lstStyle/>
          <a:p>
            <a:r>
              <a:rPr lang="en-US" b="1" dirty="0"/>
              <a:t>Seasonality</a:t>
            </a:r>
            <a:r>
              <a:rPr lang="en-US" dirty="0"/>
              <a:t>: </a:t>
            </a:r>
          </a:p>
          <a:p>
            <a:pPr lvl="1"/>
            <a:r>
              <a:rPr lang="en-US" dirty="0"/>
              <a:t>Bike rentals showed clear seasonal patterns, with higher rentals during certain months and seasons.</a:t>
            </a:r>
          </a:p>
          <a:p>
            <a:pPr lvl="1"/>
            <a:r>
              <a:rPr lang="en-US" dirty="0"/>
              <a:t>while the correlation between bike rentals and months is not strong, there are notable seasonal patterns. Fall, especially September, experiences the peak of bike rentals, whereas summer maintains a stable level of rental activity.</a:t>
            </a:r>
          </a:p>
          <a:p>
            <a:pPr lvl="1"/>
            <a:r>
              <a:rPr lang="en-US" dirty="0"/>
              <a:t>Understanding these patterns can help bike rental services optimize their operations and marketing strategies to better meet customer demand throughout the year.</a:t>
            </a:r>
          </a:p>
          <a:p>
            <a:pPr lvl="1"/>
            <a:endParaRPr lang="en-IN" dirty="0"/>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10</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 name="Picture 6" descr="A graph of a rental bike&#10;&#10;Description automatically generated">
            <a:extLst>
              <a:ext uri="{FF2B5EF4-FFF2-40B4-BE49-F238E27FC236}">
                <a16:creationId xmlns:a16="http://schemas.microsoft.com/office/drawing/2014/main" id="{7D115D54-C1F6-4FC5-7055-66FF0A268EAB}"/>
              </a:ext>
            </a:extLst>
          </p:cNvPr>
          <p:cNvPicPr>
            <a:picLocks noChangeAspect="1"/>
          </p:cNvPicPr>
          <p:nvPr/>
        </p:nvPicPr>
        <p:blipFill>
          <a:blip r:embed="rId2"/>
          <a:stretch>
            <a:fillRect/>
          </a:stretch>
        </p:blipFill>
        <p:spPr>
          <a:xfrm>
            <a:off x="7277100" y="3678174"/>
            <a:ext cx="4200525" cy="2417826"/>
          </a:xfrm>
          <a:prstGeom prst="rect">
            <a:avLst/>
          </a:prstGeom>
          <a:noFill/>
          <a:ln>
            <a:solidFill>
              <a:schemeClr val="tx1"/>
            </a:solidFill>
          </a:ln>
        </p:spPr>
      </p:pic>
      <p:pic>
        <p:nvPicPr>
          <p:cNvPr id="9" name="Picture 8">
            <a:extLst>
              <a:ext uri="{FF2B5EF4-FFF2-40B4-BE49-F238E27FC236}">
                <a16:creationId xmlns:a16="http://schemas.microsoft.com/office/drawing/2014/main" id="{2A35B2CC-0E16-3935-3FD7-04C7E2871544}"/>
              </a:ext>
            </a:extLst>
          </p:cNvPr>
          <p:cNvPicPr>
            <a:picLocks noChangeAspect="1"/>
          </p:cNvPicPr>
          <p:nvPr/>
        </p:nvPicPr>
        <p:blipFill>
          <a:blip r:embed="rId3"/>
          <a:stretch>
            <a:fillRect/>
          </a:stretch>
        </p:blipFill>
        <p:spPr>
          <a:xfrm>
            <a:off x="7277099" y="762000"/>
            <a:ext cx="4200525" cy="2916173"/>
          </a:xfrm>
          <a:prstGeom prst="rect">
            <a:avLst/>
          </a:prstGeom>
          <a:ln>
            <a:solidFill>
              <a:schemeClr val="tx1"/>
            </a:solidFill>
          </a:ln>
        </p:spPr>
      </p:pic>
    </p:spTree>
    <p:extLst>
      <p:ext uri="{BB962C8B-B14F-4D97-AF65-F5344CB8AC3E}">
        <p14:creationId xmlns:p14="http://schemas.microsoft.com/office/powerpoint/2010/main" val="2214456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295400" y="2173604"/>
            <a:ext cx="5998466" cy="3912871"/>
          </a:xfrm>
        </p:spPr>
        <p:txBody>
          <a:bodyPr>
            <a:normAutofit/>
          </a:bodyPr>
          <a:lstStyle/>
          <a:p>
            <a:r>
              <a:rPr lang="en-US" b="1" dirty="0"/>
              <a:t>Weather impact (weather Situation)</a:t>
            </a:r>
            <a:r>
              <a:rPr lang="en-US" dirty="0"/>
              <a:t>: </a:t>
            </a:r>
          </a:p>
          <a:p>
            <a:pPr lvl="1"/>
            <a:r>
              <a:rPr lang="en-US" dirty="0"/>
              <a:t>As weather situation changes, so does the number of bike rentals, highlighting how weather changes influence biking behavior. </a:t>
            </a:r>
          </a:p>
          <a:p>
            <a:pPr lvl="1"/>
            <a:endParaRPr lang="en-US" dirty="0"/>
          </a:p>
          <a:p>
            <a:pPr lvl="1"/>
            <a:endParaRPr lang="en-US" dirty="0"/>
          </a:p>
          <a:p>
            <a:pPr lvl="1"/>
            <a:r>
              <a:rPr lang="en-US" dirty="0"/>
              <a:t>While the correlation between weather situation and rental counts is negative, it is relatively weak. With highest number of rentals with a clear sky.</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11</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19" name="Picture 18">
            <a:extLst>
              <a:ext uri="{FF2B5EF4-FFF2-40B4-BE49-F238E27FC236}">
                <a16:creationId xmlns:a16="http://schemas.microsoft.com/office/drawing/2014/main" id="{B684191C-7182-400B-69BC-3DEDBD08160E}"/>
              </a:ext>
            </a:extLst>
          </p:cNvPr>
          <p:cNvPicPr>
            <a:picLocks noChangeAspect="1"/>
          </p:cNvPicPr>
          <p:nvPr/>
        </p:nvPicPr>
        <p:blipFill>
          <a:blip r:embed="rId2"/>
          <a:stretch>
            <a:fillRect/>
          </a:stretch>
        </p:blipFill>
        <p:spPr>
          <a:xfrm>
            <a:off x="7297486" y="3560968"/>
            <a:ext cx="4183760" cy="2525507"/>
          </a:xfrm>
          <a:prstGeom prst="rect">
            <a:avLst/>
          </a:prstGeom>
          <a:ln>
            <a:solidFill>
              <a:schemeClr val="tx1"/>
            </a:solidFill>
          </a:ln>
        </p:spPr>
      </p:pic>
      <p:pic>
        <p:nvPicPr>
          <p:cNvPr id="21" name="Picture 20">
            <a:extLst>
              <a:ext uri="{FF2B5EF4-FFF2-40B4-BE49-F238E27FC236}">
                <a16:creationId xmlns:a16="http://schemas.microsoft.com/office/drawing/2014/main" id="{526EEBF9-F799-E47A-D100-2F63BECC60C2}"/>
              </a:ext>
            </a:extLst>
          </p:cNvPr>
          <p:cNvPicPr>
            <a:picLocks noChangeAspect="1"/>
          </p:cNvPicPr>
          <p:nvPr/>
        </p:nvPicPr>
        <p:blipFill>
          <a:blip r:embed="rId3"/>
          <a:stretch>
            <a:fillRect/>
          </a:stretch>
        </p:blipFill>
        <p:spPr>
          <a:xfrm>
            <a:off x="7293866" y="771525"/>
            <a:ext cx="4187380" cy="2789443"/>
          </a:xfrm>
          <a:prstGeom prst="rect">
            <a:avLst/>
          </a:prstGeom>
          <a:ln>
            <a:solidFill>
              <a:schemeClr val="tx1"/>
            </a:solidFill>
          </a:ln>
        </p:spPr>
      </p:pic>
    </p:spTree>
    <p:extLst>
      <p:ext uri="{BB962C8B-B14F-4D97-AF65-F5344CB8AC3E}">
        <p14:creationId xmlns:p14="http://schemas.microsoft.com/office/powerpoint/2010/main" val="1916064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295399" y="2173604"/>
            <a:ext cx="5864595" cy="3912871"/>
          </a:xfrm>
        </p:spPr>
        <p:txBody>
          <a:bodyPr>
            <a:normAutofit/>
          </a:bodyPr>
          <a:lstStyle/>
          <a:p>
            <a:r>
              <a:rPr lang="en-US" b="1" dirty="0"/>
              <a:t>Weather impact (windspeed)</a:t>
            </a:r>
            <a:r>
              <a:rPr lang="en-US" dirty="0"/>
              <a:t>: </a:t>
            </a:r>
          </a:p>
          <a:p>
            <a:pPr lvl="1"/>
            <a:r>
              <a:rPr lang="en-US" dirty="0"/>
              <a:t>The correlation matrix between ‘windspeed’ and ‘count’ shows us a positive correlation of 0.09. </a:t>
            </a:r>
          </a:p>
          <a:p>
            <a:pPr lvl="1"/>
            <a:endParaRPr lang="en-US" dirty="0"/>
          </a:p>
          <a:p>
            <a:pPr lvl="1"/>
            <a:r>
              <a:rPr lang="en-US" dirty="0"/>
              <a:t>It can been seen in the charts, the trend between the both is not certain.</a:t>
            </a:r>
          </a:p>
          <a:p>
            <a:pPr lvl="1"/>
            <a:endParaRPr lang="en-US" dirty="0"/>
          </a:p>
          <a:p>
            <a:pPr lvl="1"/>
            <a:r>
              <a:rPr lang="en-US" dirty="0"/>
              <a:t>Hence it can be concluded that ‘windspeed’ has minimal to no impact on the bike rental business.</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12</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 name="Picture 6">
            <a:extLst>
              <a:ext uri="{FF2B5EF4-FFF2-40B4-BE49-F238E27FC236}">
                <a16:creationId xmlns:a16="http://schemas.microsoft.com/office/drawing/2014/main" id="{2E8812DA-90FC-89C7-22CA-7C593A59B4E2}"/>
              </a:ext>
            </a:extLst>
          </p:cNvPr>
          <p:cNvPicPr>
            <a:picLocks noChangeAspect="1"/>
          </p:cNvPicPr>
          <p:nvPr/>
        </p:nvPicPr>
        <p:blipFill>
          <a:blip r:embed="rId2"/>
          <a:stretch>
            <a:fillRect/>
          </a:stretch>
        </p:blipFill>
        <p:spPr>
          <a:xfrm>
            <a:off x="7293864" y="3607212"/>
            <a:ext cx="4183761" cy="2479264"/>
          </a:xfrm>
          <a:prstGeom prst="rect">
            <a:avLst/>
          </a:prstGeom>
          <a:ln>
            <a:solidFill>
              <a:schemeClr val="tx1"/>
            </a:solidFill>
          </a:ln>
        </p:spPr>
      </p:pic>
      <p:pic>
        <p:nvPicPr>
          <p:cNvPr id="9" name="Picture 8">
            <a:extLst>
              <a:ext uri="{FF2B5EF4-FFF2-40B4-BE49-F238E27FC236}">
                <a16:creationId xmlns:a16="http://schemas.microsoft.com/office/drawing/2014/main" id="{ED92EFBF-DDBC-4106-CC39-B5C8CB37E35F}"/>
              </a:ext>
            </a:extLst>
          </p:cNvPr>
          <p:cNvPicPr>
            <a:picLocks noChangeAspect="1"/>
          </p:cNvPicPr>
          <p:nvPr/>
        </p:nvPicPr>
        <p:blipFill>
          <a:blip r:embed="rId3"/>
          <a:stretch>
            <a:fillRect/>
          </a:stretch>
        </p:blipFill>
        <p:spPr>
          <a:xfrm>
            <a:off x="7293863" y="761999"/>
            <a:ext cx="4183761" cy="2835688"/>
          </a:xfrm>
          <a:prstGeom prst="rect">
            <a:avLst/>
          </a:prstGeom>
          <a:ln>
            <a:solidFill>
              <a:schemeClr val="tx1"/>
            </a:solidFill>
          </a:ln>
        </p:spPr>
      </p:pic>
    </p:spTree>
    <p:extLst>
      <p:ext uri="{BB962C8B-B14F-4D97-AF65-F5344CB8AC3E}">
        <p14:creationId xmlns:p14="http://schemas.microsoft.com/office/powerpoint/2010/main" val="2240111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295399" y="2173604"/>
            <a:ext cx="5864595" cy="3912871"/>
          </a:xfrm>
        </p:spPr>
        <p:txBody>
          <a:bodyPr>
            <a:normAutofit/>
          </a:bodyPr>
          <a:lstStyle/>
          <a:p>
            <a:r>
              <a:rPr lang="en-US" b="1" dirty="0"/>
              <a:t>Weather impact (Humidity)</a:t>
            </a:r>
            <a:r>
              <a:rPr lang="en-US" dirty="0"/>
              <a:t>: </a:t>
            </a:r>
          </a:p>
          <a:p>
            <a:pPr lvl="1"/>
            <a:r>
              <a:rPr lang="en-US" dirty="0"/>
              <a:t>With negative correlation of -0.32 and the trend line we can see that humidity is a strong factor affecting the bike rental business.</a:t>
            </a:r>
          </a:p>
          <a:p>
            <a:pPr lvl="1"/>
            <a:endParaRPr lang="en-US" dirty="0"/>
          </a:p>
          <a:p>
            <a:pPr lvl="1"/>
            <a:endParaRPr lang="en-US" dirty="0"/>
          </a:p>
          <a:p>
            <a:pPr lvl="1"/>
            <a:r>
              <a:rPr lang="en-US" dirty="0"/>
              <a:t>As humidity fades away in fall and spring, the line plot shows a sudden increase in the number of bikes rented.</a:t>
            </a:r>
          </a:p>
          <a:p>
            <a:pPr lvl="1"/>
            <a:endParaRPr lang="en-US" dirty="0"/>
          </a:p>
          <a:p>
            <a:pPr marL="0" lvl="1" indent="0">
              <a:buNone/>
            </a:pPr>
            <a:endParaRPr lang="en-US" dirty="0"/>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13</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8" name="Picture 7">
            <a:extLst>
              <a:ext uri="{FF2B5EF4-FFF2-40B4-BE49-F238E27FC236}">
                <a16:creationId xmlns:a16="http://schemas.microsoft.com/office/drawing/2014/main" id="{E300DCE5-402E-920E-9866-DCC2EA38C4AF}"/>
              </a:ext>
            </a:extLst>
          </p:cNvPr>
          <p:cNvPicPr>
            <a:picLocks noChangeAspect="1"/>
          </p:cNvPicPr>
          <p:nvPr/>
        </p:nvPicPr>
        <p:blipFill>
          <a:blip r:embed="rId2"/>
          <a:stretch>
            <a:fillRect/>
          </a:stretch>
        </p:blipFill>
        <p:spPr>
          <a:xfrm>
            <a:off x="7293864" y="771524"/>
            <a:ext cx="4183761" cy="2835688"/>
          </a:xfrm>
          <a:prstGeom prst="rect">
            <a:avLst/>
          </a:prstGeom>
          <a:ln>
            <a:solidFill>
              <a:schemeClr val="tx1"/>
            </a:solidFill>
          </a:ln>
        </p:spPr>
      </p:pic>
      <p:pic>
        <p:nvPicPr>
          <p:cNvPr id="11" name="Picture 10">
            <a:extLst>
              <a:ext uri="{FF2B5EF4-FFF2-40B4-BE49-F238E27FC236}">
                <a16:creationId xmlns:a16="http://schemas.microsoft.com/office/drawing/2014/main" id="{73B23968-6ABA-BD4C-85E8-656EF981AC8E}"/>
              </a:ext>
            </a:extLst>
          </p:cNvPr>
          <p:cNvPicPr>
            <a:picLocks noChangeAspect="1"/>
          </p:cNvPicPr>
          <p:nvPr/>
        </p:nvPicPr>
        <p:blipFill>
          <a:blip r:embed="rId3"/>
          <a:stretch>
            <a:fillRect/>
          </a:stretch>
        </p:blipFill>
        <p:spPr>
          <a:xfrm>
            <a:off x="7293864" y="3607212"/>
            <a:ext cx="4183761" cy="2479263"/>
          </a:xfrm>
          <a:prstGeom prst="rect">
            <a:avLst/>
          </a:prstGeom>
          <a:ln>
            <a:solidFill>
              <a:schemeClr val="tx1"/>
            </a:solidFill>
          </a:ln>
        </p:spPr>
      </p:pic>
    </p:spTree>
    <p:extLst>
      <p:ext uri="{BB962C8B-B14F-4D97-AF65-F5344CB8AC3E}">
        <p14:creationId xmlns:p14="http://schemas.microsoft.com/office/powerpoint/2010/main" val="3839450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295399" y="2173604"/>
            <a:ext cx="5864595" cy="3912871"/>
          </a:xfrm>
        </p:spPr>
        <p:txBody>
          <a:bodyPr>
            <a:normAutofit/>
          </a:bodyPr>
          <a:lstStyle/>
          <a:p>
            <a:r>
              <a:rPr lang="en-US" b="1" dirty="0"/>
              <a:t>Weather impact (Temp)</a:t>
            </a:r>
            <a:r>
              <a:rPr lang="en-US" dirty="0"/>
              <a:t>: </a:t>
            </a:r>
          </a:p>
          <a:p>
            <a:pPr lvl="1"/>
            <a:r>
              <a:rPr lang="en-US" dirty="0"/>
              <a:t>As temperature increases into summer, so does the number of bike rentals, with relatively high correlation of 0.4. </a:t>
            </a:r>
          </a:p>
          <a:p>
            <a:pPr lvl="1"/>
            <a:endParaRPr lang="en-US" dirty="0"/>
          </a:p>
          <a:p>
            <a:pPr lvl="1"/>
            <a:endParaRPr lang="en-US" dirty="0"/>
          </a:p>
          <a:p>
            <a:pPr lvl="1"/>
            <a:r>
              <a:rPr lang="en-US" dirty="0"/>
              <a:t>Amongst all the weather factors, temperature proves to have the strongest affect on our target variable, count. </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14</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 name="Picture 6">
            <a:extLst>
              <a:ext uri="{FF2B5EF4-FFF2-40B4-BE49-F238E27FC236}">
                <a16:creationId xmlns:a16="http://schemas.microsoft.com/office/drawing/2014/main" id="{47BD6759-8472-2DA5-39A9-0B90D132B2E8}"/>
              </a:ext>
            </a:extLst>
          </p:cNvPr>
          <p:cNvPicPr>
            <a:picLocks noChangeAspect="1"/>
          </p:cNvPicPr>
          <p:nvPr/>
        </p:nvPicPr>
        <p:blipFill>
          <a:blip r:embed="rId2"/>
          <a:stretch>
            <a:fillRect/>
          </a:stretch>
        </p:blipFill>
        <p:spPr>
          <a:xfrm>
            <a:off x="7293866" y="3607212"/>
            <a:ext cx="4183760" cy="2479263"/>
          </a:xfrm>
          <a:prstGeom prst="rect">
            <a:avLst/>
          </a:prstGeom>
          <a:ln>
            <a:solidFill>
              <a:schemeClr val="tx1"/>
            </a:solidFill>
          </a:ln>
        </p:spPr>
      </p:pic>
      <p:pic>
        <p:nvPicPr>
          <p:cNvPr id="9" name="Picture 8">
            <a:extLst>
              <a:ext uri="{FF2B5EF4-FFF2-40B4-BE49-F238E27FC236}">
                <a16:creationId xmlns:a16="http://schemas.microsoft.com/office/drawing/2014/main" id="{DCB652C6-EF1A-B62A-B33E-52BC3C56A6F0}"/>
              </a:ext>
            </a:extLst>
          </p:cNvPr>
          <p:cNvPicPr>
            <a:picLocks noChangeAspect="1"/>
          </p:cNvPicPr>
          <p:nvPr/>
        </p:nvPicPr>
        <p:blipFill>
          <a:blip r:embed="rId3"/>
          <a:stretch>
            <a:fillRect/>
          </a:stretch>
        </p:blipFill>
        <p:spPr>
          <a:xfrm>
            <a:off x="7293866" y="771524"/>
            <a:ext cx="4183760" cy="2835687"/>
          </a:xfrm>
          <a:prstGeom prst="rect">
            <a:avLst/>
          </a:prstGeom>
          <a:ln>
            <a:solidFill>
              <a:schemeClr val="tx1"/>
            </a:solidFill>
          </a:ln>
        </p:spPr>
      </p:pic>
    </p:spTree>
    <p:extLst>
      <p:ext uri="{BB962C8B-B14F-4D97-AF65-F5344CB8AC3E}">
        <p14:creationId xmlns:p14="http://schemas.microsoft.com/office/powerpoint/2010/main" val="3780715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295399" y="2173604"/>
            <a:ext cx="5864595" cy="3912871"/>
          </a:xfrm>
        </p:spPr>
        <p:txBody>
          <a:bodyPr>
            <a:normAutofit/>
          </a:bodyPr>
          <a:lstStyle/>
          <a:p>
            <a:r>
              <a:rPr lang="en-US" b="1" dirty="0"/>
              <a:t>Day of the week</a:t>
            </a:r>
            <a:r>
              <a:rPr lang="en-US" dirty="0"/>
              <a:t>: </a:t>
            </a:r>
          </a:p>
          <a:p>
            <a:pPr lvl="1"/>
            <a:r>
              <a:rPr lang="en-US" dirty="0"/>
              <a:t>Most of the working days show high number of bike rental. With surprisingly least number of rentals on Sunday </a:t>
            </a:r>
          </a:p>
          <a:p>
            <a:pPr lvl="1"/>
            <a:endParaRPr lang="en-US" dirty="0"/>
          </a:p>
          <a:p>
            <a:pPr lvl="1"/>
            <a:endParaRPr lang="en-US" dirty="0"/>
          </a:p>
          <a:p>
            <a:pPr lvl="1"/>
            <a:r>
              <a:rPr lang="en-US" dirty="0"/>
              <a:t>With correlation relatively very low as 0.03, it can be said day of the week does not have much affect on the bike rental business. </a:t>
            </a:r>
          </a:p>
          <a:p>
            <a:pPr lvl="1"/>
            <a:endParaRPr lang="en-US" dirty="0"/>
          </a:p>
          <a:p>
            <a:pPr lvl="1"/>
            <a:r>
              <a:rPr lang="en-US" dirty="0"/>
              <a:t>Now we check the correlation between rental number and the Holiday class.</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15</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 name="Picture 6">
            <a:extLst>
              <a:ext uri="{FF2B5EF4-FFF2-40B4-BE49-F238E27FC236}">
                <a16:creationId xmlns:a16="http://schemas.microsoft.com/office/drawing/2014/main" id="{D81DD17E-0600-1C8D-73D5-4FF8DD93CD8D}"/>
              </a:ext>
            </a:extLst>
          </p:cNvPr>
          <p:cNvPicPr>
            <a:picLocks noChangeAspect="1"/>
          </p:cNvPicPr>
          <p:nvPr/>
        </p:nvPicPr>
        <p:blipFill>
          <a:blip r:embed="rId2"/>
          <a:stretch>
            <a:fillRect/>
          </a:stretch>
        </p:blipFill>
        <p:spPr>
          <a:xfrm>
            <a:off x="7293867" y="3607212"/>
            <a:ext cx="4183760" cy="2479263"/>
          </a:xfrm>
          <a:prstGeom prst="rect">
            <a:avLst/>
          </a:prstGeom>
          <a:ln>
            <a:solidFill>
              <a:schemeClr val="tx1"/>
            </a:solidFill>
          </a:ln>
        </p:spPr>
      </p:pic>
      <p:pic>
        <p:nvPicPr>
          <p:cNvPr id="9" name="Picture 8">
            <a:extLst>
              <a:ext uri="{FF2B5EF4-FFF2-40B4-BE49-F238E27FC236}">
                <a16:creationId xmlns:a16="http://schemas.microsoft.com/office/drawing/2014/main" id="{DC824385-CB5D-A2D6-9C33-3F03EA42C5A3}"/>
              </a:ext>
            </a:extLst>
          </p:cNvPr>
          <p:cNvPicPr>
            <a:picLocks noChangeAspect="1"/>
          </p:cNvPicPr>
          <p:nvPr/>
        </p:nvPicPr>
        <p:blipFill>
          <a:blip r:embed="rId3"/>
          <a:stretch>
            <a:fillRect/>
          </a:stretch>
        </p:blipFill>
        <p:spPr>
          <a:xfrm>
            <a:off x="7293865" y="771525"/>
            <a:ext cx="4183761" cy="2835688"/>
          </a:xfrm>
          <a:prstGeom prst="rect">
            <a:avLst/>
          </a:prstGeom>
          <a:ln>
            <a:solidFill>
              <a:schemeClr val="tx1"/>
            </a:solidFill>
          </a:ln>
        </p:spPr>
      </p:pic>
    </p:spTree>
    <p:extLst>
      <p:ext uri="{BB962C8B-B14F-4D97-AF65-F5344CB8AC3E}">
        <p14:creationId xmlns:p14="http://schemas.microsoft.com/office/powerpoint/2010/main" val="2182907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295399" y="2173604"/>
            <a:ext cx="5864595" cy="3912871"/>
          </a:xfrm>
        </p:spPr>
        <p:txBody>
          <a:bodyPr>
            <a:normAutofit/>
          </a:bodyPr>
          <a:lstStyle/>
          <a:p>
            <a:r>
              <a:rPr lang="en-US" b="1" dirty="0"/>
              <a:t>Holidays</a:t>
            </a:r>
            <a:r>
              <a:rPr lang="en-US" dirty="0"/>
              <a:t>: </a:t>
            </a:r>
          </a:p>
          <a:p>
            <a:pPr lvl="1"/>
            <a:r>
              <a:rPr lang="en-US" dirty="0"/>
              <a:t>With average number of bike rental higher on Non-Holidays, with negative correlation as low as -0.03, not much can be inferred. </a:t>
            </a:r>
          </a:p>
          <a:p>
            <a:pPr lvl="1"/>
            <a:endParaRPr lang="en-US" dirty="0"/>
          </a:p>
          <a:p>
            <a:pPr lvl="1"/>
            <a:endParaRPr lang="en-US" dirty="0"/>
          </a:p>
          <a:p>
            <a:pPr lvl="1"/>
            <a:r>
              <a:rPr lang="en-US" dirty="0"/>
              <a:t>Contrary, seeing the trend between ‘day of the week’ and ‘holiday’ in the report, it can be naively inferred that people tend to use the bike rental service to commute on non-holidays/working days.</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16</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13" name="Picture 12">
            <a:extLst>
              <a:ext uri="{FF2B5EF4-FFF2-40B4-BE49-F238E27FC236}">
                <a16:creationId xmlns:a16="http://schemas.microsoft.com/office/drawing/2014/main" id="{3A887AF2-9274-7C36-3D18-46D99F959B86}"/>
              </a:ext>
            </a:extLst>
          </p:cNvPr>
          <p:cNvPicPr>
            <a:picLocks noChangeAspect="1"/>
          </p:cNvPicPr>
          <p:nvPr/>
        </p:nvPicPr>
        <p:blipFill>
          <a:blip r:embed="rId2"/>
          <a:stretch>
            <a:fillRect/>
          </a:stretch>
        </p:blipFill>
        <p:spPr>
          <a:xfrm>
            <a:off x="7293863" y="3607213"/>
            <a:ext cx="4183761" cy="2479262"/>
          </a:xfrm>
          <a:prstGeom prst="rect">
            <a:avLst/>
          </a:prstGeom>
          <a:ln>
            <a:solidFill>
              <a:schemeClr val="tx1"/>
            </a:solidFill>
          </a:ln>
        </p:spPr>
      </p:pic>
      <p:pic>
        <p:nvPicPr>
          <p:cNvPr id="16" name="Picture 15">
            <a:extLst>
              <a:ext uri="{FF2B5EF4-FFF2-40B4-BE49-F238E27FC236}">
                <a16:creationId xmlns:a16="http://schemas.microsoft.com/office/drawing/2014/main" id="{1C5D4D1E-2ED6-0092-507C-E78A471AA9BA}"/>
              </a:ext>
            </a:extLst>
          </p:cNvPr>
          <p:cNvPicPr>
            <a:picLocks noChangeAspect="1"/>
          </p:cNvPicPr>
          <p:nvPr/>
        </p:nvPicPr>
        <p:blipFill>
          <a:blip r:embed="rId3"/>
          <a:stretch>
            <a:fillRect/>
          </a:stretch>
        </p:blipFill>
        <p:spPr>
          <a:xfrm>
            <a:off x="7293862" y="771525"/>
            <a:ext cx="4183762" cy="2835688"/>
          </a:xfrm>
          <a:prstGeom prst="rect">
            <a:avLst/>
          </a:prstGeom>
          <a:ln>
            <a:solidFill>
              <a:schemeClr val="tx1"/>
            </a:solidFill>
          </a:ln>
        </p:spPr>
      </p:pic>
    </p:spTree>
    <p:extLst>
      <p:ext uri="{BB962C8B-B14F-4D97-AF65-F5344CB8AC3E}">
        <p14:creationId xmlns:p14="http://schemas.microsoft.com/office/powerpoint/2010/main" val="2059799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295399" y="2173604"/>
            <a:ext cx="5864595" cy="3912871"/>
          </a:xfrm>
          <a:ln>
            <a:solidFill>
              <a:schemeClr val="bg1"/>
            </a:solidFill>
          </a:ln>
        </p:spPr>
        <p:txBody>
          <a:bodyPr>
            <a:normAutofit lnSpcReduction="10000"/>
          </a:bodyPr>
          <a:lstStyle/>
          <a:p>
            <a:r>
              <a:rPr lang="en-US" b="1" dirty="0"/>
              <a:t>User type</a:t>
            </a:r>
            <a:r>
              <a:rPr lang="en-US" dirty="0"/>
              <a:t>: </a:t>
            </a:r>
          </a:p>
          <a:p>
            <a:pPr lvl="1"/>
            <a:r>
              <a:rPr lang="en-US" dirty="0"/>
              <a:t>User type is divided into ‘Casual’ and ‘Registered’ showing correlation 0.69 and 0.97 respectively. </a:t>
            </a:r>
          </a:p>
          <a:p>
            <a:pPr lvl="1"/>
            <a:endParaRPr lang="en-US" dirty="0"/>
          </a:p>
          <a:p>
            <a:pPr lvl="1"/>
            <a:r>
              <a:rPr lang="en-US" dirty="0"/>
              <a:t>It can also be seen in the plot, the number of registered users significantly surpasses the number of casual users.</a:t>
            </a:r>
          </a:p>
          <a:p>
            <a:pPr lvl="1"/>
            <a:endParaRPr lang="en-US" dirty="0"/>
          </a:p>
          <a:p>
            <a:pPr lvl="1"/>
            <a:r>
              <a:rPr lang="en-US" dirty="0"/>
              <a:t>Hence with high correlation of 0.97, it can be concluded that the bike rental business is highly dependent on the number of registered users.</a:t>
            </a:r>
          </a:p>
          <a:p>
            <a:pPr lvl="1"/>
            <a:endParaRPr lang="en-US" dirty="0"/>
          </a:p>
          <a:p>
            <a:pPr lvl="1"/>
            <a:r>
              <a:rPr lang="en-US" dirty="0"/>
              <a:t>Hence as the business manager, we should focus on getting more people registered on our platform.</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17</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 name="Picture 6">
            <a:extLst>
              <a:ext uri="{FF2B5EF4-FFF2-40B4-BE49-F238E27FC236}">
                <a16:creationId xmlns:a16="http://schemas.microsoft.com/office/drawing/2014/main" id="{829193BC-B25F-624F-ED36-F186E0C1EB50}"/>
              </a:ext>
            </a:extLst>
          </p:cNvPr>
          <p:cNvPicPr>
            <a:picLocks noChangeAspect="1"/>
          </p:cNvPicPr>
          <p:nvPr/>
        </p:nvPicPr>
        <p:blipFill>
          <a:blip r:embed="rId2"/>
          <a:stretch>
            <a:fillRect/>
          </a:stretch>
        </p:blipFill>
        <p:spPr>
          <a:xfrm>
            <a:off x="7159994" y="3607213"/>
            <a:ext cx="4317630" cy="2479262"/>
          </a:xfrm>
          <a:prstGeom prst="rect">
            <a:avLst/>
          </a:prstGeom>
          <a:ln>
            <a:solidFill>
              <a:schemeClr val="tx1"/>
            </a:solidFill>
          </a:ln>
        </p:spPr>
      </p:pic>
      <p:pic>
        <p:nvPicPr>
          <p:cNvPr id="9" name="Picture 8">
            <a:extLst>
              <a:ext uri="{FF2B5EF4-FFF2-40B4-BE49-F238E27FC236}">
                <a16:creationId xmlns:a16="http://schemas.microsoft.com/office/drawing/2014/main" id="{49EB2B52-45F5-5DCE-4089-5C5387A89361}"/>
              </a:ext>
            </a:extLst>
          </p:cNvPr>
          <p:cNvPicPr>
            <a:picLocks noChangeAspect="1"/>
          </p:cNvPicPr>
          <p:nvPr/>
        </p:nvPicPr>
        <p:blipFill>
          <a:blip r:embed="rId3"/>
          <a:stretch>
            <a:fillRect/>
          </a:stretch>
        </p:blipFill>
        <p:spPr>
          <a:xfrm>
            <a:off x="9401175" y="771526"/>
            <a:ext cx="2076448" cy="2835688"/>
          </a:xfrm>
          <a:prstGeom prst="rect">
            <a:avLst/>
          </a:prstGeom>
          <a:ln>
            <a:solidFill>
              <a:schemeClr val="tx1"/>
            </a:solidFill>
          </a:ln>
        </p:spPr>
      </p:pic>
      <p:pic>
        <p:nvPicPr>
          <p:cNvPr id="11" name="Picture 10">
            <a:extLst>
              <a:ext uri="{FF2B5EF4-FFF2-40B4-BE49-F238E27FC236}">
                <a16:creationId xmlns:a16="http://schemas.microsoft.com/office/drawing/2014/main" id="{37D022B7-02D1-24C5-5918-AB13D2CC9382}"/>
              </a:ext>
            </a:extLst>
          </p:cNvPr>
          <p:cNvPicPr>
            <a:picLocks noChangeAspect="1"/>
          </p:cNvPicPr>
          <p:nvPr/>
        </p:nvPicPr>
        <p:blipFill>
          <a:blip r:embed="rId4"/>
          <a:stretch>
            <a:fillRect/>
          </a:stretch>
        </p:blipFill>
        <p:spPr>
          <a:xfrm>
            <a:off x="7159993" y="771525"/>
            <a:ext cx="2241181" cy="2835688"/>
          </a:xfrm>
          <a:prstGeom prst="rect">
            <a:avLst/>
          </a:prstGeom>
          <a:ln>
            <a:solidFill>
              <a:schemeClr val="tx1"/>
            </a:solidFill>
          </a:ln>
        </p:spPr>
      </p:pic>
    </p:spTree>
    <p:extLst>
      <p:ext uri="{BB962C8B-B14F-4D97-AF65-F5344CB8AC3E}">
        <p14:creationId xmlns:p14="http://schemas.microsoft.com/office/powerpoint/2010/main" val="514623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18</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sp>
        <p:nvSpPr>
          <p:cNvPr id="12" name="Title 11">
            <a:extLst>
              <a:ext uri="{FF2B5EF4-FFF2-40B4-BE49-F238E27FC236}">
                <a16:creationId xmlns:a16="http://schemas.microsoft.com/office/drawing/2014/main" id="{752673BF-F165-E815-5D2C-189751CA1F9A}"/>
              </a:ext>
            </a:extLst>
          </p:cNvPr>
          <p:cNvSpPr>
            <a:spLocks noGrp="1"/>
          </p:cNvSpPr>
          <p:nvPr>
            <p:ph type="title"/>
          </p:nvPr>
        </p:nvSpPr>
        <p:spPr/>
        <p:txBody>
          <a:bodyPr/>
          <a:lstStyle/>
          <a:p>
            <a:r>
              <a:rPr lang="en-US" sz="3700" dirty="0"/>
              <a:t>EDA</a:t>
            </a:r>
            <a:endParaRPr lang="en-IN" sz="3700" dirty="0"/>
          </a:p>
        </p:txBody>
      </p:sp>
      <p:pic>
        <p:nvPicPr>
          <p:cNvPr id="14" name="Picture 13">
            <a:extLst>
              <a:ext uri="{FF2B5EF4-FFF2-40B4-BE49-F238E27FC236}">
                <a16:creationId xmlns:a16="http://schemas.microsoft.com/office/drawing/2014/main" id="{24397CA2-024E-CC6E-546A-F4CE68E2DFB1}"/>
              </a:ext>
            </a:extLst>
          </p:cNvPr>
          <p:cNvPicPr>
            <a:picLocks noChangeAspect="1"/>
          </p:cNvPicPr>
          <p:nvPr/>
        </p:nvPicPr>
        <p:blipFill>
          <a:blip r:embed="rId2"/>
          <a:stretch>
            <a:fillRect/>
          </a:stretch>
        </p:blipFill>
        <p:spPr>
          <a:xfrm>
            <a:off x="5362575" y="654048"/>
            <a:ext cx="6551155" cy="5504688"/>
          </a:xfrm>
          <a:prstGeom prst="rect">
            <a:avLst/>
          </a:prstGeom>
          <a:ln>
            <a:solidFill>
              <a:schemeClr val="bg1"/>
            </a:solidFill>
          </a:ln>
        </p:spPr>
      </p:pic>
      <p:sp>
        <p:nvSpPr>
          <p:cNvPr id="15" name="Content Placeholder 2">
            <a:extLst>
              <a:ext uri="{FF2B5EF4-FFF2-40B4-BE49-F238E27FC236}">
                <a16:creationId xmlns:a16="http://schemas.microsoft.com/office/drawing/2014/main" id="{7FE69AF8-322B-2A8C-9FCB-16A0A5C86121}"/>
              </a:ext>
            </a:extLst>
          </p:cNvPr>
          <p:cNvSpPr>
            <a:spLocks noGrp="1"/>
          </p:cNvSpPr>
          <p:nvPr>
            <p:ph idx="1"/>
          </p:nvPr>
        </p:nvSpPr>
        <p:spPr>
          <a:xfrm>
            <a:off x="1295399" y="2173604"/>
            <a:ext cx="3790951" cy="3912871"/>
          </a:xfrm>
          <a:ln>
            <a:solidFill>
              <a:schemeClr val="bg1"/>
            </a:solidFill>
          </a:ln>
        </p:spPr>
        <p:txBody>
          <a:bodyPr>
            <a:normAutofit/>
          </a:bodyPr>
          <a:lstStyle/>
          <a:p>
            <a:pPr lvl="1"/>
            <a:r>
              <a:rPr lang="en-US" dirty="0"/>
              <a:t>As seen in the correlation matrix,</a:t>
            </a:r>
          </a:p>
          <a:p>
            <a:pPr lvl="2"/>
            <a:r>
              <a:rPr lang="en-US" dirty="0"/>
              <a:t>Month and Season are strongly correlated with correlation = 0.83</a:t>
            </a:r>
          </a:p>
          <a:p>
            <a:pPr lvl="2"/>
            <a:r>
              <a:rPr lang="en-US" dirty="0"/>
              <a:t>It can also be inferred temperature and absolute temperature show high correlation.</a:t>
            </a:r>
          </a:p>
          <a:p>
            <a:pPr lvl="2"/>
            <a:r>
              <a:rPr lang="en-US" dirty="0"/>
              <a:t>As discussed previously user type also has a high correlation with the number of bikes rented.</a:t>
            </a:r>
          </a:p>
          <a:p>
            <a:pPr lvl="2"/>
            <a:r>
              <a:rPr lang="en-US" dirty="0"/>
              <a:t>No significant negative correlation seen in the matrix.</a:t>
            </a:r>
          </a:p>
        </p:txBody>
      </p:sp>
    </p:spTree>
    <p:extLst>
      <p:ext uri="{BB962C8B-B14F-4D97-AF65-F5344CB8AC3E}">
        <p14:creationId xmlns:p14="http://schemas.microsoft.com/office/powerpoint/2010/main" val="1861565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White DNA structure">
            <a:extLst>
              <a:ext uri="{FF2B5EF4-FFF2-40B4-BE49-F238E27FC236}">
                <a16:creationId xmlns:a16="http://schemas.microsoft.com/office/drawing/2014/main" id="{7F21F877-E428-8BB2-045F-D9FA57744C27}"/>
              </a:ext>
            </a:extLst>
          </p:cNvPr>
          <p:cNvPicPr>
            <a:picLocks noGrp="1" noChangeAspect="1"/>
          </p:cNvPicPr>
          <p:nvPr>
            <p:ph type="pic" sz="quarter" idx="10"/>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p:blipFill>
        <p:spPr/>
      </p:pic>
      <p:sp>
        <p:nvSpPr>
          <p:cNvPr id="3" name="Title 2">
            <a:extLst>
              <a:ext uri="{FF2B5EF4-FFF2-40B4-BE49-F238E27FC236}">
                <a16:creationId xmlns:a16="http://schemas.microsoft.com/office/drawing/2014/main" id="{03924A06-2533-68FE-6815-A6208AD97D3D}"/>
              </a:ext>
            </a:extLst>
          </p:cNvPr>
          <p:cNvSpPr>
            <a:spLocks noGrp="1"/>
          </p:cNvSpPr>
          <p:nvPr>
            <p:ph type="title"/>
          </p:nvPr>
        </p:nvSpPr>
        <p:spPr/>
        <p:txBody>
          <a:bodyPr/>
          <a:lstStyle/>
          <a:p>
            <a:r>
              <a:rPr lang="en-US" dirty="0"/>
              <a:t>Descriptive analysis</a:t>
            </a:r>
          </a:p>
        </p:txBody>
      </p:sp>
    </p:spTree>
    <p:extLst>
      <p:ext uri="{BB962C8B-B14F-4D97-AF65-F5344CB8AC3E}">
        <p14:creationId xmlns:p14="http://schemas.microsoft.com/office/powerpoint/2010/main" val="2924417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188720" y="609600"/>
            <a:ext cx="9829800" cy="914400"/>
          </a:xfrm>
        </p:spPr>
        <p:txBody>
          <a:bodyPr anchor="ctr">
            <a:normAutofit/>
          </a:bodyPr>
          <a:lstStyle/>
          <a:p>
            <a:r>
              <a:rPr lang="en-US" dirty="0"/>
              <a:t>A</a:t>
            </a:r>
            <a:r>
              <a:rPr lang="en-IN" dirty="0" err="1"/>
              <a:t>nalysis</a:t>
            </a:r>
            <a:r>
              <a:rPr lang="en-IN" dirty="0"/>
              <a:t> of variance</a:t>
            </a:r>
          </a:p>
        </p:txBody>
      </p:sp>
      <p:sp>
        <p:nvSpPr>
          <p:cNvPr id="8" name="Rectangle 2">
            <a:extLst>
              <a:ext uri="{FF2B5EF4-FFF2-40B4-BE49-F238E27FC236}">
                <a16:creationId xmlns:a16="http://schemas.microsoft.com/office/drawing/2014/main" id="{4A9D31D5-38A0-A27A-AB55-0FAE74967C9C}"/>
              </a:ext>
            </a:extLst>
          </p:cNvPr>
          <p:cNvSpPr>
            <a:spLocks noGrp="1" noChangeArrowheads="1"/>
          </p:cNvSpPr>
          <p:nvPr>
            <p:ph idx="1"/>
          </p:nvPr>
        </p:nvSpPr>
        <p:spPr bwMode="auto">
          <a:xfrm>
            <a:off x="1188720" y="1746504"/>
            <a:ext cx="4819650" cy="435254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85000" lnSpcReduction="10000"/>
          </a:bodyPr>
          <a:lstStyle/>
          <a:p>
            <a:pPr marL="0" marR="0" lvl="0" indent="0" defTabSz="914400" rtl="0" eaLnBrk="0" fontAlgn="base" latinLnBrk="0" hangingPunct="0">
              <a:spcBef>
                <a:spcPct val="0"/>
              </a:spcBef>
              <a:spcAft>
                <a:spcPts val="600"/>
              </a:spcAft>
              <a:buClrTx/>
              <a:buSzTx/>
              <a:buFontTx/>
              <a:buNone/>
              <a:tabLst/>
            </a:pPr>
            <a:r>
              <a:rPr kumimoji="0" lang="en-US" altLang="en-US" sz="1900" b="0" i="1" u="none" strike="noStrike" cap="none" normalizeH="0" baseline="0" dirty="0">
                <a:ln>
                  <a:noFill/>
                </a:ln>
                <a:effectLst/>
              </a:rPr>
              <a:t>Tool used: python</a:t>
            </a:r>
          </a:p>
          <a:p>
            <a:pPr marL="0" marR="0" lvl="0" indent="0" defTabSz="914400" rtl="0" eaLnBrk="0" fontAlgn="base" latinLnBrk="0" hangingPunct="0">
              <a:spcBef>
                <a:spcPct val="0"/>
              </a:spcBef>
              <a:spcAft>
                <a:spcPts val="600"/>
              </a:spcAft>
              <a:buClrTx/>
              <a:buSzTx/>
              <a:buFontTx/>
              <a:buNone/>
              <a:tabLst/>
            </a:pPr>
            <a:r>
              <a:rPr lang="en-US" altLang="en-US" sz="1900" i="1" dirty="0"/>
              <a:t>F-test, Confidence level: 0.95</a:t>
            </a:r>
          </a:p>
          <a:p>
            <a:pPr marL="0" marR="0" lvl="0" indent="0" defTabSz="914400" rtl="0" eaLnBrk="0" fontAlgn="base" latinLnBrk="0" hangingPunct="0">
              <a:spcBef>
                <a:spcPct val="0"/>
              </a:spcBef>
              <a:spcAft>
                <a:spcPts val="600"/>
              </a:spcAft>
              <a:buClrTx/>
              <a:buSzTx/>
              <a:buFontTx/>
              <a:buNone/>
              <a:tabLst/>
            </a:pPr>
            <a:r>
              <a:rPr lang="en-US" altLang="en-US" sz="1900" i="1" dirty="0"/>
              <a:t>Target variable: Count</a:t>
            </a:r>
          </a:p>
          <a:p>
            <a:pPr marL="0" marR="0" lvl="0" indent="0" defTabSz="914400" rtl="0" eaLnBrk="0" fontAlgn="base" latinLnBrk="0" hangingPunct="0">
              <a:spcBef>
                <a:spcPct val="0"/>
              </a:spcBef>
              <a:spcAft>
                <a:spcPts val="600"/>
              </a:spcAft>
              <a:buClrTx/>
              <a:buSzTx/>
              <a:buFontTx/>
              <a:buNone/>
              <a:tabLst/>
            </a:pPr>
            <a:endParaRPr kumimoji="0" lang="en-US" altLang="en-US" sz="1900" b="0" i="1"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US" altLang="en-US" sz="1900" b="0" i="0" u="none" strike="noStrike" cap="none" normalizeH="0" baseline="0" dirty="0">
                <a:ln>
                  <a:noFill/>
                </a:ln>
                <a:effectLst/>
              </a:rPr>
              <a:t>By using ANOVA, we can find out if there are any significant differences in rental counts between these groups. It helps us identify which factors have a real impact on rental numbers, rather than just random variation.</a:t>
            </a:r>
          </a:p>
          <a:p>
            <a:pPr marL="0" marR="0" lvl="0" indent="0" defTabSz="914400" rtl="0" eaLnBrk="0" fontAlgn="base" latinLnBrk="0" hangingPunct="0">
              <a:spcBef>
                <a:spcPct val="0"/>
              </a:spcBef>
              <a:spcAft>
                <a:spcPts val="600"/>
              </a:spcAft>
              <a:buClrTx/>
              <a:buSzTx/>
              <a:buFontTx/>
              <a:buNone/>
              <a:tabLst/>
            </a:pPr>
            <a:endParaRPr lang="en-US" altLang="en-US" sz="1900" cap="none" dirty="0"/>
          </a:p>
          <a:p>
            <a:pPr marL="0" marR="0" lvl="0" indent="0" defTabSz="914400" rtl="0" eaLnBrk="0" fontAlgn="base" latinLnBrk="0" hangingPunct="0">
              <a:spcBef>
                <a:spcPct val="0"/>
              </a:spcBef>
              <a:spcAft>
                <a:spcPts val="600"/>
              </a:spcAft>
              <a:buClrTx/>
              <a:buSzTx/>
              <a:buFontTx/>
              <a:buNone/>
              <a:tabLst/>
            </a:pPr>
            <a:r>
              <a:rPr kumimoji="0" lang="en-US" altLang="en-US" sz="1900" b="0" i="0" u="none" strike="noStrike" cap="none" normalizeH="0" baseline="0" dirty="0">
                <a:ln>
                  <a:noFill/>
                </a:ln>
                <a:effectLst/>
              </a:rPr>
              <a:t>Another benefit of ANOVA is that it helps us control for errors that could happen by chance. Instead of testing each group separately, ANOVA evaluates them all together, making our analysis more efficient and reliable.</a:t>
            </a:r>
            <a:endParaRPr lang="en-US" altLang="en-US" sz="1900" cap="none" dirty="0"/>
          </a:p>
          <a:p>
            <a:pPr marL="0" marR="0" lvl="0" indent="0" defTabSz="914400" rtl="0" eaLnBrk="0" fontAlgn="base" latinLnBrk="0" hangingPunct="0">
              <a:spcBef>
                <a:spcPct val="0"/>
              </a:spcBef>
              <a:spcAft>
                <a:spcPts val="600"/>
              </a:spcAft>
              <a:buClrTx/>
              <a:buSzTx/>
              <a:buFontTx/>
              <a:buNone/>
              <a:tabLst/>
            </a:pPr>
            <a:endParaRPr kumimoji="0" lang="en-US" altLang="en-US" sz="19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US" altLang="en-US" sz="1900" b="0" i="0" u="none" strike="noStrike" cap="none" normalizeH="0" baseline="0" dirty="0">
                <a:ln>
                  <a:noFill/>
                </a:ln>
                <a:effectLst/>
              </a:rPr>
              <a:t>ANOVA helped us understand what factors influence bike rental numbers and how they interact with each other.</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20</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12" name="Picture 11">
            <a:extLst>
              <a:ext uri="{FF2B5EF4-FFF2-40B4-BE49-F238E27FC236}">
                <a16:creationId xmlns:a16="http://schemas.microsoft.com/office/drawing/2014/main" id="{159080DD-DB30-2D97-1C07-5C0E99EB7894}"/>
              </a:ext>
            </a:extLst>
          </p:cNvPr>
          <p:cNvPicPr>
            <a:picLocks noChangeAspect="1"/>
          </p:cNvPicPr>
          <p:nvPr/>
        </p:nvPicPr>
        <p:blipFill rotWithShape="1">
          <a:blip r:embed="rId2"/>
          <a:srcRect l="36375" r="7705" b="-1"/>
          <a:stretch/>
        </p:blipFill>
        <p:spPr>
          <a:xfrm>
            <a:off x="6951726" y="1759332"/>
            <a:ext cx="4819650" cy="4352544"/>
          </a:xfrm>
          <a:prstGeom prst="rect">
            <a:avLst/>
          </a:prstGeom>
          <a:noFill/>
        </p:spPr>
      </p:pic>
    </p:spTree>
    <p:extLst>
      <p:ext uri="{BB962C8B-B14F-4D97-AF65-F5344CB8AC3E}">
        <p14:creationId xmlns:p14="http://schemas.microsoft.com/office/powerpoint/2010/main" val="2716541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US" sz="3700" dirty="0"/>
              <a:t>A</a:t>
            </a:r>
            <a:r>
              <a:rPr lang="en-IN" sz="3700" dirty="0"/>
              <a:t>nova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952499" y="2106930"/>
            <a:ext cx="5864595" cy="3912871"/>
          </a:xfrm>
          <a:ln>
            <a:solidFill>
              <a:schemeClr val="bg1"/>
            </a:solidFill>
          </a:ln>
        </p:spPr>
        <p:txBody>
          <a:bodyPr>
            <a:normAutofit fontScale="77500" lnSpcReduction="20000"/>
          </a:bodyPr>
          <a:lstStyle/>
          <a:p>
            <a:r>
              <a:rPr lang="en-US" b="1" dirty="0" err="1"/>
              <a:t>Anova</a:t>
            </a:r>
            <a:r>
              <a:rPr lang="en-US" b="1" dirty="0"/>
              <a:t> for season</a:t>
            </a:r>
            <a:r>
              <a:rPr lang="en-US" dirty="0"/>
              <a:t>: </a:t>
            </a:r>
          </a:p>
          <a:p>
            <a:pPr lvl="1"/>
            <a:r>
              <a:rPr lang="en-US" dirty="0"/>
              <a:t>With an F-statistic of approximately 409.18, this indicates a large amount of variability exists between the mean rental counts of different seasons compared to the variability within each season. This suggests that the seasons have a significant effect on bike rental counts.</a:t>
            </a:r>
          </a:p>
          <a:p>
            <a:pPr marL="0" lvl="1" indent="0">
              <a:buNone/>
            </a:pPr>
            <a:endParaRPr lang="en-US" dirty="0"/>
          </a:p>
          <a:p>
            <a:pPr lvl="1"/>
            <a:r>
              <a:rPr lang="en-US" dirty="0"/>
              <a:t>The p-value associated with the F-statistic is approximately 7.40e-257, an extremely small value. This tiny p-value indicates strong evidence against the null hypothesis, which posits that there are no significant differences in rental counts across seasons. Therefore, we reject the null hypothesis in favor of the alternative, concluding that there are indeed significant differences in rental counts across seasons.</a:t>
            </a:r>
          </a:p>
          <a:p>
            <a:pPr lvl="1"/>
            <a:endParaRPr lang="en-US" dirty="0"/>
          </a:p>
          <a:p>
            <a:pPr lvl="1"/>
            <a:r>
              <a:rPr lang="en-US" dirty="0"/>
              <a:t>The ANOVA results confirm that seasonality significantly impacts bike rental counts, highlighting the importance of considering seasonal variations in planning and decision-making for bike rental businesses.</a:t>
            </a:r>
          </a:p>
          <a:p>
            <a:pPr lvl="1"/>
            <a:endParaRPr lang="en-US" dirty="0"/>
          </a:p>
          <a:p>
            <a:pPr lvl="1"/>
            <a:r>
              <a:rPr lang="en-US" sz="1200" b="1" i="1" dirty="0">
                <a:latin typeface="Times New Roman" panose="02020603050405020304" pitchFamily="18" charset="0"/>
                <a:cs typeface="Times New Roman" panose="02020603050405020304" pitchFamily="18" charset="0"/>
              </a:rPr>
              <a:t>ANOVA for season:	</a:t>
            </a:r>
            <a:r>
              <a:rPr lang="en-US" sz="1000" b="1" i="1" dirty="0">
                <a:latin typeface="Times New Roman" panose="02020603050405020304" pitchFamily="18" charset="0"/>
                <a:cs typeface="Times New Roman" panose="02020603050405020304" pitchFamily="18" charset="0"/>
              </a:rPr>
              <a:t>F-statistic: 409.1810372630525, p-value: 7.40107139971279e-257</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21</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8" name="Picture 7">
            <a:extLst>
              <a:ext uri="{FF2B5EF4-FFF2-40B4-BE49-F238E27FC236}">
                <a16:creationId xmlns:a16="http://schemas.microsoft.com/office/drawing/2014/main" id="{1787A860-ED78-BFD5-1297-2E2C666AFC58}"/>
              </a:ext>
            </a:extLst>
          </p:cNvPr>
          <p:cNvPicPr>
            <a:picLocks noChangeAspect="1"/>
          </p:cNvPicPr>
          <p:nvPr/>
        </p:nvPicPr>
        <p:blipFill>
          <a:blip r:embed="rId2"/>
          <a:stretch>
            <a:fillRect/>
          </a:stretch>
        </p:blipFill>
        <p:spPr>
          <a:xfrm>
            <a:off x="7159994" y="771525"/>
            <a:ext cx="4341443" cy="5314950"/>
          </a:xfrm>
          <a:prstGeom prst="rect">
            <a:avLst/>
          </a:prstGeom>
          <a:ln>
            <a:solidFill>
              <a:schemeClr val="tx1"/>
            </a:solidFill>
          </a:ln>
        </p:spPr>
      </p:pic>
    </p:spTree>
    <p:extLst>
      <p:ext uri="{BB962C8B-B14F-4D97-AF65-F5344CB8AC3E}">
        <p14:creationId xmlns:p14="http://schemas.microsoft.com/office/powerpoint/2010/main" val="36672051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US" sz="3700" dirty="0"/>
              <a:t>A</a:t>
            </a:r>
            <a:r>
              <a:rPr lang="en-IN" sz="3700" dirty="0"/>
              <a:t>nova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877824" y="2106930"/>
            <a:ext cx="5864595" cy="3912871"/>
          </a:xfrm>
          <a:ln>
            <a:solidFill>
              <a:schemeClr val="bg1"/>
            </a:solidFill>
          </a:ln>
        </p:spPr>
        <p:txBody>
          <a:bodyPr>
            <a:normAutofit fontScale="85000" lnSpcReduction="20000"/>
          </a:bodyPr>
          <a:lstStyle/>
          <a:p>
            <a:r>
              <a:rPr lang="en-US" b="1" dirty="0" err="1"/>
              <a:t>anova</a:t>
            </a:r>
            <a:r>
              <a:rPr lang="en-US" b="1" dirty="0"/>
              <a:t> for holiday</a:t>
            </a:r>
            <a:r>
              <a:rPr lang="en-US" dirty="0"/>
              <a:t>: </a:t>
            </a:r>
          </a:p>
          <a:p>
            <a:pPr lvl="1"/>
            <a:r>
              <a:rPr lang="en-US" dirty="0"/>
              <a:t>The F-statistic measures the ratio of variation between group means to the variation within the groups. In this context, it suggests whether there are significant differences in bike rental counts between holidays and non-holidays. The value of 16.64 indicates that there is a moderate amount of variability between the mean rental counts of these two groups compared to the variability within each group.</a:t>
            </a:r>
          </a:p>
          <a:p>
            <a:pPr lvl="1"/>
            <a:endParaRPr lang="en-US" dirty="0"/>
          </a:p>
          <a:p>
            <a:pPr lvl="1"/>
            <a:r>
              <a:rPr lang="en-US" dirty="0"/>
              <a:t>The p-value associated with the F-statistic is approximately 4.55e-05, which is significantly smaller than the conventional significance level of 0.05. This small p-value suggests strong evidence against the null hypothesis, indicating that there are significant differences in rental counts between holidays and non-holidays.</a:t>
            </a:r>
            <a:br>
              <a:rPr lang="en-US" dirty="0"/>
            </a:br>
            <a:endParaRPr lang="en-US" dirty="0"/>
          </a:p>
          <a:p>
            <a:pPr lvl="1"/>
            <a:r>
              <a:rPr lang="en-US" dirty="0"/>
              <a:t>The ANOVA results highlight that holidays significantly influence bike rental counts, emphasizing the need for businesses to account for these variations in their operational and marketing plans.</a:t>
            </a:r>
          </a:p>
          <a:p>
            <a:pPr lvl="1"/>
            <a:endParaRPr lang="en-US" dirty="0"/>
          </a:p>
          <a:p>
            <a:pPr lvl="1"/>
            <a:r>
              <a:rPr lang="en-US" sz="1200" b="1" i="1" dirty="0">
                <a:latin typeface="Times New Roman" panose="02020603050405020304" pitchFamily="18" charset="0"/>
                <a:cs typeface="Times New Roman" panose="02020603050405020304" pitchFamily="18" charset="0"/>
              </a:rPr>
              <a:t>ANOVA for holiday:	</a:t>
            </a:r>
            <a:r>
              <a:rPr lang="en-US" sz="1000" b="1" i="1" dirty="0">
                <a:latin typeface="Times New Roman" panose="02020603050405020304" pitchFamily="18" charset="0"/>
                <a:cs typeface="Times New Roman" panose="02020603050405020304" pitchFamily="18" charset="0"/>
              </a:rPr>
              <a:t>F-statistic: 16.636980484977737, p-value: 4.546168948723332e-05</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22</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 name="Picture 6">
            <a:extLst>
              <a:ext uri="{FF2B5EF4-FFF2-40B4-BE49-F238E27FC236}">
                <a16:creationId xmlns:a16="http://schemas.microsoft.com/office/drawing/2014/main" id="{58DFB044-70C0-3C0C-FD4F-FDD1D26F4068}"/>
              </a:ext>
            </a:extLst>
          </p:cNvPr>
          <p:cNvPicPr>
            <a:picLocks noChangeAspect="1"/>
          </p:cNvPicPr>
          <p:nvPr/>
        </p:nvPicPr>
        <p:blipFill>
          <a:blip r:embed="rId2"/>
          <a:stretch>
            <a:fillRect/>
          </a:stretch>
        </p:blipFill>
        <p:spPr>
          <a:xfrm>
            <a:off x="7159994" y="771525"/>
            <a:ext cx="4379543" cy="5314950"/>
          </a:xfrm>
          <a:prstGeom prst="rect">
            <a:avLst/>
          </a:prstGeom>
          <a:ln>
            <a:solidFill>
              <a:schemeClr val="tx1"/>
            </a:solidFill>
          </a:ln>
        </p:spPr>
      </p:pic>
    </p:spTree>
    <p:extLst>
      <p:ext uri="{BB962C8B-B14F-4D97-AF65-F5344CB8AC3E}">
        <p14:creationId xmlns:p14="http://schemas.microsoft.com/office/powerpoint/2010/main" val="3358288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US" sz="3700" dirty="0"/>
              <a:t>A</a:t>
            </a:r>
            <a:r>
              <a:rPr lang="en-IN" sz="3700" dirty="0"/>
              <a:t>nova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877824" y="2106930"/>
            <a:ext cx="5864595" cy="3912871"/>
          </a:xfrm>
          <a:ln>
            <a:solidFill>
              <a:schemeClr val="bg1"/>
            </a:solidFill>
          </a:ln>
        </p:spPr>
        <p:txBody>
          <a:bodyPr>
            <a:normAutofit fontScale="77500" lnSpcReduction="20000"/>
          </a:bodyPr>
          <a:lstStyle/>
          <a:p>
            <a:r>
              <a:rPr lang="en-US" b="1" dirty="0" err="1"/>
              <a:t>anova</a:t>
            </a:r>
            <a:r>
              <a:rPr lang="en-US" b="1" dirty="0"/>
              <a:t> for weather situation</a:t>
            </a:r>
            <a:r>
              <a:rPr lang="en-US" dirty="0"/>
              <a:t>: </a:t>
            </a:r>
          </a:p>
          <a:p>
            <a:pPr lvl="1"/>
            <a:r>
              <a:rPr lang="en-US" dirty="0"/>
              <a:t>F-statistic: With an F-statistic of 127.17, this suggests that there is a substantial amount of variability between the mean rental counts across different weather situations compared to the variability within each weather situation. This indicates that the "</a:t>
            </a:r>
            <a:r>
              <a:rPr lang="en-US" dirty="0" err="1"/>
              <a:t>weathersit</a:t>
            </a:r>
            <a:r>
              <a:rPr lang="en-US" dirty="0"/>
              <a:t>" variable likely has a significant effect on bike rental counts.</a:t>
            </a:r>
          </a:p>
          <a:p>
            <a:pPr lvl="1"/>
            <a:endParaRPr lang="en-US" dirty="0"/>
          </a:p>
          <a:p>
            <a:pPr lvl="1"/>
            <a:r>
              <a:rPr lang="en-US" dirty="0"/>
              <a:t>The associated p-value of approximately 1.73e-81 is extremely small, much smaller than the conventional significance level of 0.05. This tiny p-value provides strong evidence against the null hypothesis, indicating that there are indeed significant differences in rental counts across different weather situations.</a:t>
            </a:r>
          </a:p>
          <a:p>
            <a:pPr lvl="1"/>
            <a:endParaRPr lang="en-US" dirty="0"/>
          </a:p>
          <a:p>
            <a:pPr lvl="1"/>
            <a:r>
              <a:rPr lang="en-US" dirty="0"/>
              <a:t>The ANOVA results highlight the significant influence of weather situations on bike rental counts, underscoring the importance of considering weather-related factors in business planning and strategy development for bike rental services.</a:t>
            </a:r>
          </a:p>
          <a:p>
            <a:pPr lvl="1"/>
            <a:endParaRPr lang="en-US" dirty="0"/>
          </a:p>
          <a:p>
            <a:pPr lvl="1"/>
            <a:r>
              <a:rPr lang="en-US" sz="1200" b="1" i="1" dirty="0">
                <a:latin typeface="Times New Roman" panose="02020603050405020304" pitchFamily="18" charset="0"/>
                <a:cs typeface="Times New Roman" panose="02020603050405020304" pitchFamily="18" charset="0"/>
              </a:rPr>
              <a:t>ANOVA for </a:t>
            </a:r>
            <a:r>
              <a:rPr lang="en-US" sz="1200" b="1" i="1" dirty="0" err="1">
                <a:latin typeface="Times New Roman" panose="02020603050405020304" pitchFamily="18" charset="0"/>
                <a:cs typeface="Times New Roman" panose="02020603050405020304" pitchFamily="18" charset="0"/>
              </a:rPr>
              <a:t>weathersit</a:t>
            </a:r>
            <a:r>
              <a:rPr lang="en-US" sz="1200" b="1" i="1" dirty="0">
                <a:latin typeface="Times New Roman" panose="02020603050405020304" pitchFamily="18" charset="0"/>
                <a:cs typeface="Times New Roman" panose="02020603050405020304" pitchFamily="18" charset="0"/>
              </a:rPr>
              <a:t>:	F-statistic: 127.17386949967266, p-value: 1.7347820521803117e-81</a:t>
            </a:r>
            <a:endParaRPr lang="en-US" sz="1000" b="1" i="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23</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8" name="Picture 7">
            <a:extLst>
              <a:ext uri="{FF2B5EF4-FFF2-40B4-BE49-F238E27FC236}">
                <a16:creationId xmlns:a16="http://schemas.microsoft.com/office/drawing/2014/main" id="{BDCBD289-DEFA-12AA-6723-081162628DC1}"/>
              </a:ext>
            </a:extLst>
          </p:cNvPr>
          <p:cNvPicPr>
            <a:picLocks noChangeAspect="1"/>
          </p:cNvPicPr>
          <p:nvPr/>
        </p:nvPicPr>
        <p:blipFill>
          <a:blip r:embed="rId2"/>
          <a:stretch>
            <a:fillRect/>
          </a:stretch>
        </p:blipFill>
        <p:spPr>
          <a:xfrm>
            <a:off x="7159994" y="771525"/>
            <a:ext cx="4363211" cy="5314950"/>
          </a:xfrm>
          <a:prstGeom prst="rect">
            <a:avLst/>
          </a:prstGeom>
          <a:ln>
            <a:solidFill>
              <a:schemeClr val="tx1"/>
            </a:solidFill>
          </a:ln>
        </p:spPr>
      </p:pic>
    </p:spTree>
    <p:extLst>
      <p:ext uri="{BB962C8B-B14F-4D97-AF65-F5344CB8AC3E}">
        <p14:creationId xmlns:p14="http://schemas.microsoft.com/office/powerpoint/2010/main" val="1788023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US" sz="3700" dirty="0"/>
              <a:t>A</a:t>
            </a:r>
            <a:r>
              <a:rPr lang="en-IN" sz="3700" dirty="0"/>
              <a:t>nova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877824" y="2106930"/>
            <a:ext cx="5864595" cy="3912871"/>
          </a:xfrm>
          <a:ln>
            <a:solidFill>
              <a:schemeClr val="bg1"/>
            </a:solidFill>
          </a:ln>
        </p:spPr>
        <p:txBody>
          <a:bodyPr>
            <a:normAutofit fontScale="70000" lnSpcReduction="20000"/>
          </a:bodyPr>
          <a:lstStyle/>
          <a:p>
            <a:r>
              <a:rPr lang="en-US" b="1" dirty="0" err="1"/>
              <a:t>anova</a:t>
            </a:r>
            <a:r>
              <a:rPr lang="en-US" b="1" dirty="0"/>
              <a:t> for month</a:t>
            </a:r>
            <a:r>
              <a:rPr lang="en-US" dirty="0"/>
              <a:t>: </a:t>
            </a:r>
          </a:p>
          <a:p>
            <a:pPr lvl="1"/>
            <a:r>
              <a:rPr lang="en-US" dirty="0"/>
              <a:t>The F-statistic measures the ratio of variation between group means to the variation within the groups. In this case, it indicates whether there are significant differences in bike rental counts across different months. With a high F-statistic of 128.10, it suggests that there is a considerable amount of variability in the mean rental counts among the different months compared to the variability within each month</a:t>
            </a:r>
          </a:p>
          <a:p>
            <a:pPr lvl="1"/>
            <a:endParaRPr lang="en-US" dirty="0"/>
          </a:p>
          <a:p>
            <a:pPr lvl="1"/>
            <a:r>
              <a:rPr lang="en-US" dirty="0"/>
              <a:t>The p-value associated with the F-statistic is extremely small, approximately 5.51e-284, indicating strong evidence against the null hypothesis. The null hypothesis posits that there are no significant differences in rental counts across months. Since the p-value is much smaller than the conventional significance level of 0.05, we reject the null hypothesis and conclude that there are indeed significant differences in rental counts across months.</a:t>
            </a:r>
          </a:p>
          <a:p>
            <a:pPr lvl="1"/>
            <a:endParaRPr lang="en-US" dirty="0"/>
          </a:p>
          <a:p>
            <a:pPr lvl="1"/>
            <a:r>
              <a:rPr lang="en-US" dirty="0"/>
              <a:t>The ANOVA results highlight the significant impact of the month variable on bike rental counts, emphasizing the need for businesses to consider temporal patterns and seasonality in their operational and strategic decision-making processes</a:t>
            </a:r>
          </a:p>
          <a:p>
            <a:pPr marL="0" lvl="1" indent="0">
              <a:buNone/>
            </a:pPr>
            <a:endParaRPr lang="en-US" dirty="0"/>
          </a:p>
          <a:p>
            <a:pPr lvl="1"/>
            <a:r>
              <a:rPr lang="en-US" sz="1200" b="1" i="1" dirty="0">
                <a:latin typeface="Times New Roman" panose="02020603050405020304" pitchFamily="18" charset="0"/>
                <a:cs typeface="Times New Roman" panose="02020603050405020304" pitchFamily="18" charset="0"/>
              </a:rPr>
              <a:t>ANOVA for </a:t>
            </a:r>
            <a:r>
              <a:rPr lang="en-US" sz="1200" b="1" i="1" dirty="0" err="1">
                <a:latin typeface="Times New Roman" panose="02020603050405020304" pitchFamily="18" charset="0"/>
                <a:cs typeface="Times New Roman" panose="02020603050405020304" pitchFamily="18" charset="0"/>
              </a:rPr>
              <a:t>mnth</a:t>
            </a:r>
            <a:r>
              <a:rPr lang="en-US" sz="1200" b="1" i="1" dirty="0">
                <a:latin typeface="Times New Roman" panose="02020603050405020304" pitchFamily="18" charset="0"/>
                <a:cs typeface="Times New Roman" panose="02020603050405020304" pitchFamily="18" charset="0"/>
              </a:rPr>
              <a:t>:	F-statistic: 128.1021897089323, p-value: 5.50568493648436e-284</a:t>
            </a:r>
            <a:endParaRPr lang="en-US" sz="1000" b="1" i="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24</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9" name="Picture 8">
            <a:extLst>
              <a:ext uri="{FF2B5EF4-FFF2-40B4-BE49-F238E27FC236}">
                <a16:creationId xmlns:a16="http://schemas.microsoft.com/office/drawing/2014/main" id="{A7A7B861-DC8B-264D-110E-386B9F6205A9}"/>
              </a:ext>
            </a:extLst>
          </p:cNvPr>
          <p:cNvPicPr>
            <a:picLocks noChangeAspect="1"/>
          </p:cNvPicPr>
          <p:nvPr/>
        </p:nvPicPr>
        <p:blipFill>
          <a:blip r:embed="rId2"/>
          <a:stretch>
            <a:fillRect/>
          </a:stretch>
        </p:blipFill>
        <p:spPr>
          <a:xfrm>
            <a:off x="7159994" y="771525"/>
            <a:ext cx="4355731" cy="5314950"/>
          </a:xfrm>
          <a:prstGeom prst="rect">
            <a:avLst/>
          </a:prstGeom>
          <a:ln>
            <a:solidFill>
              <a:schemeClr val="tx1"/>
            </a:solidFill>
          </a:ln>
        </p:spPr>
      </p:pic>
    </p:spTree>
    <p:extLst>
      <p:ext uri="{BB962C8B-B14F-4D97-AF65-F5344CB8AC3E}">
        <p14:creationId xmlns:p14="http://schemas.microsoft.com/office/powerpoint/2010/main" val="2693901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US" sz="3700" dirty="0"/>
              <a:t>A</a:t>
            </a:r>
            <a:r>
              <a:rPr lang="en-IN" sz="3700" dirty="0"/>
              <a:t>nova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877824" y="2106930"/>
            <a:ext cx="5864595" cy="3912871"/>
          </a:xfrm>
          <a:ln>
            <a:solidFill>
              <a:schemeClr val="bg1"/>
            </a:solidFill>
          </a:ln>
        </p:spPr>
        <p:txBody>
          <a:bodyPr>
            <a:normAutofit fontScale="77500" lnSpcReduction="20000"/>
          </a:bodyPr>
          <a:lstStyle/>
          <a:p>
            <a:r>
              <a:rPr lang="en-US" b="1" dirty="0" err="1"/>
              <a:t>anova</a:t>
            </a:r>
            <a:r>
              <a:rPr lang="en-US" b="1" dirty="0"/>
              <a:t> for working day</a:t>
            </a:r>
            <a:r>
              <a:rPr lang="en-US" dirty="0"/>
              <a:t>: </a:t>
            </a:r>
          </a:p>
          <a:p>
            <a:pPr lvl="1"/>
            <a:r>
              <a:rPr lang="en-US" dirty="0"/>
              <a:t>The F-statistic measures the ratio of variation between group means to the variation within the groups. In this context, it indicates whether there are significant differences in bike rental counts between working days and non-working days. With a moderate F-statistic of 15.95, it suggests that there is a moderate amount of variability in the mean rental counts between these two groups compared to the variability within each group.</a:t>
            </a:r>
          </a:p>
          <a:p>
            <a:pPr lvl="1"/>
            <a:r>
              <a:rPr lang="en-US" dirty="0"/>
              <a:t>The associated p-value of approximately 6.52e-05 is significantly smaller than the conventional significance level of 0.05. This small p-value provides strong evidence against the null hypothesis, which posits that there are no significant differences in rental counts between working days and non-working days. Therefore, we reject the null hypothesis and conclude that there are indeed significant differences in rental counts between these two categories.</a:t>
            </a:r>
          </a:p>
          <a:p>
            <a:pPr lvl="1"/>
            <a:r>
              <a:rPr lang="en-US" dirty="0"/>
              <a:t>The ANOVA results highlight the significant influence of the "</a:t>
            </a:r>
            <a:r>
              <a:rPr lang="en-US" dirty="0" err="1"/>
              <a:t>workingday</a:t>
            </a:r>
            <a:r>
              <a:rPr lang="en-US" dirty="0"/>
              <a:t>" variable on bike rental counts, underscoring the importance of considering temporal patterns and weekday vs. weekend dynamics in business planning and strategy development for bike rental services.</a:t>
            </a:r>
          </a:p>
          <a:p>
            <a:pPr marL="0" lvl="1" indent="0">
              <a:buNone/>
            </a:pPr>
            <a:endParaRPr lang="en-US" dirty="0"/>
          </a:p>
          <a:p>
            <a:pPr lvl="1"/>
            <a:r>
              <a:rPr lang="en-US" sz="1200" b="1" i="1" dirty="0">
                <a:latin typeface="Times New Roman" panose="02020603050405020304" pitchFamily="18" charset="0"/>
                <a:cs typeface="Times New Roman" panose="02020603050405020304" pitchFamily="18" charset="0"/>
              </a:rPr>
              <a:t>ANOVA for </a:t>
            </a:r>
            <a:r>
              <a:rPr lang="en-US" sz="1200" b="1" i="1" dirty="0" err="1">
                <a:latin typeface="Times New Roman" panose="02020603050405020304" pitchFamily="18" charset="0"/>
                <a:cs typeface="Times New Roman" panose="02020603050405020304" pitchFamily="18" charset="0"/>
              </a:rPr>
              <a:t>workingday</a:t>
            </a:r>
            <a:r>
              <a:rPr lang="en-US" sz="1200" b="1" i="1" dirty="0">
                <a:latin typeface="Times New Roman" panose="02020603050405020304" pitchFamily="18" charset="0"/>
                <a:cs typeface="Times New Roman" panose="02020603050405020304" pitchFamily="18" charset="0"/>
              </a:rPr>
              <a:t>:	F-statistic: 15.95182279420313, p-value: 6.524264547051995e-05</a:t>
            </a:r>
            <a:endParaRPr lang="en-US" sz="1000" b="1" i="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25</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10" name="Picture 9">
            <a:extLst>
              <a:ext uri="{FF2B5EF4-FFF2-40B4-BE49-F238E27FC236}">
                <a16:creationId xmlns:a16="http://schemas.microsoft.com/office/drawing/2014/main" id="{47120EF1-9483-3D3E-8C75-A7DBF59841ED}"/>
              </a:ext>
            </a:extLst>
          </p:cNvPr>
          <p:cNvPicPr>
            <a:picLocks noChangeAspect="1"/>
          </p:cNvPicPr>
          <p:nvPr/>
        </p:nvPicPr>
        <p:blipFill>
          <a:blip r:embed="rId2"/>
          <a:stretch>
            <a:fillRect/>
          </a:stretch>
        </p:blipFill>
        <p:spPr>
          <a:xfrm>
            <a:off x="7159993" y="771524"/>
            <a:ext cx="4346207" cy="5314951"/>
          </a:xfrm>
          <a:prstGeom prst="rect">
            <a:avLst/>
          </a:prstGeom>
          <a:ln>
            <a:solidFill>
              <a:schemeClr val="tx1"/>
            </a:solidFill>
          </a:ln>
        </p:spPr>
      </p:pic>
    </p:spTree>
    <p:extLst>
      <p:ext uri="{BB962C8B-B14F-4D97-AF65-F5344CB8AC3E}">
        <p14:creationId xmlns:p14="http://schemas.microsoft.com/office/powerpoint/2010/main" val="2123383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399" y="609600"/>
            <a:ext cx="10058400" cy="914400"/>
          </a:xfrm>
        </p:spPr>
        <p:txBody>
          <a:bodyPr anchor="ctr">
            <a:normAutofit/>
          </a:bodyPr>
          <a:lstStyle/>
          <a:p>
            <a:r>
              <a:rPr lang="en-US" dirty="0"/>
              <a:t>Hypothesis testing</a:t>
            </a:r>
            <a:endParaRPr lang="en-IN" dirty="0"/>
          </a:p>
        </p:txBody>
      </p:sp>
      <p:sp>
        <p:nvSpPr>
          <p:cNvPr id="8" name="Rectangle 2">
            <a:extLst>
              <a:ext uri="{FF2B5EF4-FFF2-40B4-BE49-F238E27FC236}">
                <a16:creationId xmlns:a16="http://schemas.microsoft.com/office/drawing/2014/main" id="{4A9D31D5-38A0-A27A-AB55-0FAE74967C9C}"/>
              </a:ext>
            </a:extLst>
          </p:cNvPr>
          <p:cNvSpPr>
            <a:spLocks noGrp="1" noChangeArrowheads="1"/>
          </p:cNvSpPr>
          <p:nvPr>
            <p:ph idx="1"/>
          </p:nvPr>
        </p:nvSpPr>
        <p:spPr bwMode="auto">
          <a:xfrm>
            <a:off x="1295400" y="1855945"/>
            <a:ext cx="4815078" cy="435254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20000"/>
          </a:bodyPr>
          <a:lstStyle/>
          <a:p>
            <a:pPr marL="0" marR="0" lvl="0" indent="0" defTabSz="914400" rtl="0" eaLnBrk="0" fontAlgn="base" latinLnBrk="0" hangingPunct="0">
              <a:spcBef>
                <a:spcPct val="0"/>
              </a:spcBef>
              <a:spcAft>
                <a:spcPts val="600"/>
              </a:spcAft>
              <a:buClrTx/>
              <a:buSzTx/>
              <a:buFontTx/>
              <a:buNone/>
              <a:tabLst/>
            </a:pPr>
            <a:r>
              <a:rPr kumimoji="0" lang="en-US" altLang="en-US" sz="1500" b="0" i="1" u="none" strike="noStrike" cap="none" normalizeH="0" baseline="0" dirty="0">
                <a:ln>
                  <a:noFill/>
                </a:ln>
                <a:effectLst/>
              </a:rPr>
              <a:t>Tool used: python</a:t>
            </a:r>
          </a:p>
          <a:p>
            <a:pPr marL="0" marR="0" lvl="0" indent="0" defTabSz="914400" rtl="0" eaLnBrk="0" fontAlgn="base" latinLnBrk="0" hangingPunct="0">
              <a:spcBef>
                <a:spcPct val="0"/>
              </a:spcBef>
              <a:spcAft>
                <a:spcPts val="600"/>
              </a:spcAft>
              <a:buClrTx/>
              <a:buSzTx/>
              <a:buFontTx/>
              <a:buNone/>
              <a:tabLst/>
            </a:pPr>
            <a:r>
              <a:rPr lang="en-US" altLang="en-US" sz="1500" i="1" dirty="0"/>
              <a:t>T-test, Confidence level: 0.95</a:t>
            </a:r>
          </a:p>
          <a:p>
            <a:endParaRPr lang="en-US" sz="1500" dirty="0"/>
          </a:p>
          <a:p>
            <a:r>
              <a:rPr lang="en-US" sz="1500" dirty="0"/>
              <a:t>Hypothesis testing: whether there is a significant difference in the mean bike rental counts between </a:t>
            </a:r>
            <a:r>
              <a:rPr lang="en-US" sz="1500" i="1" dirty="0"/>
              <a:t>weekdays and weekends</a:t>
            </a:r>
            <a:r>
              <a:rPr lang="en-US" sz="1500" dirty="0"/>
              <a:t>. </a:t>
            </a:r>
          </a:p>
          <a:p>
            <a:r>
              <a:rPr lang="en-US" sz="1500" dirty="0"/>
              <a:t>The null hypothesis (H0) is that there is no difference in the mean counts.</a:t>
            </a:r>
          </a:p>
          <a:p>
            <a:r>
              <a:rPr lang="en-US" sz="1500" dirty="0"/>
              <a:t>Alternative hypothesis (Ha) is that there is a difference. </a:t>
            </a:r>
          </a:p>
          <a:p>
            <a:r>
              <a:rPr lang="en-US" sz="1500" dirty="0"/>
              <a:t>The t-test helps evaluate whether the observed difference in means is statistically significant, based on the calculated t-statistic and p-value.</a:t>
            </a:r>
          </a:p>
          <a:p>
            <a:r>
              <a:rPr lang="en-US" sz="1500" dirty="0"/>
              <a:t>The t-test results indicate that there is no statistically significant difference in bike rental counts between weekdays and weekends, highlighting the importance of considering multiple factors when analyzing rental patterns and making business decisions.</a:t>
            </a:r>
          </a:p>
          <a:p>
            <a:pPr marL="0" marR="0" lvl="0" indent="0" defTabSz="914400" rtl="0" eaLnBrk="0" fontAlgn="base" latinLnBrk="0" hangingPunct="0">
              <a:spcBef>
                <a:spcPct val="0"/>
              </a:spcBef>
              <a:spcAft>
                <a:spcPts val="600"/>
              </a:spcAft>
              <a:buClrTx/>
              <a:buSzTx/>
              <a:buFontTx/>
              <a:buNone/>
              <a:tabLst/>
            </a:pPr>
            <a:r>
              <a:rPr kumimoji="0" lang="en-US" altLang="en-US" sz="1500" b="0" i="1" u="none" strike="noStrike" cap="none" normalizeH="0" baseline="0" dirty="0">
                <a:ln>
                  <a:noFill/>
                </a:ln>
                <a:effectLst/>
              </a:rPr>
              <a:t>Tool used: python</a:t>
            </a:r>
          </a:p>
          <a:p>
            <a:pPr marL="0" marR="0" lvl="0" indent="0" defTabSz="914400" rtl="0" eaLnBrk="0" fontAlgn="base" latinLnBrk="0" hangingPunct="0">
              <a:spcBef>
                <a:spcPct val="0"/>
              </a:spcBef>
              <a:spcAft>
                <a:spcPts val="600"/>
              </a:spcAft>
              <a:buClrTx/>
              <a:buSzTx/>
              <a:buFontTx/>
              <a:buNone/>
              <a:tabLst/>
            </a:pPr>
            <a:r>
              <a:rPr lang="en-US" altLang="en-US" sz="1500" i="1" dirty="0"/>
              <a:t>T-test, Confidence level: 0.95</a:t>
            </a:r>
          </a:p>
          <a:p>
            <a:pPr marL="0" indent="0">
              <a:buNone/>
            </a:pPr>
            <a:endParaRPr lang="en-US" sz="1500" dirty="0"/>
          </a:p>
          <a:p>
            <a:r>
              <a:rPr lang="en-US" sz="1000" b="1" dirty="0">
                <a:latin typeface="Times New Roman" panose="02020603050405020304" pitchFamily="18" charset="0"/>
                <a:cs typeface="Times New Roman" panose="02020603050405020304" pitchFamily="18" charset="0"/>
              </a:rPr>
              <a:t>T-statistic: -0.22306957521789678, p-value: 0.8234839791816918</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26</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6" name="Picture 5">
            <a:extLst>
              <a:ext uri="{FF2B5EF4-FFF2-40B4-BE49-F238E27FC236}">
                <a16:creationId xmlns:a16="http://schemas.microsoft.com/office/drawing/2014/main" id="{B45E6F14-6066-C525-1188-415DA6FA51A8}"/>
              </a:ext>
            </a:extLst>
          </p:cNvPr>
          <p:cNvPicPr>
            <a:picLocks noChangeAspect="1"/>
          </p:cNvPicPr>
          <p:nvPr/>
        </p:nvPicPr>
        <p:blipFill rotWithShape="1">
          <a:blip r:embed="rId2"/>
          <a:srcRect l="11487" r="4439" b="3"/>
          <a:stretch/>
        </p:blipFill>
        <p:spPr>
          <a:xfrm>
            <a:off x="6300978" y="1836895"/>
            <a:ext cx="4815078" cy="4352544"/>
          </a:xfrm>
          <a:prstGeom prst="rect">
            <a:avLst/>
          </a:prstGeom>
          <a:noFill/>
          <a:ln>
            <a:solidFill>
              <a:schemeClr val="tx1"/>
            </a:solidFill>
          </a:ln>
        </p:spPr>
      </p:pic>
    </p:spTree>
    <p:extLst>
      <p:ext uri="{BB962C8B-B14F-4D97-AF65-F5344CB8AC3E}">
        <p14:creationId xmlns:p14="http://schemas.microsoft.com/office/powerpoint/2010/main" val="4078842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399" y="609600"/>
            <a:ext cx="10058400" cy="914400"/>
          </a:xfrm>
        </p:spPr>
        <p:txBody>
          <a:bodyPr anchor="ctr">
            <a:normAutofit/>
          </a:bodyPr>
          <a:lstStyle/>
          <a:p>
            <a:r>
              <a:rPr lang="en-US" dirty="0"/>
              <a:t>Hypothesis testing</a:t>
            </a:r>
            <a:endParaRPr lang="en-IN" dirty="0"/>
          </a:p>
        </p:txBody>
      </p:sp>
      <p:sp>
        <p:nvSpPr>
          <p:cNvPr id="8" name="Rectangle 2">
            <a:extLst>
              <a:ext uri="{FF2B5EF4-FFF2-40B4-BE49-F238E27FC236}">
                <a16:creationId xmlns:a16="http://schemas.microsoft.com/office/drawing/2014/main" id="{4A9D31D5-38A0-A27A-AB55-0FAE74967C9C}"/>
              </a:ext>
            </a:extLst>
          </p:cNvPr>
          <p:cNvSpPr>
            <a:spLocks noGrp="1" noChangeArrowheads="1"/>
          </p:cNvSpPr>
          <p:nvPr>
            <p:ph idx="1"/>
          </p:nvPr>
        </p:nvSpPr>
        <p:spPr bwMode="auto">
          <a:xfrm>
            <a:off x="1295400" y="1855945"/>
            <a:ext cx="4815078" cy="435254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85000" lnSpcReduction="20000"/>
          </a:bodyPr>
          <a:lstStyle/>
          <a:p>
            <a:pPr marL="0" marR="0" lvl="0" indent="0" defTabSz="914400" rtl="0" eaLnBrk="0" fontAlgn="base" latinLnBrk="0" hangingPunct="0">
              <a:spcBef>
                <a:spcPct val="0"/>
              </a:spcBef>
              <a:spcAft>
                <a:spcPts val="600"/>
              </a:spcAft>
              <a:buClrTx/>
              <a:buSzTx/>
              <a:buFontTx/>
              <a:buNone/>
              <a:tabLst/>
            </a:pPr>
            <a:r>
              <a:rPr kumimoji="0" lang="en-US" altLang="en-US" sz="1500" b="0" i="1" u="none" strike="noStrike" cap="none" normalizeH="0" baseline="0" dirty="0">
                <a:ln>
                  <a:noFill/>
                </a:ln>
                <a:effectLst/>
              </a:rPr>
              <a:t>Tool used: python</a:t>
            </a:r>
          </a:p>
          <a:p>
            <a:pPr marL="0" marR="0" lvl="0" indent="0" defTabSz="914400" rtl="0" eaLnBrk="0" fontAlgn="base" latinLnBrk="0" hangingPunct="0">
              <a:spcBef>
                <a:spcPct val="0"/>
              </a:spcBef>
              <a:spcAft>
                <a:spcPts val="600"/>
              </a:spcAft>
              <a:buClrTx/>
              <a:buSzTx/>
              <a:buFontTx/>
              <a:buNone/>
              <a:tabLst/>
            </a:pPr>
            <a:r>
              <a:rPr lang="en-US" altLang="en-US" sz="1500" i="1" dirty="0"/>
              <a:t>T-test, Confidence level: 0.95</a:t>
            </a:r>
          </a:p>
          <a:p>
            <a:pPr marL="0" indent="0">
              <a:buNone/>
            </a:pPr>
            <a:r>
              <a:rPr lang="en-US" sz="1500" dirty="0"/>
              <a:t>Pairwise T-test between Seasons and Counts</a:t>
            </a:r>
          </a:p>
          <a:p>
            <a:r>
              <a:rPr lang="en-US" sz="1500" dirty="0"/>
              <a:t>For each pair of seasons (excluding comparisons with themselves), a t-test is performed to assess whether there is a significant difference in bike rental counts between the two seasons.</a:t>
            </a:r>
          </a:p>
          <a:p>
            <a:r>
              <a:rPr lang="en-US" sz="1500" dirty="0"/>
              <a:t>The t-test calculates a t-statistic and a p-value for each pair of seasons.</a:t>
            </a:r>
          </a:p>
          <a:p>
            <a:r>
              <a:rPr lang="en-US" sz="1500" dirty="0"/>
              <a:t>The t-statistic measures the difference between the means of the rental counts relative to the variation within the groups, while the p-value indicates the probability of observing such extreme results if the </a:t>
            </a:r>
            <a:r>
              <a:rPr lang="en-US" sz="1500" i="1" dirty="0"/>
              <a:t>null hypothesis </a:t>
            </a:r>
            <a:r>
              <a:rPr lang="en-US" sz="1500" dirty="0"/>
              <a:t>(no difference in means) is true.</a:t>
            </a:r>
          </a:p>
          <a:p>
            <a:r>
              <a:rPr lang="en-US" sz="1500" dirty="0"/>
              <a:t>There are significant differences in bike rental counts between Winter (Season 1) and the other seasons (Spring, Summer, and Fall).Alternative hypothesis (Ha) is that there is a difference. </a:t>
            </a:r>
          </a:p>
          <a:p>
            <a:r>
              <a:rPr lang="en-US" sz="1500" dirty="0"/>
              <a:t>Similarly, there are significant differences in rental counts between Spring (Season 2) and the other seasons (Summer and Fall)..</a:t>
            </a:r>
          </a:p>
          <a:p>
            <a:r>
              <a:rPr lang="en-US" sz="1500" dirty="0"/>
              <a:t>Significant differences also exist between Summer (Season 3) and Fall (Season 4).</a:t>
            </a:r>
          </a:p>
          <a:p>
            <a:r>
              <a:rPr lang="en-US" sz="1500" dirty="0"/>
              <a:t>However, there is no significant difference in rental counts between Spring (Season 2) and Fall (Season 4), except for a small difference with a p-value of 0.0178, which is still statistically significant but less pronounced compared to other pairs.</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27</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13" name="Picture 12">
            <a:extLst>
              <a:ext uri="{FF2B5EF4-FFF2-40B4-BE49-F238E27FC236}">
                <a16:creationId xmlns:a16="http://schemas.microsoft.com/office/drawing/2014/main" id="{44A4F869-3EC4-F124-D91E-D9152AD92264}"/>
              </a:ext>
            </a:extLst>
          </p:cNvPr>
          <p:cNvPicPr>
            <a:picLocks noChangeAspect="1"/>
          </p:cNvPicPr>
          <p:nvPr/>
        </p:nvPicPr>
        <p:blipFill>
          <a:blip r:embed="rId2"/>
          <a:stretch>
            <a:fillRect/>
          </a:stretch>
        </p:blipFill>
        <p:spPr>
          <a:xfrm>
            <a:off x="6096000" y="1524000"/>
            <a:ext cx="6010275" cy="3590925"/>
          </a:xfrm>
          <a:prstGeom prst="rect">
            <a:avLst/>
          </a:prstGeom>
          <a:ln>
            <a:solidFill>
              <a:schemeClr val="tx1"/>
            </a:solidFill>
          </a:ln>
        </p:spPr>
      </p:pic>
      <p:sp>
        <p:nvSpPr>
          <p:cNvPr id="14" name="Rectangle 2">
            <a:extLst>
              <a:ext uri="{FF2B5EF4-FFF2-40B4-BE49-F238E27FC236}">
                <a16:creationId xmlns:a16="http://schemas.microsoft.com/office/drawing/2014/main" id="{B90CC3B9-9A57-C50B-AC5B-94A363B36DD1}"/>
              </a:ext>
            </a:extLst>
          </p:cNvPr>
          <p:cNvSpPr txBox="1">
            <a:spLocks noChangeArrowheads="1"/>
          </p:cNvSpPr>
          <p:nvPr/>
        </p:nvSpPr>
        <p:spPr bwMode="auto">
          <a:xfrm>
            <a:off x="6956298" y="5114925"/>
            <a:ext cx="4815078" cy="134445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spc="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spc="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spc="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spc="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FontTx/>
              <a:buNone/>
            </a:pPr>
            <a:r>
              <a:rPr lang="en-US" sz="1200" b="0" i="0" dirty="0">
                <a:effectLst/>
                <a:latin typeface="Consolas" panose="020B0609020204030204" pitchFamily="49" charset="0"/>
              </a:rPr>
              <a:t>T-test between Season 1 and Season 2: T-statistic=-28.56, p-value=0.0000 T-test between Season 1 and Season 3: T-statistic=-35.50, p-value=0.0000 T-test between Season 1 and Season 4: T-statistic=-26.16, p-value=0.0000 T-test between Season 2 and Season 1: T-statistic=28.56, p-value=0.0000 T-test between Season 2 and Season 3: T-statistic=-6.76, p-value=0.0000 T-test between Season 2 and Season 4: T-statistic=2.37, p-value=0.0178 T-test between Season 3 and Season 1: T-statistic=35.50, p-value=0.0000 T-test between Season 3 and Season 2: T-statistic=6.76, p-value=0.0000 T-test between Season 3 and Season 4: T-statistic=9.09, p-value=0.0000 T-test between Season 4 and Season 1: T-statistic=26.16, p-value=0.0000 T-test between Season 4 and Season 2: T-statistic=-2.37, p-value=0.0178 T-test between Season 4 and Season 3: T-statistic=-9.09, p-value=0.0000</a:t>
            </a:r>
            <a:endParaRPr lang="en-US" sz="1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7913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988625" y="609599"/>
            <a:ext cx="10058400" cy="914400"/>
          </a:xfrm>
        </p:spPr>
        <p:txBody>
          <a:bodyPr anchor="ctr">
            <a:normAutofit/>
          </a:bodyPr>
          <a:lstStyle/>
          <a:p>
            <a:r>
              <a:rPr lang="en-US" dirty="0"/>
              <a:t>Hypothesis testing</a:t>
            </a:r>
            <a:endParaRPr lang="en-IN" dirty="0"/>
          </a:p>
        </p:txBody>
      </p:sp>
      <p:sp>
        <p:nvSpPr>
          <p:cNvPr id="8" name="Rectangle 2">
            <a:extLst>
              <a:ext uri="{FF2B5EF4-FFF2-40B4-BE49-F238E27FC236}">
                <a16:creationId xmlns:a16="http://schemas.microsoft.com/office/drawing/2014/main" id="{4A9D31D5-38A0-A27A-AB55-0FAE74967C9C}"/>
              </a:ext>
            </a:extLst>
          </p:cNvPr>
          <p:cNvSpPr>
            <a:spLocks noGrp="1" noChangeArrowheads="1"/>
          </p:cNvSpPr>
          <p:nvPr>
            <p:ph idx="1"/>
          </p:nvPr>
        </p:nvSpPr>
        <p:spPr bwMode="auto">
          <a:xfrm>
            <a:off x="988625" y="1800610"/>
            <a:ext cx="4815078" cy="435254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a:bodyPr>
          <a:lstStyle/>
          <a:p>
            <a:pPr marL="0" marR="0" lvl="0" indent="0" defTabSz="914400" rtl="0" eaLnBrk="0" fontAlgn="base" latinLnBrk="0" hangingPunct="0">
              <a:spcBef>
                <a:spcPct val="0"/>
              </a:spcBef>
              <a:spcAft>
                <a:spcPts val="600"/>
              </a:spcAft>
              <a:buClrTx/>
              <a:buSzTx/>
              <a:buFontTx/>
              <a:buNone/>
              <a:tabLst/>
            </a:pPr>
            <a:r>
              <a:rPr kumimoji="0" lang="en-US" altLang="en-US" sz="1500" b="0" i="1" u="none" strike="noStrike" cap="none" normalizeH="0" baseline="0" dirty="0">
                <a:ln>
                  <a:noFill/>
                </a:ln>
                <a:effectLst/>
              </a:rPr>
              <a:t>Tool used: python</a:t>
            </a:r>
          </a:p>
          <a:p>
            <a:pPr marL="0" marR="0" lvl="0" indent="0" defTabSz="914400" rtl="0" eaLnBrk="0" fontAlgn="base" latinLnBrk="0" hangingPunct="0">
              <a:spcBef>
                <a:spcPct val="0"/>
              </a:spcBef>
              <a:spcAft>
                <a:spcPts val="600"/>
              </a:spcAft>
              <a:buClrTx/>
              <a:buSzTx/>
              <a:buFontTx/>
              <a:buNone/>
              <a:tabLst/>
            </a:pPr>
            <a:r>
              <a:rPr lang="en-US" altLang="en-US" sz="1500" i="1" dirty="0"/>
              <a:t>T-test, Confidence level: 0.95</a:t>
            </a:r>
          </a:p>
          <a:p>
            <a:pPr marL="0" indent="0">
              <a:buNone/>
            </a:pPr>
            <a:r>
              <a:rPr lang="en-US" sz="1500" dirty="0"/>
              <a:t>Pairwise T-test between Windspeed and Counts</a:t>
            </a:r>
          </a:p>
          <a:p>
            <a:r>
              <a:rPr lang="en-US" sz="1500" dirty="0"/>
              <a:t>Pairwise t-tests are conducted between windspeed brackets to determine if there are significant differences in bike rental counts between different windspeed ranges. The t-test calculates a t-statistic and a p-value for each pair of seasons.</a:t>
            </a:r>
          </a:p>
          <a:p>
            <a:r>
              <a:rPr lang="en-US" sz="1500" dirty="0"/>
              <a:t>These results provide insights into the differences in bike rental counts across various windspeed ranges. Significant differences are observed between certain percentile brackets, indicating that windspeed has an impact on bike rental activity. However, the effect may vary across different windspeed ranges</a:t>
            </a:r>
          </a:p>
          <a:p>
            <a:r>
              <a:rPr lang="en-US" sz="1500" dirty="0"/>
              <a:t>The comparison between the 40-60 percentile and 80-100 percentile brackets has a larger p-value of 0.3092, indicating less significance compared to the other comparisons.</a:t>
            </a:r>
          </a:p>
          <a:p>
            <a:r>
              <a:rPr lang="en-US" sz="1500" dirty="0"/>
              <a:t>Therefore, the comparisons with p-values of 0.0000 are more significant, suggesting strong evidence of differences in bike rental counts between the respective windspeed brackets</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28</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sp>
        <p:nvSpPr>
          <p:cNvPr id="14" name="Rectangle 2">
            <a:extLst>
              <a:ext uri="{FF2B5EF4-FFF2-40B4-BE49-F238E27FC236}">
                <a16:creationId xmlns:a16="http://schemas.microsoft.com/office/drawing/2014/main" id="{B90CC3B9-9A57-C50B-AC5B-94A363B36DD1}"/>
              </a:ext>
            </a:extLst>
          </p:cNvPr>
          <p:cNvSpPr txBox="1">
            <a:spLocks noChangeArrowheads="1"/>
          </p:cNvSpPr>
          <p:nvPr/>
        </p:nvSpPr>
        <p:spPr bwMode="auto">
          <a:xfrm>
            <a:off x="6048375" y="2192498"/>
            <a:ext cx="6143625" cy="2287430"/>
          </a:xfrm>
          <a:prstGeom prst="rect">
            <a:avLst/>
          </a:prstGeom>
          <a:ln w="9525">
            <a:solidFill>
              <a:schemeClr val="bg1"/>
            </a:solidFill>
            <a:miter lim="800000"/>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spc="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spc="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spc="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spc="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0-20 percentile and 20-40 percentile: T-statistic=-3.68, p-value=0.0002</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0-20 percentile and 40-60 percentile: T-statistic=-11.77,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0-20 percentile and 60-80 percentile: T-statistic=-12.35,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0-20 percentile and 80-100 percentile: T-statistic=-11.88,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20-40 percentile and 0-20 percentile: T-statistic=3.68, p-value=0.0002</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20-40 percentile and 40-60 percentile: T-statistic=-7.70,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20-40 percentile and 60-80 percentile: T-statistic=-8.89,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20-40 percentile and 80-100 percentile: T-statistic=-8.09,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40-60 percentile and 0-20 percentile: T-statistic=11.77,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40-60 percentile and 20-40 percentile: T-statistic=7.70,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40-60 percentile and 60-80 percentile: T-statistic=-2.52, p-value=0.0119</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40-60 percentile and 80-100 percentile: T-statistic=-1.02, p-value=0.3092</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60-80 percentile and 0-20 percentile: T-statistic=12.35,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60-80 percentile and 20-40 percentile: T-statistic=8.89,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60-80 percentile and 40-60 percentile: T-statistic=2.52, p-value=0.0119</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60-80 percentile and 80-100 percentile: T-statistic=1.50, p-value=0.1334</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80-100 percentile and 0-20 percentile: T-statistic=11.88,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80-100 percentile and 20-40 percentile: T-statistic=8.09,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80-100 percentile and 40-60 percentile: T-statistic=1.02, p-value=0.3092</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80-100 percentile and 60-80 percentile: T-statistic=-1.50, p-value=0.1334</a:t>
            </a:r>
            <a:endParaRPr lang="en-US" sz="800" b="1"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A024BDDF-502D-9216-FE6E-998E65F29490}"/>
              </a:ext>
            </a:extLst>
          </p:cNvPr>
          <p:cNvPicPr>
            <a:picLocks noChangeAspect="1"/>
          </p:cNvPicPr>
          <p:nvPr/>
        </p:nvPicPr>
        <p:blipFill>
          <a:blip r:embed="rId2"/>
          <a:stretch>
            <a:fillRect/>
          </a:stretch>
        </p:blipFill>
        <p:spPr>
          <a:xfrm>
            <a:off x="8445426" y="174623"/>
            <a:ext cx="3613223" cy="1784353"/>
          </a:xfrm>
          <a:prstGeom prst="rect">
            <a:avLst/>
          </a:prstGeom>
          <a:ln>
            <a:solidFill>
              <a:schemeClr val="tx1"/>
            </a:solidFill>
          </a:ln>
        </p:spPr>
      </p:pic>
    </p:spTree>
    <p:extLst>
      <p:ext uri="{BB962C8B-B14F-4D97-AF65-F5344CB8AC3E}">
        <p14:creationId xmlns:p14="http://schemas.microsoft.com/office/powerpoint/2010/main" val="1149555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White DNA structure">
            <a:extLst>
              <a:ext uri="{FF2B5EF4-FFF2-40B4-BE49-F238E27FC236}">
                <a16:creationId xmlns:a16="http://schemas.microsoft.com/office/drawing/2014/main" id="{7F21F877-E428-8BB2-045F-D9FA57744C27}"/>
              </a:ext>
            </a:extLst>
          </p:cNvPr>
          <p:cNvPicPr>
            <a:picLocks noGrp="1" noChangeAspect="1"/>
          </p:cNvPicPr>
          <p:nvPr>
            <p:ph type="pic" sz="quarter" idx="10"/>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p:blipFill>
        <p:spPr/>
      </p:pic>
      <p:sp>
        <p:nvSpPr>
          <p:cNvPr id="3" name="Title 2">
            <a:extLst>
              <a:ext uri="{FF2B5EF4-FFF2-40B4-BE49-F238E27FC236}">
                <a16:creationId xmlns:a16="http://schemas.microsoft.com/office/drawing/2014/main" id="{03924A06-2533-68FE-6815-A6208AD97D3D}"/>
              </a:ext>
            </a:extLst>
          </p:cNvPr>
          <p:cNvSpPr>
            <a:spLocks noGrp="1"/>
          </p:cNvSpPr>
          <p:nvPr>
            <p:ph type="title"/>
          </p:nvPr>
        </p:nvSpPr>
        <p:spPr/>
        <p:txBody>
          <a:bodyPr/>
          <a:lstStyle/>
          <a:p>
            <a:r>
              <a:rPr lang="en-US" dirty="0"/>
              <a:t>predictive analysis</a:t>
            </a:r>
          </a:p>
        </p:txBody>
      </p:sp>
    </p:spTree>
    <p:extLst>
      <p:ext uri="{BB962C8B-B14F-4D97-AF65-F5344CB8AC3E}">
        <p14:creationId xmlns:p14="http://schemas.microsoft.com/office/powerpoint/2010/main" val="31525076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009649" y="631824"/>
            <a:ext cx="11401426" cy="914400"/>
          </a:xfrm>
        </p:spPr>
        <p:txBody>
          <a:bodyPr anchor="ctr">
            <a:normAutofit/>
          </a:bodyPr>
          <a:lstStyle/>
          <a:p>
            <a:r>
              <a:rPr lang="en-US" dirty="0"/>
              <a:t>multiple linear regression?</a:t>
            </a:r>
            <a:endParaRPr lang="en-IN" dirty="0"/>
          </a:p>
        </p:txBody>
      </p:sp>
      <p:sp>
        <p:nvSpPr>
          <p:cNvPr id="8" name="Rectangle 2">
            <a:extLst>
              <a:ext uri="{FF2B5EF4-FFF2-40B4-BE49-F238E27FC236}">
                <a16:creationId xmlns:a16="http://schemas.microsoft.com/office/drawing/2014/main" id="{4A9D31D5-38A0-A27A-AB55-0FAE74967C9C}"/>
              </a:ext>
            </a:extLst>
          </p:cNvPr>
          <p:cNvSpPr>
            <a:spLocks noGrp="1" noChangeArrowheads="1"/>
          </p:cNvSpPr>
          <p:nvPr>
            <p:ph idx="1"/>
          </p:nvPr>
        </p:nvSpPr>
        <p:spPr bwMode="auto">
          <a:xfrm>
            <a:off x="877824" y="1546224"/>
            <a:ext cx="5232654" cy="513166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eaLnBrk="0" fontAlgn="base" hangingPunct="0">
              <a:spcBef>
                <a:spcPct val="0"/>
              </a:spcBef>
              <a:spcAft>
                <a:spcPts val="600"/>
              </a:spcAft>
              <a:buNone/>
            </a:pPr>
            <a:r>
              <a:rPr lang="en-US" sz="1000" b="1" i="1" dirty="0">
                <a:cs typeface="Times New Roman" panose="02020603050405020304" pitchFamily="18" charset="0"/>
              </a:rPr>
              <a:t>Exploration of Predictors</a:t>
            </a:r>
            <a:r>
              <a:rPr lang="en-US" sz="1000" b="1" dirty="0">
                <a:cs typeface="Times New Roman" panose="02020603050405020304" pitchFamily="18" charset="0"/>
              </a:rPr>
              <a:t>: Through analysis</a:t>
            </a:r>
            <a:r>
              <a:rPr lang="en-US" sz="1000" dirty="0">
                <a:cs typeface="Times New Roman" panose="02020603050405020304" pitchFamily="18" charset="0"/>
              </a:rPr>
              <a:t>, I've explored various factors impacting bike rental counts, including seasonality, weather conditions like windspeed, and categorical variables such as holidays.</a:t>
            </a:r>
          </a:p>
          <a:p>
            <a:pPr marL="0" indent="0" eaLnBrk="0" fontAlgn="base" hangingPunct="0">
              <a:spcBef>
                <a:spcPct val="0"/>
              </a:spcBef>
              <a:spcAft>
                <a:spcPts val="600"/>
              </a:spcAft>
              <a:buNone/>
            </a:pPr>
            <a:endParaRPr lang="en-US" sz="1000" dirty="0">
              <a:cs typeface="Times New Roman" panose="02020603050405020304" pitchFamily="18" charset="0"/>
            </a:endParaRPr>
          </a:p>
          <a:p>
            <a:pPr marL="0" indent="0" eaLnBrk="0" fontAlgn="base" hangingPunct="0">
              <a:spcBef>
                <a:spcPct val="0"/>
              </a:spcBef>
              <a:spcAft>
                <a:spcPts val="600"/>
              </a:spcAft>
              <a:buNone/>
            </a:pPr>
            <a:r>
              <a:rPr lang="en-US" sz="1000" b="1" i="1" dirty="0">
                <a:cs typeface="Times New Roman" panose="02020603050405020304" pitchFamily="18" charset="0"/>
              </a:rPr>
              <a:t>Identification of Significant Predictors</a:t>
            </a:r>
            <a:r>
              <a:rPr lang="en-US" sz="1000" dirty="0">
                <a:cs typeface="Times New Roman" panose="02020603050405020304" pitchFamily="18" charset="0"/>
              </a:rPr>
              <a:t>: Utilizing methods like ANOVA and pairwise t-tests, I've pinpointed significant predictors such as season and windspeed that exhibit notable associations with bike rental counts.</a:t>
            </a:r>
          </a:p>
          <a:p>
            <a:pPr marL="0" indent="0" eaLnBrk="0" fontAlgn="base" hangingPunct="0">
              <a:spcBef>
                <a:spcPct val="0"/>
              </a:spcBef>
              <a:spcAft>
                <a:spcPts val="600"/>
              </a:spcAft>
              <a:buNone/>
            </a:pPr>
            <a:endParaRPr lang="en-US" sz="1000" dirty="0">
              <a:cs typeface="Times New Roman" panose="02020603050405020304" pitchFamily="18" charset="0"/>
            </a:endParaRPr>
          </a:p>
          <a:p>
            <a:pPr marL="0" indent="0" eaLnBrk="0" fontAlgn="base" hangingPunct="0">
              <a:spcBef>
                <a:spcPct val="0"/>
              </a:spcBef>
              <a:spcAft>
                <a:spcPts val="600"/>
              </a:spcAft>
              <a:buNone/>
            </a:pPr>
            <a:r>
              <a:rPr lang="en-US" sz="1000" b="1" i="1" dirty="0">
                <a:cs typeface="Times New Roman" panose="02020603050405020304" pitchFamily="18" charset="0"/>
              </a:rPr>
              <a:t>Consideration of Predictor Diversity</a:t>
            </a:r>
            <a:r>
              <a:rPr lang="en-US" sz="1000" dirty="0">
                <a:cs typeface="Times New Roman" panose="02020603050405020304" pitchFamily="18" charset="0"/>
              </a:rPr>
              <a:t>: Given the diverse nature of predictors, encompassing both quantitative (e.g., windspeed) and categorical (e.g., season) variables, multiple linear regression emerges as a suitable choice.</a:t>
            </a:r>
          </a:p>
          <a:p>
            <a:pPr marL="0" indent="0" eaLnBrk="0" fontAlgn="base" hangingPunct="0">
              <a:spcBef>
                <a:spcPct val="0"/>
              </a:spcBef>
              <a:spcAft>
                <a:spcPts val="600"/>
              </a:spcAft>
              <a:buNone/>
            </a:pPr>
            <a:endParaRPr lang="en-US" sz="1000" b="1" dirty="0">
              <a:cs typeface="Times New Roman" panose="02020603050405020304" pitchFamily="18" charset="0"/>
            </a:endParaRPr>
          </a:p>
          <a:p>
            <a:pPr marL="0" indent="0" eaLnBrk="0" fontAlgn="base" hangingPunct="0">
              <a:spcBef>
                <a:spcPct val="0"/>
              </a:spcBef>
              <a:spcAft>
                <a:spcPts val="600"/>
              </a:spcAft>
              <a:buNone/>
            </a:pPr>
            <a:r>
              <a:rPr lang="en-US" sz="1000" b="1" i="1" dirty="0">
                <a:cs typeface="Times New Roman" panose="02020603050405020304" pitchFamily="18" charset="0"/>
              </a:rPr>
              <a:t>Incorporating Multiple Predictors Simultaneously</a:t>
            </a:r>
            <a:r>
              <a:rPr lang="en-US" sz="1000" dirty="0">
                <a:cs typeface="Times New Roman" panose="02020603050405020304" pitchFamily="18" charset="0"/>
              </a:rPr>
              <a:t>: Multiple linear regression allows for the simultaneous inclusion of multiple predictors in the model, facilitating an encompassing examination of their combined influence on bike rental counts.</a:t>
            </a:r>
          </a:p>
          <a:p>
            <a:pPr marL="0" indent="0" eaLnBrk="0" fontAlgn="base" hangingPunct="0">
              <a:spcBef>
                <a:spcPct val="0"/>
              </a:spcBef>
              <a:spcAft>
                <a:spcPts val="600"/>
              </a:spcAft>
              <a:buNone/>
            </a:pPr>
            <a:endParaRPr lang="en-US" sz="1000" b="1" dirty="0">
              <a:cs typeface="Times New Roman" panose="02020603050405020304" pitchFamily="18" charset="0"/>
            </a:endParaRPr>
          </a:p>
          <a:p>
            <a:pPr marL="0" indent="0" eaLnBrk="0" fontAlgn="base" hangingPunct="0">
              <a:spcBef>
                <a:spcPct val="0"/>
              </a:spcBef>
              <a:spcAft>
                <a:spcPts val="600"/>
              </a:spcAft>
              <a:buNone/>
            </a:pPr>
            <a:r>
              <a:rPr lang="en-US" sz="1000" b="1" i="1" dirty="0">
                <a:cs typeface="Times New Roman" panose="02020603050405020304" pitchFamily="18" charset="0"/>
              </a:rPr>
              <a:t>Assessment of Individual Significance</a:t>
            </a:r>
            <a:r>
              <a:rPr lang="en-US" sz="1000" dirty="0">
                <a:cs typeface="Times New Roman" panose="02020603050405020304" pitchFamily="18" charset="0"/>
              </a:rPr>
              <a:t>: With multiple linear regression, I can assess the individual significance of each predictor while controlling for others, enabling a comprehensive understanding of their impact on bike rental counts.</a:t>
            </a:r>
          </a:p>
          <a:p>
            <a:pPr marL="0" indent="0" eaLnBrk="0" fontAlgn="base" hangingPunct="0">
              <a:spcBef>
                <a:spcPct val="0"/>
              </a:spcBef>
              <a:spcAft>
                <a:spcPts val="600"/>
              </a:spcAft>
              <a:buNone/>
            </a:pPr>
            <a:endParaRPr lang="en-US" sz="1000" dirty="0">
              <a:cs typeface="Times New Roman" panose="02020603050405020304" pitchFamily="18" charset="0"/>
            </a:endParaRPr>
          </a:p>
          <a:p>
            <a:pPr marL="0" indent="0" eaLnBrk="0" fontAlgn="base" hangingPunct="0">
              <a:spcBef>
                <a:spcPct val="0"/>
              </a:spcBef>
              <a:spcAft>
                <a:spcPts val="600"/>
              </a:spcAft>
              <a:buNone/>
            </a:pPr>
            <a:r>
              <a:rPr lang="en-US" sz="1000" b="1" i="1" dirty="0">
                <a:cs typeface="Times New Roman" panose="02020603050405020304" pitchFamily="18" charset="0"/>
              </a:rPr>
              <a:t>Interpretability of Model Coefficients</a:t>
            </a:r>
            <a:r>
              <a:rPr lang="en-US" sz="1000" dirty="0">
                <a:cs typeface="Times New Roman" panose="02020603050405020304" pitchFamily="18" charset="0"/>
              </a:rPr>
              <a:t>: The model coefficients provided by multiple linear regression offer interpretable insights into the direction and magnitude of each predictor's effect on bike rental counts.</a:t>
            </a:r>
          </a:p>
          <a:p>
            <a:pPr marL="0" indent="0" eaLnBrk="0" fontAlgn="base" hangingPunct="0">
              <a:spcBef>
                <a:spcPct val="0"/>
              </a:spcBef>
              <a:spcAft>
                <a:spcPts val="600"/>
              </a:spcAft>
              <a:buNone/>
            </a:pPr>
            <a:endParaRPr lang="en-US" sz="1000" dirty="0">
              <a:cs typeface="Times New Roman" panose="02020603050405020304" pitchFamily="18" charset="0"/>
            </a:endParaRPr>
          </a:p>
          <a:p>
            <a:pPr marL="0" indent="0" eaLnBrk="0" fontAlgn="base" hangingPunct="0">
              <a:spcBef>
                <a:spcPct val="0"/>
              </a:spcBef>
              <a:spcAft>
                <a:spcPts val="600"/>
              </a:spcAft>
              <a:buNone/>
            </a:pPr>
            <a:r>
              <a:rPr lang="en-US" sz="1000" b="1" i="1" dirty="0">
                <a:cs typeface="Times New Roman" panose="02020603050405020304" pitchFamily="18" charset="0"/>
              </a:rPr>
              <a:t>Performance Evaluation</a:t>
            </a:r>
            <a:r>
              <a:rPr lang="en-US" sz="1000" dirty="0">
                <a:cs typeface="Times New Roman" panose="02020603050405020304" pitchFamily="18" charset="0"/>
              </a:rPr>
              <a:t>: Through metrics like R-squared and residual analysis, I can evaluate the model's performance, gaining insights into its ability to capture the variability in bike rental counts effectively.</a:t>
            </a:r>
          </a:p>
          <a:p>
            <a:pPr marL="0" indent="0" eaLnBrk="0" fontAlgn="base" hangingPunct="0">
              <a:spcBef>
                <a:spcPct val="0"/>
              </a:spcBef>
              <a:spcAft>
                <a:spcPts val="600"/>
              </a:spcAft>
              <a:buNone/>
            </a:pPr>
            <a:endParaRPr lang="en-US" sz="1000" b="1" i="1" dirty="0">
              <a:cs typeface="Times New Roman" panose="02020603050405020304" pitchFamily="18" charset="0"/>
            </a:endParaRPr>
          </a:p>
          <a:p>
            <a:pPr marL="0" indent="0" eaLnBrk="0" fontAlgn="base" hangingPunct="0">
              <a:spcBef>
                <a:spcPct val="0"/>
              </a:spcBef>
              <a:spcAft>
                <a:spcPts val="600"/>
              </a:spcAft>
              <a:buNone/>
            </a:pPr>
            <a:r>
              <a:rPr lang="en-US" sz="1000" b="1" i="1" dirty="0">
                <a:cs typeface="Times New Roman" panose="02020603050405020304" pitchFamily="18" charset="0"/>
              </a:rPr>
              <a:t>Alignment with Dataset Complexity</a:t>
            </a:r>
            <a:r>
              <a:rPr lang="en-US" sz="1000" dirty="0">
                <a:cs typeface="Times New Roman" panose="02020603050405020304" pitchFamily="18" charset="0"/>
              </a:rPr>
              <a:t>: Multiple linear regression aligns well with the complexity of our dataset and analysis, offering a robust framework for building a predictive model that accounts for various predictors' influences on bike rental counts</a:t>
            </a:r>
            <a:r>
              <a:rPr lang="en-US" sz="1000" b="1" dirty="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30</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sp>
        <p:nvSpPr>
          <p:cNvPr id="3" name="Rectangle 2">
            <a:extLst>
              <a:ext uri="{FF2B5EF4-FFF2-40B4-BE49-F238E27FC236}">
                <a16:creationId xmlns:a16="http://schemas.microsoft.com/office/drawing/2014/main" id="{0D52B4C9-886B-55B0-FA4C-2F63598B94E8}"/>
              </a:ext>
            </a:extLst>
          </p:cNvPr>
          <p:cNvSpPr txBox="1">
            <a:spLocks noChangeArrowheads="1"/>
          </p:cNvSpPr>
          <p:nvPr/>
        </p:nvSpPr>
        <p:spPr bwMode="auto">
          <a:xfrm>
            <a:off x="6710362" y="1546224"/>
            <a:ext cx="1566678" cy="51316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spc="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spc="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spc="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spc="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Font typeface="Arial" panose="020B0604020202020204" pitchFamily="34" charset="0"/>
              <a:buNone/>
            </a:pPr>
            <a:r>
              <a:rPr lang="en-US" sz="1000" b="1" dirty="0">
                <a:cs typeface="Times New Roman" panose="02020603050405020304" pitchFamily="18" charset="0"/>
              </a:rPr>
              <a:t>Model Coefficients: 	</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Intercept     1.454732e-12	</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season       -4.651418e-13</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yr</a:t>
            </a:r>
            <a:r>
              <a:rPr lang="en-US" sz="1000" dirty="0">
                <a:cs typeface="Times New Roman" panose="02020603050405020304" pitchFamily="18" charset="0"/>
              </a:rPr>
              <a:t>            2.004646e-14</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mnth</a:t>
            </a:r>
            <a:r>
              <a:rPr lang="en-US" sz="1000" dirty="0">
                <a:cs typeface="Times New Roman" panose="02020603050405020304" pitchFamily="18" charset="0"/>
              </a:rPr>
              <a:t>         -4.825307e-14</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hr</a:t>
            </a:r>
            <a:r>
              <a:rPr lang="en-US" sz="1000" dirty="0">
                <a:cs typeface="Times New Roman" panose="02020603050405020304" pitchFamily="18" charset="0"/>
              </a:rPr>
              <a:t>           -1.448277e-14</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holiday      -9.259954e-15</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weekday      -2.267370e-14</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workingday</a:t>
            </a:r>
            <a:r>
              <a:rPr lang="en-US" sz="1000" dirty="0">
                <a:cs typeface="Times New Roman" panose="02020603050405020304" pitchFamily="18" charset="0"/>
              </a:rPr>
              <a:t>   -5.544176e-14</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weathersit</a:t>
            </a:r>
            <a:r>
              <a:rPr lang="en-US" sz="1000" dirty="0">
                <a:cs typeface="Times New Roman" panose="02020603050405020304" pitchFamily="18" charset="0"/>
              </a:rPr>
              <a:t>    4.791653e-14</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temp         -1.349528e-13</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atemp</a:t>
            </a:r>
            <a:r>
              <a:rPr lang="en-US" sz="1000" dirty="0">
                <a:cs typeface="Times New Roman" panose="02020603050405020304" pitchFamily="18" charset="0"/>
              </a:rPr>
              <a:t>        -1.504699e-13</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hum           1.814521e-15</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windspeed     4.968248e-14</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casual        1.000000e+00</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registered    1.000000e+00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dtype</a:t>
            </a:r>
            <a:r>
              <a:rPr lang="en-US" sz="1000" dirty="0">
                <a:cs typeface="Times New Roman" panose="02020603050405020304" pitchFamily="18" charset="0"/>
              </a:rPr>
              <a:t>: float64</a:t>
            </a:r>
          </a:p>
        </p:txBody>
      </p:sp>
      <p:sp>
        <p:nvSpPr>
          <p:cNvPr id="7" name="Rectangle 2">
            <a:extLst>
              <a:ext uri="{FF2B5EF4-FFF2-40B4-BE49-F238E27FC236}">
                <a16:creationId xmlns:a16="http://schemas.microsoft.com/office/drawing/2014/main" id="{1EE68CD3-BF94-0738-C17D-7601AB6FA9EA}"/>
              </a:ext>
            </a:extLst>
          </p:cNvPr>
          <p:cNvSpPr txBox="1">
            <a:spLocks noChangeArrowheads="1"/>
          </p:cNvSpPr>
          <p:nvPr/>
        </p:nvSpPr>
        <p:spPr bwMode="auto">
          <a:xfrm>
            <a:off x="8620599" y="1546222"/>
            <a:ext cx="1566678" cy="51316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spc="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spc="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spc="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spc="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Font typeface="Arial" panose="020B0604020202020204" pitchFamily="34" charset="0"/>
              <a:buNone/>
            </a:pPr>
            <a:r>
              <a:rPr lang="en-US" sz="1000" b="1" dirty="0">
                <a:cs typeface="Times New Roman" panose="02020603050405020304" pitchFamily="18" charset="0"/>
              </a:rPr>
              <a:t>T-values: 	</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Intercept     2.850060e+01</a:t>
            </a:r>
          </a:p>
          <a:p>
            <a:pPr marL="0" indent="0" eaLnBrk="0" fontAlgn="base" hangingPunct="0">
              <a:spcBef>
                <a:spcPct val="0"/>
              </a:spcBef>
              <a:spcAft>
                <a:spcPts val="600"/>
              </a:spcAft>
              <a:buFont typeface="Arial" panose="020B0604020202020204" pitchFamily="34" charset="0"/>
              <a:buNone/>
            </a:pPr>
            <a:endParaRPr lang="en-US" sz="1000" dirty="0">
              <a:cs typeface="Times New Roman" panose="02020603050405020304" pitchFamily="18" charset="0"/>
            </a:endParaRP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season       -3.549184e+01</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yr</a:t>
            </a:r>
            <a:r>
              <a:rPr lang="en-US" sz="1000" dirty="0">
                <a:cs typeface="Times New Roman" panose="02020603050405020304" pitchFamily="18" charset="0"/>
              </a:rPr>
              <a:t>            1.240215e+00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mnth</a:t>
            </a:r>
            <a:r>
              <a:rPr lang="en-US" sz="1000" dirty="0">
                <a:cs typeface="Times New Roman" panose="02020603050405020304" pitchFamily="18" charset="0"/>
              </a:rPr>
              <a:t>         -1.185247e+01</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hr</a:t>
            </a:r>
            <a:r>
              <a:rPr lang="en-US" sz="1000" dirty="0">
                <a:cs typeface="Times New Roman" panose="02020603050405020304" pitchFamily="18" charset="0"/>
              </a:rPr>
              <a:t>           -1.153665e+01</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holiday      -1.924404e-01</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weekday      -5.835982e+00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workingday</a:t>
            </a:r>
            <a:r>
              <a:rPr lang="en-US" sz="1000" dirty="0">
                <a:cs typeface="Times New Roman" panose="02020603050405020304" pitchFamily="18" charset="0"/>
              </a:rPr>
              <a:t>   -2.819044e+00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weathersit</a:t>
            </a:r>
            <a:r>
              <a:rPr lang="en-US" sz="1000" dirty="0">
                <a:cs typeface="Times New Roman" panose="02020603050405020304" pitchFamily="18" charset="0"/>
              </a:rPr>
              <a:t>    3.500311e+00</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temp         -5.082202e-01</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atemp</a:t>
            </a:r>
            <a:r>
              <a:rPr lang="en-US" sz="1000" dirty="0">
                <a:cs typeface="Times New Roman" panose="02020603050405020304" pitchFamily="18" charset="0"/>
              </a:rPr>
              <a:t>        -5.042981e-01</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hum           3.510826e-02</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windspeed     7.183875e-01</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casual        4.322100e+15</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registered    1.466219e+16</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dtype</a:t>
            </a:r>
            <a:r>
              <a:rPr lang="en-US" sz="1000" dirty="0">
                <a:cs typeface="Times New Roman" panose="02020603050405020304" pitchFamily="18" charset="0"/>
              </a:rPr>
              <a:t>: float64,</a:t>
            </a:r>
          </a:p>
        </p:txBody>
      </p:sp>
      <p:sp>
        <p:nvSpPr>
          <p:cNvPr id="10" name="Rectangle 2">
            <a:extLst>
              <a:ext uri="{FF2B5EF4-FFF2-40B4-BE49-F238E27FC236}">
                <a16:creationId xmlns:a16="http://schemas.microsoft.com/office/drawing/2014/main" id="{471E29FA-77DD-AC2D-D3B3-707106213466}"/>
              </a:ext>
            </a:extLst>
          </p:cNvPr>
          <p:cNvSpPr txBox="1">
            <a:spLocks noChangeArrowheads="1"/>
          </p:cNvSpPr>
          <p:nvPr/>
        </p:nvSpPr>
        <p:spPr bwMode="auto">
          <a:xfrm>
            <a:off x="10530837" y="1546223"/>
            <a:ext cx="1566678" cy="51316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spc="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spc="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spc="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spc="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Font typeface="Arial" panose="020B0604020202020204" pitchFamily="34" charset="0"/>
              <a:buNone/>
            </a:pPr>
            <a:r>
              <a:rPr lang="en-US" sz="1000" b="1" dirty="0">
                <a:cs typeface="Times New Roman" panose="02020603050405020304" pitchFamily="18" charset="0"/>
              </a:rPr>
              <a:t>P-values: 	</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Intercept     0.00000</a:t>
            </a:r>
          </a:p>
          <a:p>
            <a:pPr marL="0" indent="0" eaLnBrk="0" fontAlgn="base" hangingPunct="0">
              <a:spcBef>
                <a:spcPct val="0"/>
              </a:spcBef>
              <a:spcAft>
                <a:spcPts val="600"/>
              </a:spcAft>
              <a:buFont typeface="Arial" panose="020B0604020202020204" pitchFamily="34" charset="0"/>
              <a:buNone/>
            </a:pPr>
            <a:endParaRPr lang="en-US" sz="1000" dirty="0">
              <a:cs typeface="Times New Roman" panose="02020603050405020304" pitchFamily="18" charset="0"/>
            </a:endParaRP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season        0.00000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yr</a:t>
            </a:r>
            <a:r>
              <a:rPr lang="en-US" sz="1000" dirty="0">
                <a:cs typeface="Times New Roman" panose="02020603050405020304" pitchFamily="18" charset="0"/>
              </a:rPr>
              <a:t>            0.21491</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mnth</a:t>
            </a:r>
            <a:r>
              <a:rPr lang="en-US" sz="1000" dirty="0">
                <a:cs typeface="Times New Roman" panose="02020603050405020304" pitchFamily="18" charset="0"/>
              </a:rPr>
              <a:t>          0.00000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hr</a:t>
            </a:r>
            <a:r>
              <a:rPr lang="en-US" sz="1000" dirty="0">
                <a:cs typeface="Times New Roman" panose="02020603050405020304" pitchFamily="18" charset="0"/>
              </a:rPr>
              <a:t>            0.00000</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holiday       0.84740</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weekday       0.00000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workingday</a:t>
            </a:r>
            <a:r>
              <a:rPr lang="en-US" sz="1000" dirty="0">
                <a:cs typeface="Times New Roman" panose="02020603050405020304" pitchFamily="18" charset="0"/>
              </a:rPr>
              <a:t>    0.00482</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weathersit</a:t>
            </a:r>
            <a:r>
              <a:rPr lang="en-US" sz="1000" dirty="0">
                <a:cs typeface="Times New Roman" panose="02020603050405020304" pitchFamily="18" charset="0"/>
              </a:rPr>
              <a:t>    0.00047</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temp          0.61131</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atemp</a:t>
            </a:r>
            <a:r>
              <a:rPr lang="en-US" sz="1000" dirty="0">
                <a:cs typeface="Times New Roman" panose="02020603050405020304" pitchFamily="18" charset="0"/>
              </a:rPr>
              <a:t>         0.61406</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hum           0.97199</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windspeed     0.47253</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casual        0.00000 </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registered    0.00000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dtype</a:t>
            </a:r>
            <a:r>
              <a:rPr lang="en-US" sz="1000" dirty="0">
                <a:cs typeface="Times New Roman" panose="02020603050405020304" pitchFamily="18" charset="0"/>
              </a:rPr>
              <a:t>: float64)</a:t>
            </a:r>
          </a:p>
        </p:txBody>
      </p:sp>
    </p:spTree>
    <p:extLst>
      <p:ext uri="{BB962C8B-B14F-4D97-AF65-F5344CB8AC3E}">
        <p14:creationId xmlns:p14="http://schemas.microsoft.com/office/powerpoint/2010/main" val="1289222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009649" y="631824"/>
            <a:ext cx="11401426" cy="914400"/>
          </a:xfrm>
        </p:spPr>
        <p:txBody>
          <a:bodyPr anchor="ctr">
            <a:normAutofit/>
          </a:bodyPr>
          <a:lstStyle/>
          <a:p>
            <a:r>
              <a:rPr lang="en-US" dirty="0"/>
              <a:t>multiple linear regression</a:t>
            </a:r>
            <a:endParaRPr lang="en-IN" dirty="0"/>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31</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sp>
        <p:nvSpPr>
          <p:cNvPr id="12" name="Rectangle 1">
            <a:extLst>
              <a:ext uri="{FF2B5EF4-FFF2-40B4-BE49-F238E27FC236}">
                <a16:creationId xmlns:a16="http://schemas.microsoft.com/office/drawing/2014/main" id="{5D7BB453-F2A9-959B-BDA8-BA2983603E98}"/>
              </a:ext>
            </a:extLst>
          </p:cNvPr>
          <p:cNvSpPr>
            <a:spLocks noChangeArrowheads="1"/>
          </p:cNvSpPr>
          <p:nvPr/>
        </p:nvSpPr>
        <p:spPr bwMode="auto">
          <a:xfrm>
            <a:off x="1295400" y="33305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42A2656C-DCC3-DBC8-F3BC-DFEA3E122B0A}"/>
              </a:ext>
            </a:extLst>
          </p:cNvPr>
          <p:cNvPicPr>
            <a:picLocks noChangeAspect="1"/>
          </p:cNvPicPr>
          <p:nvPr/>
        </p:nvPicPr>
        <p:blipFill>
          <a:blip r:embed="rId3"/>
          <a:stretch>
            <a:fillRect/>
          </a:stretch>
        </p:blipFill>
        <p:spPr>
          <a:xfrm>
            <a:off x="7998691" y="1546224"/>
            <a:ext cx="3953165" cy="4793670"/>
          </a:xfrm>
          <a:prstGeom prst="rect">
            <a:avLst/>
          </a:prstGeom>
          <a:ln>
            <a:solidFill>
              <a:schemeClr val="tx1"/>
            </a:solidFill>
          </a:ln>
        </p:spPr>
      </p:pic>
      <p:sp>
        <p:nvSpPr>
          <p:cNvPr id="10" name="Rectangle 2">
            <a:extLst>
              <a:ext uri="{FF2B5EF4-FFF2-40B4-BE49-F238E27FC236}">
                <a16:creationId xmlns:a16="http://schemas.microsoft.com/office/drawing/2014/main" id="{93402DD7-440C-346E-D6CC-A7C6540BAE4D}"/>
              </a:ext>
            </a:extLst>
          </p:cNvPr>
          <p:cNvSpPr>
            <a:spLocks noGrp="1" noChangeArrowheads="1"/>
          </p:cNvSpPr>
          <p:nvPr>
            <p:ph idx="1"/>
          </p:nvPr>
        </p:nvSpPr>
        <p:spPr bwMode="auto">
          <a:xfrm>
            <a:off x="877824" y="1546224"/>
            <a:ext cx="6986996" cy="513166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85000" lnSpcReduction="20000"/>
          </a:bodyPr>
          <a:lstStyle/>
          <a:p>
            <a:pPr marL="0" indent="0" eaLnBrk="0" fontAlgn="base" hangingPunct="0">
              <a:spcBef>
                <a:spcPct val="0"/>
              </a:spcBef>
              <a:spcAft>
                <a:spcPts val="600"/>
              </a:spcAft>
              <a:buNone/>
            </a:pPr>
            <a:r>
              <a:rPr lang="en-US" sz="1000" b="1" dirty="0">
                <a:cs typeface="Times New Roman" panose="02020603050405020304" pitchFamily="18" charset="0"/>
              </a:rPr>
              <a:t>Ordinary Least Squares </a:t>
            </a:r>
            <a:r>
              <a:rPr lang="en-US" sz="1000" dirty="0">
                <a:cs typeface="Times New Roman" panose="02020603050405020304" pitchFamily="18" charset="0"/>
              </a:rPr>
              <a:t>(OLS) regression analysis conducted on the dataset .</a:t>
            </a:r>
          </a:p>
          <a:p>
            <a:pPr marL="0" indent="0" eaLnBrk="0" fontAlgn="base" hangingPunct="0">
              <a:spcBef>
                <a:spcPct val="0"/>
              </a:spcBef>
              <a:spcAft>
                <a:spcPts val="600"/>
              </a:spcAft>
              <a:buNone/>
            </a:pPr>
            <a:r>
              <a:rPr lang="en-US" sz="1000" b="1" dirty="0">
                <a:cs typeface="Times New Roman" panose="02020603050405020304" pitchFamily="18" charset="0"/>
              </a:rPr>
              <a:t>Dependent Variable:</a:t>
            </a:r>
          </a:p>
          <a:p>
            <a:pPr marL="0" indent="0" eaLnBrk="0" fontAlgn="base" hangingPunct="0">
              <a:spcBef>
                <a:spcPct val="0"/>
              </a:spcBef>
              <a:spcAft>
                <a:spcPts val="600"/>
              </a:spcAft>
              <a:buNone/>
            </a:pPr>
            <a:r>
              <a:rPr lang="en-US" sz="1000" dirty="0">
                <a:cs typeface="Times New Roman" panose="02020603050405020304" pitchFamily="18" charset="0"/>
              </a:rPr>
              <a:t>   - The dependent variable in the regression analysis is '</a:t>
            </a:r>
            <a:r>
              <a:rPr lang="en-US" sz="1000" dirty="0" err="1">
                <a:cs typeface="Times New Roman" panose="02020603050405020304" pitchFamily="18" charset="0"/>
              </a:rPr>
              <a:t>cnt</a:t>
            </a:r>
            <a:r>
              <a:rPr lang="en-US" sz="1000" dirty="0">
                <a:cs typeface="Times New Roman" panose="02020603050405020304" pitchFamily="18" charset="0"/>
              </a:rPr>
              <a:t>,' representing the total count of bike rentals.</a:t>
            </a:r>
          </a:p>
          <a:p>
            <a:pPr marL="0" indent="0" eaLnBrk="0" fontAlgn="base" hangingPunct="0">
              <a:spcBef>
                <a:spcPct val="0"/>
              </a:spcBef>
              <a:spcAft>
                <a:spcPts val="600"/>
              </a:spcAft>
              <a:buNone/>
            </a:pPr>
            <a:r>
              <a:rPr lang="en-US" sz="1000" b="1" dirty="0">
                <a:cs typeface="Times New Roman" panose="02020603050405020304" pitchFamily="18" charset="0"/>
              </a:rPr>
              <a:t>Model Information:</a:t>
            </a:r>
          </a:p>
          <a:p>
            <a:pPr marL="0" indent="0" eaLnBrk="0" fontAlgn="base" hangingPunct="0">
              <a:spcBef>
                <a:spcPct val="0"/>
              </a:spcBef>
              <a:spcAft>
                <a:spcPts val="600"/>
              </a:spcAft>
              <a:buNone/>
            </a:pPr>
            <a:r>
              <a:rPr lang="en-US" sz="1000" b="1" dirty="0">
                <a:cs typeface="Times New Roman" panose="02020603050405020304" pitchFamily="18" charset="0"/>
              </a:rPr>
              <a:t>R-squared</a:t>
            </a:r>
            <a:r>
              <a:rPr lang="en-US" sz="1000" dirty="0">
                <a:cs typeface="Times New Roman" panose="02020603050405020304" pitchFamily="18" charset="0"/>
              </a:rPr>
              <a:t>: The coefficient of determination, indicating the proportion of variance in the dependent variable that is explained by the independent variables. Here, R-squared is 1.000, indicating that the model explains 100% of the variance in bike rental counts.</a:t>
            </a:r>
          </a:p>
          <a:p>
            <a:pPr marL="0" indent="0" eaLnBrk="0" fontAlgn="base" hangingPunct="0">
              <a:spcBef>
                <a:spcPct val="0"/>
              </a:spcBef>
              <a:spcAft>
                <a:spcPts val="600"/>
              </a:spcAft>
              <a:buNone/>
            </a:pPr>
            <a:r>
              <a:rPr lang="en-US" sz="1000" b="1" dirty="0">
                <a:cs typeface="Times New Roman" panose="02020603050405020304" pitchFamily="18" charset="0"/>
              </a:rPr>
              <a:t>Adj. R-squared</a:t>
            </a:r>
            <a:r>
              <a:rPr lang="en-US" sz="1000" dirty="0">
                <a:cs typeface="Times New Roman" panose="02020603050405020304" pitchFamily="18" charset="0"/>
              </a:rPr>
              <a:t>: The adjusted R-squared, which adjusts for the number of predictors in the model. Also 1.000, indicating a perfect fit.</a:t>
            </a:r>
          </a:p>
          <a:p>
            <a:pPr marL="0" indent="0" eaLnBrk="0" fontAlgn="base" hangingPunct="0">
              <a:spcBef>
                <a:spcPct val="0"/>
              </a:spcBef>
              <a:spcAft>
                <a:spcPts val="600"/>
              </a:spcAft>
              <a:buNone/>
            </a:pPr>
            <a:r>
              <a:rPr lang="en-US" sz="1000" b="1" dirty="0">
                <a:cs typeface="Times New Roman" panose="02020603050405020304" pitchFamily="18" charset="0"/>
              </a:rPr>
              <a:t>F-statistic and Prob</a:t>
            </a:r>
            <a:r>
              <a:rPr lang="en-US" sz="1000" dirty="0">
                <a:cs typeface="Times New Roman" panose="02020603050405020304" pitchFamily="18" charset="0"/>
              </a:rPr>
              <a:t>: The F-statistic tests the overall significance of the regression model. With an extremely large F-statistic (3.939e+31) and a p-value of 0.00, the model is highly significant.</a:t>
            </a:r>
          </a:p>
          <a:p>
            <a:pPr marL="0" indent="0" eaLnBrk="0" fontAlgn="base" hangingPunct="0">
              <a:spcBef>
                <a:spcPct val="0"/>
              </a:spcBef>
              <a:spcAft>
                <a:spcPts val="600"/>
              </a:spcAft>
              <a:buNone/>
            </a:pPr>
            <a:r>
              <a:rPr lang="en-US" sz="1000" b="1" dirty="0">
                <a:cs typeface="Times New Roman" panose="02020603050405020304" pitchFamily="18" charset="0"/>
              </a:rPr>
              <a:t>Coefficients</a:t>
            </a:r>
          </a:p>
          <a:p>
            <a:pPr marL="0" indent="0" eaLnBrk="0" fontAlgn="base" hangingPunct="0">
              <a:spcBef>
                <a:spcPct val="0"/>
              </a:spcBef>
              <a:spcAft>
                <a:spcPts val="600"/>
              </a:spcAft>
              <a:buNone/>
            </a:pPr>
            <a:r>
              <a:rPr lang="en-US" sz="1000" dirty="0">
                <a:cs typeface="Times New Roman" panose="02020603050405020304" pitchFamily="18" charset="0"/>
              </a:rPr>
              <a:t>   - The table provides the estimated coefficients (</a:t>
            </a:r>
            <a:r>
              <a:rPr lang="en-US" sz="1000" dirty="0" err="1">
                <a:cs typeface="Times New Roman" panose="02020603050405020304" pitchFamily="18" charset="0"/>
              </a:rPr>
              <a:t>coef</a:t>
            </a:r>
            <a:r>
              <a:rPr lang="en-US" sz="1000" dirty="0">
                <a:cs typeface="Times New Roman" panose="02020603050405020304" pitchFamily="18" charset="0"/>
              </a:rPr>
              <a:t>) for each predictor variable.</a:t>
            </a:r>
          </a:p>
          <a:p>
            <a:pPr marL="0" indent="0" eaLnBrk="0" fontAlgn="base" hangingPunct="0">
              <a:spcBef>
                <a:spcPct val="0"/>
              </a:spcBef>
              <a:spcAft>
                <a:spcPts val="600"/>
              </a:spcAft>
              <a:buNone/>
            </a:pPr>
            <a:r>
              <a:rPr lang="en-US" sz="1000" dirty="0">
                <a:cs typeface="Times New Roman" panose="02020603050405020304" pitchFamily="18" charset="0"/>
              </a:rPr>
              <a:t>   - std err: Standard error of the coefficient estimates.</a:t>
            </a:r>
          </a:p>
          <a:p>
            <a:pPr marL="0" indent="0" eaLnBrk="0" fontAlgn="base" hangingPunct="0">
              <a:spcBef>
                <a:spcPct val="0"/>
              </a:spcBef>
              <a:spcAft>
                <a:spcPts val="600"/>
              </a:spcAft>
              <a:buNone/>
            </a:pPr>
            <a:r>
              <a:rPr lang="en-US" sz="1000" dirty="0">
                <a:cs typeface="Times New Roman" panose="02020603050405020304" pitchFamily="18" charset="0"/>
              </a:rPr>
              <a:t>   - t-value: The t-statistic measures the significance of each coefficient. A larger absolute t-value indicates greater significance.</a:t>
            </a:r>
          </a:p>
          <a:p>
            <a:pPr marL="0" indent="0" eaLnBrk="0" fontAlgn="base" hangingPunct="0">
              <a:spcBef>
                <a:spcPct val="0"/>
              </a:spcBef>
              <a:spcAft>
                <a:spcPts val="600"/>
              </a:spcAft>
              <a:buNone/>
            </a:pPr>
            <a:r>
              <a:rPr lang="en-US" sz="1000" dirty="0">
                <a:cs typeface="Times New Roman" panose="02020603050405020304" pitchFamily="18" charset="0"/>
              </a:rPr>
              <a:t>   - P&gt;|t|: The p-value associated with each coefficient. Smaller p-values indicate greater significance.</a:t>
            </a:r>
          </a:p>
          <a:p>
            <a:pPr marL="0" indent="0" eaLnBrk="0" fontAlgn="base" hangingPunct="0">
              <a:spcBef>
                <a:spcPct val="0"/>
              </a:spcBef>
              <a:spcAft>
                <a:spcPts val="600"/>
              </a:spcAft>
              <a:buNone/>
            </a:pPr>
            <a:r>
              <a:rPr lang="en-US" sz="1000" dirty="0">
                <a:cs typeface="Times New Roman" panose="02020603050405020304" pitchFamily="18" charset="0"/>
              </a:rPr>
              <a:t>   -[0.025, 0.975]: The 95% confidence interval for each coefficient.</a:t>
            </a:r>
          </a:p>
          <a:p>
            <a:pPr marL="0" indent="0" eaLnBrk="0" fontAlgn="base" hangingPunct="0">
              <a:spcBef>
                <a:spcPct val="0"/>
              </a:spcBef>
              <a:spcAft>
                <a:spcPts val="600"/>
              </a:spcAft>
              <a:buNone/>
            </a:pPr>
            <a:endParaRPr lang="en-US" sz="1000" dirty="0">
              <a:cs typeface="Times New Roman" panose="02020603050405020304" pitchFamily="18" charset="0"/>
            </a:endParaRPr>
          </a:p>
          <a:p>
            <a:pPr marL="0" indent="0" eaLnBrk="0" fontAlgn="base" hangingPunct="0">
              <a:spcBef>
                <a:spcPct val="0"/>
              </a:spcBef>
              <a:spcAft>
                <a:spcPts val="600"/>
              </a:spcAft>
              <a:buNone/>
            </a:pPr>
            <a:r>
              <a:rPr lang="en-US" sz="1000" b="1" dirty="0">
                <a:cs typeface="Times New Roman" panose="02020603050405020304" pitchFamily="18" charset="0"/>
              </a:rPr>
              <a:t>Method: </a:t>
            </a:r>
            <a:r>
              <a:rPr lang="en-US" sz="1000" dirty="0">
                <a:cs typeface="Times New Roman" panose="02020603050405020304" pitchFamily="18" charset="0"/>
              </a:rPr>
              <a:t>Least Squares method used for parameter estimation.</a:t>
            </a:r>
          </a:p>
          <a:p>
            <a:pPr marL="0" indent="0" eaLnBrk="0" fontAlgn="base" hangingPunct="0">
              <a:spcBef>
                <a:spcPct val="0"/>
              </a:spcBef>
              <a:spcAft>
                <a:spcPts val="600"/>
              </a:spcAft>
              <a:buNone/>
            </a:pPr>
            <a:r>
              <a:rPr lang="en-US" sz="1000" b="1" dirty="0">
                <a:cs typeface="Times New Roman" panose="02020603050405020304" pitchFamily="18" charset="0"/>
              </a:rPr>
              <a:t>No. Observations</a:t>
            </a:r>
            <a:r>
              <a:rPr lang="en-US" sz="1000" dirty="0">
                <a:cs typeface="Times New Roman" panose="02020603050405020304" pitchFamily="18" charset="0"/>
              </a:rPr>
              <a:t>: Number of observations in the dataset.</a:t>
            </a:r>
          </a:p>
          <a:p>
            <a:pPr marL="0" indent="0" eaLnBrk="0" fontAlgn="base" hangingPunct="0">
              <a:spcBef>
                <a:spcPct val="0"/>
              </a:spcBef>
              <a:spcAft>
                <a:spcPts val="600"/>
              </a:spcAft>
              <a:buNone/>
            </a:pPr>
            <a:r>
              <a:rPr lang="en-US" sz="1000" b="1" dirty="0">
                <a:cs typeface="Times New Roman" panose="02020603050405020304" pitchFamily="18" charset="0"/>
              </a:rPr>
              <a:t>Covariance Type</a:t>
            </a:r>
            <a:r>
              <a:rPr lang="en-US" sz="1000" dirty="0">
                <a:cs typeface="Times New Roman" panose="02020603050405020304" pitchFamily="18" charset="0"/>
              </a:rPr>
              <a:t>: Specifies the type of covariance estimation used in the model (</a:t>
            </a:r>
            <a:r>
              <a:rPr lang="en-US" sz="1000" dirty="0" err="1">
                <a:cs typeface="Times New Roman" panose="02020603050405020304" pitchFamily="18" charset="0"/>
              </a:rPr>
              <a:t>nonrobust</a:t>
            </a:r>
            <a:r>
              <a:rPr lang="en-US" sz="1000" dirty="0">
                <a:cs typeface="Times New Roman" panose="02020603050405020304" pitchFamily="18" charset="0"/>
              </a:rPr>
              <a:t> in this case).</a:t>
            </a:r>
          </a:p>
          <a:p>
            <a:pPr marL="0" indent="0" eaLnBrk="0" fontAlgn="base" hangingPunct="0">
              <a:spcBef>
                <a:spcPct val="0"/>
              </a:spcBef>
              <a:spcAft>
                <a:spcPts val="600"/>
              </a:spcAft>
              <a:buNone/>
            </a:pPr>
            <a:r>
              <a:rPr lang="en-US" sz="1000" b="1" dirty="0">
                <a:cs typeface="Times New Roman" panose="02020603050405020304" pitchFamily="18" charset="0"/>
              </a:rPr>
              <a:t>Omnibus, Prob(Omnibus), Skew, Kurtosis</a:t>
            </a:r>
            <a:r>
              <a:rPr lang="en-US" sz="1000" dirty="0">
                <a:cs typeface="Times New Roman" panose="02020603050405020304" pitchFamily="18" charset="0"/>
              </a:rPr>
              <a:t>: Measures of model fit and distributional assumptions.</a:t>
            </a:r>
          </a:p>
          <a:p>
            <a:pPr marL="0" indent="0" eaLnBrk="0" fontAlgn="base" hangingPunct="0">
              <a:spcBef>
                <a:spcPct val="0"/>
              </a:spcBef>
              <a:spcAft>
                <a:spcPts val="600"/>
              </a:spcAft>
              <a:buNone/>
            </a:pPr>
            <a:r>
              <a:rPr lang="en-US" sz="1000" b="1" dirty="0">
                <a:cs typeface="Times New Roman" panose="02020603050405020304" pitchFamily="18" charset="0"/>
              </a:rPr>
              <a:t>Durbin-Watson</a:t>
            </a:r>
            <a:r>
              <a:rPr lang="en-US" sz="1000" dirty="0">
                <a:cs typeface="Times New Roman" panose="02020603050405020304" pitchFamily="18" charset="0"/>
              </a:rPr>
              <a:t>: Test for autocorrelation in the residuals.</a:t>
            </a:r>
          </a:p>
          <a:p>
            <a:pPr marL="0" indent="0" eaLnBrk="0" fontAlgn="base" hangingPunct="0">
              <a:spcBef>
                <a:spcPct val="0"/>
              </a:spcBef>
              <a:spcAft>
                <a:spcPts val="600"/>
              </a:spcAft>
              <a:buNone/>
            </a:pPr>
            <a:r>
              <a:rPr lang="en-US" sz="1000" b="1" dirty="0">
                <a:cs typeface="Times New Roman" panose="02020603050405020304" pitchFamily="18" charset="0"/>
              </a:rPr>
              <a:t>Jarque-Bera (JB), Prob(JB): </a:t>
            </a:r>
            <a:r>
              <a:rPr lang="en-US" sz="1000" dirty="0">
                <a:cs typeface="Times New Roman" panose="02020603050405020304" pitchFamily="18" charset="0"/>
              </a:rPr>
              <a:t>Test for normality of residuals</a:t>
            </a:r>
          </a:p>
          <a:p>
            <a:pPr marL="0" indent="0" eaLnBrk="0" fontAlgn="base" hangingPunct="0">
              <a:spcBef>
                <a:spcPct val="0"/>
              </a:spcBef>
              <a:spcAft>
                <a:spcPts val="600"/>
              </a:spcAft>
              <a:buNone/>
            </a:pPr>
            <a:r>
              <a:rPr lang="en-US" sz="1000" b="1" dirty="0">
                <a:cs typeface="Times New Roman" panose="02020603050405020304" pitchFamily="18" charset="0"/>
              </a:rPr>
              <a:t>Cond. No.: </a:t>
            </a:r>
            <a:r>
              <a:rPr lang="en-US" sz="1000" dirty="0">
                <a:cs typeface="Times New Roman" panose="02020603050405020304" pitchFamily="18" charset="0"/>
              </a:rPr>
              <a:t>Condition number, a measure of multicollinearity.</a:t>
            </a:r>
          </a:p>
          <a:p>
            <a:pPr marL="0" indent="0" eaLnBrk="0" fontAlgn="base" hangingPunct="0">
              <a:spcBef>
                <a:spcPct val="0"/>
              </a:spcBef>
              <a:spcAft>
                <a:spcPts val="600"/>
              </a:spcAft>
              <a:buNone/>
            </a:pPr>
            <a:endParaRPr lang="en-US" sz="1000" dirty="0">
              <a:cs typeface="Times New Roman" panose="02020603050405020304" pitchFamily="18" charset="0"/>
            </a:endParaRPr>
          </a:p>
          <a:p>
            <a:pPr marL="0" indent="0" eaLnBrk="0" fontAlgn="base" hangingPunct="0">
              <a:spcBef>
                <a:spcPct val="0"/>
              </a:spcBef>
              <a:spcAft>
                <a:spcPts val="600"/>
              </a:spcAft>
              <a:buNone/>
            </a:pPr>
            <a:r>
              <a:rPr lang="en-IN" sz="1000" b="1" dirty="0"/>
              <a:t>Mean Squared Error (MSE):</a:t>
            </a:r>
          </a:p>
          <a:p>
            <a:pPr marL="0" indent="0" eaLnBrk="0" fontAlgn="base" hangingPunct="0">
              <a:spcBef>
                <a:spcPct val="0"/>
              </a:spcBef>
              <a:spcAft>
                <a:spcPts val="600"/>
              </a:spcAft>
              <a:buNone/>
            </a:pPr>
            <a:r>
              <a:rPr lang="en-US" sz="1000" dirty="0"/>
              <a:t>The MSE quantifies the average squared difference between the actual values and the predicted values of the dependent variable (bike rental counts). A lower MSE indicates better model performance, as it reflects less error between the predicted and actual values</a:t>
            </a:r>
          </a:p>
          <a:p>
            <a:pPr marL="0" indent="0" eaLnBrk="0" fontAlgn="base" hangingPunct="0">
              <a:spcBef>
                <a:spcPct val="0"/>
              </a:spcBef>
              <a:spcAft>
                <a:spcPts val="600"/>
              </a:spcAft>
              <a:buNone/>
            </a:pPr>
            <a:endParaRPr lang="en-US" sz="1000" dirty="0">
              <a:cs typeface="Times New Roman" panose="02020603050405020304" pitchFamily="18" charset="0"/>
            </a:endParaRPr>
          </a:p>
          <a:p>
            <a:pPr marL="0" indent="0" eaLnBrk="0" fontAlgn="base" hangingPunct="0">
              <a:spcBef>
                <a:spcPct val="0"/>
              </a:spcBef>
              <a:spcAft>
                <a:spcPts val="600"/>
              </a:spcAft>
              <a:buNone/>
            </a:pPr>
            <a:r>
              <a:rPr lang="en-US" sz="1000" dirty="0">
                <a:cs typeface="Times New Roman" panose="02020603050405020304" pitchFamily="18" charset="0"/>
              </a:rPr>
              <a:t>The model summary provides insights into the overall significance of the regression model, the individual significance of predictor variables, and the estimated effects of these variables on bike rental counts. These insights can guide further analysis, model refinement, and decision-making processes related to bike rental management</a:t>
            </a:r>
          </a:p>
        </p:txBody>
      </p:sp>
      <p:pic>
        <p:nvPicPr>
          <p:cNvPr id="14" name="Picture 13">
            <a:extLst>
              <a:ext uri="{FF2B5EF4-FFF2-40B4-BE49-F238E27FC236}">
                <a16:creationId xmlns:a16="http://schemas.microsoft.com/office/drawing/2014/main" id="{AA492DB1-68AB-0FFE-AF3C-5DA03C298C20}"/>
              </a:ext>
            </a:extLst>
          </p:cNvPr>
          <p:cNvPicPr>
            <a:picLocks noChangeAspect="1"/>
          </p:cNvPicPr>
          <p:nvPr/>
        </p:nvPicPr>
        <p:blipFill rotWithShape="1">
          <a:blip r:embed="rId4"/>
          <a:srcRect b="93218"/>
          <a:stretch/>
        </p:blipFill>
        <p:spPr>
          <a:xfrm>
            <a:off x="7998691" y="6339898"/>
            <a:ext cx="3953165" cy="337993"/>
          </a:xfrm>
          <a:prstGeom prst="rect">
            <a:avLst/>
          </a:prstGeom>
        </p:spPr>
      </p:pic>
    </p:spTree>
    <p:extLst>
      <p:ext uri="{BB962C8B-B14F-4D97-AF65-F5344CB8AC3E}">
        <p14:creationId xmlns:p14="http://schemas.microsoft.com/office/powerpoint/2010/main" val="41877105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009649" y="631824"/>
            <a:ext cx="11401426" cy="914400"/>
          </a:xfrm>
        </p:spPr>
        <p:txBody>
          <a:bodyPr anchor="ctr">
            <a:normAutofit/>
          </a:bodyPr>
          <a:lstStyle/>
          <a:p>
            <a:r>
              <a:rPr lang="en-US" dirty="0"/>
              <a:t>multiple linear regression</a:t>
            </a:r>
            <a:endParaRPr lang="en-IN" dirty="0"/>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32</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sp>
        <p:nvSpPr>
          <p:cNvPr id="12" name="Rectangle 1">
            <a:extLst>
              <a:ext uri="{FF2B5EF4-FFF2-40B4-BE49-F238E27FC236}">
                <a16:creationId xmlns:a16="http://schemas.microsoft.com/office/drawing/2014/main" id="{5D7BB453-F2A9-959B-BDA8-BA2983603E98}"/>
              </a:ext>
            </a:extLst>
          </p:cNvPr>
          <p:cNvSpPr>
            <a:spLocks noChangeArrowheads="1"/>
          </p:cNvSpPr>
          <p:nvPr/>
        </p:nvSpPr>
        <p:spPr bwMode="auto">
          <a:xfrm>
            <a:off x="1295400" y="33305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93402DD7-440C-346E-D6CC-A7C6540BAE4D}"/>
              </a:ext>
            </a:extLst>
          </p:cNvPr>
          <p:cNvSpPr>
            <a:spLocks noGrp="1" noChangeArrowheads="1"/>
          </p:cNvSpPr>
          <p:nvPr>
            <p:ph idx="1"/>
          </p:nvPr>
        </p:nvSpPr>
        <p:spPr bwMode="auto">
          <a:xfrm>
            <a:off x="877824" y="1546224"/>
            <a:ext cx="6986996" cy="513166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70000" lnSpcReduction="20000"/>
          </a:bodyPr>
          <a:lstStyle/>
          <a:p>
            <a:pPr marL="0" indent="0">
              <a:buNone/>
            </a:pPr>
            <a:r>
              <a:rPr lang="en-US" dirty="0"/>
              <a:t>These results show the Variance Inflation Factor (VIF) for each predictor variable in the model. VIF measures the extent to which the variance of the coefficient estimates are inflated due to multicollinearity among the predictors:</a:t>
            </a:r>
          </a:p>
          <a:p>
            <a:pPr>
              <a:buFont typeface="+mj-lt"/>
              <a:buAutoNum type="arabicPeriod"/>
            </a:pPr>
            <a:r>
              <a:rPr lang="en-US" b="1" dirty="0"/>
              <a:t>Highly Inflated VIF</a:t>
            </a:r>
            <a:r>
              <a:rPr lang="en-US" dirty="0"/>
              <a:t>:</a:t>
            </a:r>
          </a:p>
          <a:p>
            <a:pPr marL="742950" lvl="1" indent="-285750">
              <a:buFont typeface="+mj-lt"/>
              <a:buAutoNum type="arabicPeriod"/>
            </a:pPr>
            <a:r>
              <a:rPr lang="en-US" dirty="0"/>
              <a:t>The VIF for the '</a:t>
            </a:r>
            <a:r>
              <a:rPr lang="en-US" dirty="0" err="1"/>
              <a:t>cnt</a:t>
            </a:r>
            <a:r>
              <a:rPr lang="en-US" dirty="0"/>
              <a:t>' variable is shown as infinity (inf). This typically occurs when one of the predictors (in this case, '</a:t>
            </a:r>
            <a:r>
              <a:rPr lang="en-US" dirty="0" err="1"/>
              <a:t>cnt</a:t>
            </a:r>
            <a:r>
              <a:rPr lang="en-US" dirty="0"/>
              <a:t>') is perfectly predicted by a linear combination of the other predictors. This suggests severe multicollinearity issues in the model, likely due to including the outcome variable ('</a:t>
            </a:r>
            <a:r>
              <a:rPr lang="en-US" dirty="0" err="1"/>
              <a:t>cnt</a:t>
            </a:r>
            <a:r>
              <a:rPr lang="en-US" dirty="0"/>
              <a:t>') as a predictor.</a:t>
            </a:r>
          </a:p>
          <a:p>
            <a:pPr>
              <a:buFont typeface="+mj-lt"/>
              <a:buAutoNum type="arabicPeriod"/>
            </a:pPr>
            <a:r>
              <a:rPr lang="en-US" b="1" dirty="0"/>
              <a:t>Low VIF</a:t>
            </a:r>
            <a:r>
              <a:rPr lang="en-US" dirty="0"/>
              <a:t>:</a:t>
            </a:r>
          </a:p>
          <a:p>
            <a:pPr marL="742950" lvl="1" indent="-285750">
              <a:buFont typeface="+mj-lt"/>
              <a:buAutoNum type="arabicPeriod"/>
            </a:pPr>
            <a:r>
              <a:rPr lang="en-US" dirty="0"/>
              <a:t>For most other predictor variables, the VIF values are relatively low, generally below 2. This indicates that there is little multicollinearity among these predictors, as VIF values below 5 are typically considered acceptable.</a:t>
            </a:r>
          </a:p>
          <a:p>
            <a:pPr marL="742950" lvl="1" indent="-285750">
              <a:buFont typeface="+mj-lt"/>
              <a:buAutoNum type="arabicPeriod"/>
            </a:pPr>
            <a:r>
              <a:rPr lang="en-US" dirty="0"/>
              <a:t>'holiday' and 'windspeed' have particularly low VIF values, indicating very little multicollinearity with the other predictors in the model.</a:t>
            </a:r>
          </a:p>
          <a:p>
            <a:pPr>
              <a:buFont typeface="+mj-lt"/>
              <a:buAutoNum type="arabicPeriod"/>
            </a:pPr>
            <a:r>
              <a:rPr lang="en-US" b="1" dirty="0"/>
              <a:t>Interpretation</a:t>
            </a:r>
            <a:r>
              <a:rPr lang="en-US" dirty="0"/>
              <a:t>:</a:t>
            </a:r>
          </a:p>
          <a:p>
            <a:pPr marL="742950" lvl="1" indent="-285750">
              <a:buFont typeface="+mj-lt"/>
              <a:buAutoNum type="arabicPeriod"/>
            </a:pPr>
            <a:r>
              <a:rPr lang="en-US" dirty="0"/>
              <a:t>While most predictors have acceptable VIF values, the presence of severe multicollinearity with the outcome variable ('</a:t>
            </a:r>
            <a:r>
              <a:rPr lang="en-US" dirty="0" err="1"/>
              <a:t>cnt</a:t>
            </a:r>
            <a:r>
              <a:rPr lang="en-US" dirty="0"/>
              <a:t>') suggests potential issues with the model specification.</a:t>
            </a:r>
          </a:p>
          <a:p>
            <a:pPr marL="742950" lvl="1" indent="-285750">
              <a:buFont typeface="+mj-lt"/>
              <a:buAutoNum type="arabicPeriod"/>
            </a:pPr>
            <a:r>
              <a:rPr lang="en-US" dirty="0"/>
              <a:t>It's essential to address the multicollinearity issue by reconsidering the inclusion of the '</a:t>
            </a:r>
            <a:r>
              <a:rPr lang="en-US" dirty="0" err="1"/>
              <a:t>cnt</a:t>
            </a:r>
            <a:r>
              <a:rPr lang="en-US" dirty="0"/>
              <a:t>' variable as a predictor or exploring alternative modeling approaches.</a:t>
            </a:r>
          </a:p>
          <a:p>
            <a:pPr marL="742950" lvl="1" indent="-285750">
              <a:buFont typeface="+mj-lt"/>
              <a:buAutoNum type="arabicPeriod"/>
            </a:pPr>
            <a:r>
              <a:rPr lang="en-US" dirty="0"/>
              <a:t>Additionally, further investigation may be needed to understand why '</a:t>
            </a:r>
            <a:r>
              <a:rPr lang="en-US" dirty="0" err="1"/>
              <a:t>cnt</a:t>
            </a:r>
            <a:r>
              <a:rPr lang="en-US" dirty="0"/>
              <a:t>' is exhibiting perfect multicollinearity with the other predictors and how to appropriately model the relationship between predictors and the outcome variable.</a:t>
            </a:r>
          </a:p>
          <a:p>
            <a:pPr marL="457200" lvl="1" indent="0">
              <a:buNone/>
            </a:pPr>
            <a:endParaRPr lang="en-US" dirty="0"/>
          </a:p>
          <a:p>
            <a:pPr marL="0" indent="0" eaLnBrk="0" fontAlgn="base" hangingPunct="0">
              <a:spcBef>
                <a:spcPct val="0"/>
              </a:spcBef>
              <a:spcAft>
                <a:spcPts val="600"/>
              </a:spcAft>
              <a:buNone/>
            </a:pPr>
            <a:r>
              <a:rPr lang="en-US" sz="2000" dirty="0"/>
              <a:t>while most predictors show acceptable levels of multicollinearity, the presence of severe multicollinearity with the outcome variable '</a:t>
            </a:r>
            <a:r>
              <a:rPr lang="en-US" sz="2000" dirty="0" err="1"/>
              <a:t>cnt</a:t>
            </a:r>
            <a:r>
              <a:rPr lang="en-US" sz="2000" dirty="0"/>
              <a:t>' requires attention and potentially revisiting the model specification</a:t>
            </a:r>
            <a:endParaRPr lang="en-IN" sz="2000" dirty="0"/>
          </a:p>
        </p:txBody>
      </p:sp>
      <p:pic>
        <p:nvPicPr>
          <p:cNvPr id="18" name="Picture 17">
            <a:extLst>
              <a:ext uri="{FF2B5EF4-FFF2-40B4-BE49-F238E27FC236}">
                <a16:creationId xmlns:a16="http://schemas.microsoft.com/office/drawing/2014/main" id="{B09B368E-3727-9009-D9CD-9027EE85CD81}"/>
              </a:ext>
            </a:extLst>
          </p:cNvPr>
          <p:cNvPicPr>
            <a:picLocks noChangeAspect="1"/>
          </p:cNvPicPr>
          <p:nvPr/>
        </p:nvPicPr>
        <p:blipFill>
          <a:blip r:embed="rId3"/>
          <a:stretch>
            <a:fillRect/>
          </a:stretch>
        </p:blipFill>
        <p:spPr>
          <a:xfrm>
            <a:off x="8920190" y="1647824"/>
            <a:ext cx="2435515" cy="4770596"/>
          </a:xfrm>
          <a:prstGeom prst="rect">
            <a:avLst/>
          </a:prstGeom>
          <a:ln>
            <a:solidFill>
              <a:schemeClr val="tx1"/>
            </a:solidFill>
          </a:ln>
        </p:spPr>
      </p:pic>
    </p:spTree>
    <p:extLst>
      <p:ext uri="{BB962C8B-B14F-4D97-AF65-F5344CB8AC3E}">
        <p14:creationId xmlns:p14="http://schemas.microsoft.com/office/powerpoint/2010/main" val="22752040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018886" y="267854"/>
            <a:ext cx="11401426" cy="914400"/>
          </a:xfrm>
        </p:spPr>
        <p:txBody>
          <a:bodyPr anchor="ctr">
            <a:normAutofit/>
          </a:bodyPr>
          <a:lstStyle/>
          <a:p>
            <a:r>
              <a:rPr lang="en-US" dirty="0"/>
              <a:t>multiple linear regression</a:t>
            </a:r>
            <a:endParaRPr lang="en-IN" dirty="0"/>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33</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sp>
        <p:nvSpPr>
          <p:cNvPr id="12" name="Rectangle 1">
            <a:extLst>
              <a:ext uri="{FF2B5EF4-FFF2-40B4-BE49-F238E27FC236}">
                <a16:creationId xmlns:a16="http://schemas.microsoft.com/office/drawing/2014/main" id="{5D7BB453-F2A9-959B-BDA8-BA2983603E98}"/>
              </a:ext>
            </a:extLst>
          </p:cNvPr>
          <p:cNvSpPr>
            <a:spLocks noChangeArrowheads="1"/>
          </p:cNvSpPr>
          <p:nvPr/>
        </p:nvSpPr>
        <p:spPr bwMode="auto">
          <a:xfrm>
            <a:off x="1295400" y="33305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93402DD7-440C-346E-D6CC-A7C6540BAE4D}"/>
              </a:ext>
            </a:extLst>
          </p:cNvPr>
          <p:cNvSpPr>
            <a:spLocks noGrp="1" noChangeArrowheads="1"/>
          </p:cNvSpPr>
          <p:nvPr>
            <p:ph idx="1"/>
          </p:nvPr>
        </p:nvSpPr>
        <p:spPr bwMode="auto">
          <a:xfrm>
            <a:off x="877824" y="1546224"/>
            <a:ext cx="6123894" cy="513166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US" sz="1400" b="1" dirty="0"/>
              <a:t>Linearity:</a:t>
            </a:r>
          </a:p>
          <a:p>
            <a:pPr marL="0" indent="0">
              <a:buNone/>
            </a:pPr>
            <a:r>
              <a:rPr lang="en-US" sz="1400" dirty="0"/>
              <a:t>In the residual plot against the independent variables, non-random pattern from the horizontal line may suggest that the relationship between the independent variables and dependent variable ‘count’ is not linear.</a:t>
            </a:r>
          </a:p>
          <a:p>
            <a:pPr marL="0" indent="0">
              <a:buNone/>
            </a:pPr>
            <a:endParaRPr lang="en-US" sz="1400" dirty="0"/>
          </a:p>
          <a:p>
            <a:pPr marL="0" indent="0">
              <a:buNone/>
            </a:pPr>
            <a:r>
              <a:rPr lang="en-US" sz="1400" b="1" dirty="0"/>
              <a:t>Homoscedasticity:</a:t>
            </a:r>
          </a:p>
          <a:p>
            <a:pPr marL="0" indent="0">
              <a:buNone/>
            </a:pPr>
            <a:r>
              <a:rPr lang="en-US" sz="1400" dirty="0"/>
              <a:t>The spread of residuals remains relatively constant as the independent variables change, </a:t>
            </a:r>
          </a:p>
          <a:p>
            <a:pPr marL="0" indent="0">
              <a:buNone/>
            </a:pPr>
            <a:r>
              <a:rPr lang="en-US" sz="1400" dirty="0"/>
              <a:t>Hence homoscedasticity is satisfied.</a:t>
            </a:r>
            <a:endParaRPr lang="en-IN" sz="1400" dirty="0"/>
          </a:p>
        </p:txBody>
      </p:sp>
      <p:pic>
        <p:nvPicPr>
          <p:cNvPr id="6" name="Picture 5">
            <a:extLst>
              <a:ext uri="{FF2B5EF4-FFF2-40B4-BE49-F238E27FC236}">
                <a16:creationId xmlns:a16="http://schemas.microsoft.com/office/drawing/2014/main" id="{D78ADE2E-3818-159E-B44C-B3148A67C033}"/>
              </a:ext>
            </a:extLst>
          </p:cNvPr>
          <p:cNvPicPr>
            <a:picLocks noChangeAspect="1"/>
          </p:cNvPicPr>
          <p:nvPr/>
        </p:nvPicPr>
        <p:blipFill>
          <a:blip r:embed="rId3"/>
          <a:stretch>
            <a:fillRect/>
          </a:stretch>
        </p:blipFill>
        <p:spPr>
          <a:xfrm>
            <a:off x="4473902" y="3976841"/>
            <a:ext cx="3244196" cy="2669860"/>
          </a:xfrm>
          <a:prstGeom prst="rect">
            <a:avLst/>
          </a:prstGeom>
          <a:ln>
            <a:solidFill>
              <a:schemeClr val="tx1"/>
            </a:solidFill>
          </a:ln>
        </p:spPr>
      </p:pic>
      <p:pic>
        <p:nvPicPr>
          <p:cNvPr id="13" name="Picture 12">
            <a:extLst>
              <a:ext uri="{FF2B5EF4-FFF2-40B4-BE49-F238E27FC236}">
                <a16:creationId xmlns:a16="http://schemas.microsoft.com/office/drawing/2014/main" id="{F0D8B106-EF3E-B68D-0EC9-3627B986E112}"/>
              </a:ext>
            </a:extLst>
          </p:cNvPr>
          <p:cNvPicPr>
            <a:picLocks noChangeAspect="1"/>
          </p:cNvPicPr>
          <p:nvPr/>
        </p:nvPicPr>
        <p:blipFill>
          <a:blip r:embed="rId4"/>
          <a:stretch>
            <a:fillRect/>
          </a:stretch>
        </p:blipFill>
        <p:spPr>
          <a:xfrm>
            <a:off x="7993032" y="1182253"/>
            <a:ext cx="3949586" cy="5464447"/>
          </a:xfrm>
          <a:prstGeom prst="rect">
            <a:avLst/>
          </a:prstGeom>
          <a:ln>
            <a:solidFill>
              <a:schemeClr val="tx1"/>
            </a:solidFill>
          </a:ln>
        </p:spPr>
      </p:pic>
      <p:pic>
        <p:nvPicPr>
          <p:cNvPr id="15" name="Picture 14">
            <a:extLst>
              <a:ext uri="{FF2B5EF4-FFF2-40B4-BE49-F238E27FC236}">
                <a16:creationId xmlns:a16="http://schemas.microsoft.com/office/drawing/2014/main" id="{F567C881-F493-4EB6-E284-66C9F8F4711B}"/>
              </a:ext>
            </a:extLst>
          </p:cNvPr>
          <p:cNvPicPr>
            <a:picLocks noChangeAspect="1"/>
          </p:cNvPicPr>
          <p:nvPr/>
        </p:nvPicPr>
        <p:blipFill>
          <a:blip r:embed="rId5"/>
          <a:stretch>
            <a:fillRect/>
          </a:stretch>
        </p:blipFill>
        <p:spPr>
          <a:xfrm>
            <a:off x="877824" y="3976846"/>
            <a:ext cx="3426402" cy="2669860"/>
          </a:xfrm>
          <a:prstGeom prst="rect">
            <a:avLst/>
          </a:prstGeom>
          <a:ln>
            <a:solidFill>
              <a:schemeClr val="tx1"/>
            </a:solidFill>
          </a:ln>
        </p:spPr>
      </p:pic>
    </p:spTree>
    <p:extLst>
      <p:ext uri="{BB962C8B-B14F-4D97-AF65-F5344CB8AC3E}">
        <p14:creationId xmlns:p14="http://schemas.microsoft.com/office/powerpoint/2010/main" val="42274568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Placeholder 38" descr="White DNA structure">
            <a:extLst>
              <a:ext uri="{FF2B5EF4-FFF2-40B4-BE49-F238E27FC236}">
                <a16:creationId xmlns:a16="http://schemas.microsoft.com/office/drawing/2014/main" id="{F90B3248-E185-8C9D-93CE-A79DE50A6F3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a:fillRect/>
          </a:stretch>
        </p:blipFill>
        <p:spPr/>
      </p:pic>
      <p:sp>
        <p:nvSpPr>
          <p:cNvPr id="48" name="Rectangle 47">
            <a:extLst>
              <a:ext uri="{FF2B5EF4-FFF2-40B4-BE49-F238E27FC236}">
                <a16:creationId xmlns:a16="http://schemas.microsoft.com/office/drawing/2014/main" id="{217F23FC-AC97-DC78-C63F-66C5BF23A07A}"/>
              </a:ext>
              <a:ext uri="{C183D7F6-B498-43B3-948B-1728B52AA6E4}">
                <adec:decorative xmlns:adec="http://schemas.microsoft.com/office/drawing/2017/decorative" val="1"/>
              </a:ext>
            </a:extLst>
          </p:cNvPr>
          <p:cNvSpPr/>
          <p:nvPr/>
        </p:nvSpPr>
        <p:spPr>
          <a:xfrm>
            <a:off x="2120552" y="12357"/>
            <a:ext cx="10071448" cy="6858000"/>
          </a:xfrm>
          <a:prstGeom prst="rect">
            <a:avLst/>
          </a:prstGeom>
          <a:gradFill>
            <a:gsLst>
              <a:gs pos="0">
                <a:schemeClr val="bg1">
                  <a:alpha val="0"/>
                </a:schemeClr>
              </a:gs>
              <a:gs pos="42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B3E315A2-4CED-23BB-CA3C-C8962E2419FD}"/>
              </a:ext>
            </a:extLst>
          </p:cNvPr>
          <p:cNvSpPr>
            <a:spLocks noGrp="1"/>
          </p:cNvSpPr>
          <p:nvPr>
            <p:ph type="title"/>
          </p:nvPr>
        </p:nvSpPr>
        <p:spPr/>
        <p:txBody>
          <a:bodyPr/>
          <a:lstStyle/>
          <a:p>
            <a:r>
              <a:rPr lang="en-US" dirty="0"/>
              <a:t>Areas of focus</a:t>
            </a:r>
          </a:p>
        </p:txBody>
      </p:sp>
      <p:sp>
        <p:nvSpPr>
          <p:cNvPr id="9" name="Footer Placeholder 8">
            <a:extLst>
              <a:ext uri="{FF2B5EF4-FFF2-40B4-BE49-F238E27FC236}">
                <a16:creationId xmlns:a16="http://schemas.microsoft.com/office/drawing/2014/main" id="{90FCB302-A0EE-7CF7-A4B2-ED343BFF9BC0}"/>
              </a:ext>
            </a:extLst>
          </p:cNvPr>
          <p:cNvSpPr>
            <a:spLocks noGrp="1"/>
          </p:cNvSpPr>
          <p:nvPr>
            <p:ph type="ftr" sz="quarter" idx="12"/>
          </p:nvPr>
        </p:nvSpPr>
        <p:spPr/>
        <p:txBody>
          <a:bodyPr/>
          <a:lstStyle/>
          <a:p>
            <a:pPr>
              <a:spcAft>
                <a:spcPts val="600"/>
              </a:spcAft>
            </a:pPr>
            <a:r>
              <a:rPr lang="en-US" dirty="0"/>
              <a:t>Business analysis</a:t>
            </a:r>
          </a:p>
        </p:txBody>
      </p:sp>
      <p:sp>
        <p:nvSpPr>
          <p:cNvPr id="8" name="Slide Number Placeholder 7">
            <a:extLst>
              <a:ext uri="{FF2B5EF4-FFF2-40B4-BE49-F238E27FC236}">
                <a16:creationId xmlns:a16="http://schemas.microsoft.com/office/drawing/2014/main" id="{2205EC8C-AC41-F14C-3C63-5BF0F54D1D23}"/>
              </a:ext>
            </a:extLst>
          </p:cNvPr>
          <p:cNvSpPr>
            <a:spLocks noGrp="1"/>
          </p:cNvSpPr>
          <p:nvPr>
            <p:ph type="sldNum" sz="quarter" idx="11"/>
          </p:nvPr>
        </p:nvSpPr>
        <p:spPr/>
        <p:txBody>
          <a:bodyPr/>
          <a:lstStyle/>
          <a:p>
            <a:fld id="{75DF2D63-3FF5-D547-96B9-BE9CCD1ABA58}" type="slidenum">
              <a:rPr lang="en-US" smtClean="0"/>
              <a:pPr/>
              <a:t>34</a:t>
            </a:fld>
            <a:endParaRPr lang="en-US" dirty="0"/>
          </a:p>
        </p:txBody>
      </p:sp>
      <p:sp>
        <p:nvSpPr>
          <p:cNvPr id="4" name="Text Placeholder 3">
            <a:extLst>
              <a:ext uri="{FF2B5EF4-FFF2-40B4-BE49-F238E27FC236}">
                <a16:creationId xmlns:a16="http://schemas.microsoft.com/office/drawing/2014/main" id="{DB4489FD-4F12-40A7-1EA9-79A941933E98}"/>
              </a:ext>
            </a:extLst>
          </p:cNvPr>
          <p:cNvSpPr>
            <a:spLocks noGrp="1"/>
          </p:cNvSpPr>
          <p:nvPr>
            <p:ph type="body" idx="1"/>
          </p:nvPr>
        </p:nvSpPr>
        <p:spPr/>
        <p:txBody>
          <a:bodyPr/>
          <a:lstStyle/>
          <a:p>
            <a:endParaRPr lang="en-US" dirty="0"/>
          </a:p>
        </p:txBody>
      </p:sp>
      <p:sp>
        <p:nvSpPr>
          <p:cNvPr id="5" name="Content Placeholder 4">
            <a:extLst>
              <a:ext uri="{FF2B5EF4-FFF2-40B4-BE49-F238E27FC236}">
                <a16:creationId xmlns:a16="http://schemas.microsoft.com/office/drawing/2014/main" id="{9BCDA136-13F8-70CB-CDA2-02260A2D2D59}"/>
              </a:ext>
            </a:extLst>
          </p:cNvPr>
          <p:cNvSpPr>
            <a:spLocks noGrp="1"/>
          </p:cNvSpPr>
          <p:nvPr>
            <p:ph sz="half" idx="2"/>
          </p:nvPr>
        </p:nvSpPr>
        <p:spPr/>
        <p:txBody>
          <a:bodyPr/>
          <a:lstStyle/>
          <a:p>
            <a:endParaRPr lang="en-US" dirty="0"/>
          </a:p>
        </p:txBody>
      </p:sp>
      <p:sp>
        <p:nvSpPr>
          <p:cNvPr id="6" name="Text Placeholder 5">
            <a:extLst>
              <a:ext uri="{FF2B5EF4-FFF2-40B4-BE49-F238E27FC236}">
                <a16:creationId xmlns:a16="http://schemas.microsoft.com/office/drawing/2014/main" id="{16743F76-FD81-DAAA-A5BA-6E77D3B83F8A}"/>
              </a:ext>
            </a:extLst>
          </p:cNvPr>
          <p:cNvSpPr>
            <a:spLocks noGrp="1"/>
          </p:cNvSpPr>
          <p:nvPr>
            <p:ph type="body" sz="quarter" idx="3"/>
          </p:nvPr>
        </p:nvSpPr>
        <p:spPr/>
        <p:txBody>
          <a:bodyPr/>
          <a:lstStyle/>
          <a:p>
            <a:endParaRPr lang="en-US" dirty="0"/>
          </a:p>
        </p:txBody>
      </p:sp>
      <p:sp>
        <p:nvSpPr>
          <p:cNvPr id="7" name="Content Placeholder 6">
            <a:extLst>
              <a:ext uri="{FF2B5EF4-FFF2-40B4-BE49-F238E27FC236}">
                <a16:creationId xmlns:a16="http://schemas.microsoft.com/office/drawing/2014/main" id="{2455F573-DF2A-FE60-2B86-5E131463642E}"/>
              </a:ext>
            </a:extLst>
          </p:cNvPr>
          <p:cNvSpPr>
            <a:spLocks noGrp="1"/>
          </p:cNvSpPr>
          <p:nvPr>
            <p:ph sz="quarter" idx="4"/>
          </p:nvPr>
        </p:nvSpPr>
        <p:spPr/>
        <p:txBody>
          <a:bodyPr/>
          <a:lstStyle/>
          <a:p>
            <a:endParaRPr lang="en-US" dirty="0"/>
          </a:p>
        </p:txBody>
      </p:sp>
      <p:cxnSp>
        <p:nvCxnSpPr>
          <p:cNvPr id="27" name="Straight Connector 26">
            <a:extLst>
              <a:ext uri="{FF2B5EF4-FFF2-40B4-BE49-F238E27FC236}">
                <a16:creationId xmlns:a16="http://schemas.microsoft.com/office/drawing/2014/main" id="{E4A534A3-16E3-79AB-9E75-F40D0FDB4C98}"/>
              </a:ext>
              <a:ext uri="{C183D7F6-B498-43B3-948B-1728B52AA6E4}">
                <adec:decorative xmlns:adec="http://schemas.microsoft.com/office/drawing/2017/decorative" val="1"/>
              </a:ext>
            </a:extLst>
          </p:cNvPr>
          <p:cNvCxnSpPr>
            <a:cxnSpLocks/>
          </p:cNvCxnSpPr>
          <p:nvPr/>
        </p:nvCxnSpPr>
        <p:spPr>
          <a:xfrm>
            <a:off x="649224" y="2667000"/>
            <a:ext cx="0" cy="31242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9958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2A9E4-3B33-8623-FB27-6D7248C372EA}"/>
              </a:ext>
            </a:extLst>
          </p:cNvPr>
          <p:cNvSpPr>
            <a:spLocks noGrp="1"/>
          </p:cNvSpPr>
          <p:nvPr>
            <p:ph type="title"/>
          </p:nvPr>
        </p:nvSpPr>
        <p:spPr/>
        <p:txBody>
          <a:bodyPr/>
          <a:lstStyle/>
          <a:p>
            <a:r>
              <a:rPr lang="en-US" dirty="0"/>
              <a:t>How we </a:t>
            </a:r>
            <a:br>
              <a:rPr lang="en-US" dirty="0"/>
            </a:br>
            <a:r>
              <a:rPr lang="en-US" dirty="0"/>
              <a:t>got there</a:t>
            </a:r>
          </a:p>
        </p:txBody>
      </p:sp>
      <p:sp>
        <p:nvSpPr>
          <p:cNvPr id="8" name="Footer Placeholder 7">
            <a:extLst>
              <a:ext uri="{FF2B5EF4-FFF2-40B4-BE49-F238E27FC236}">
                <a16:creationId xmlns:a16="http://schemas.microsoft.com/office/drawing/2014/main" id="{8B1640E3-ACD2-7360-A022-281862D31457}"/>
              </a:ext>
            </a:extLst>
          </p:cNvPr>
          <p:cNvSpPr>
            <a:spLocks noGrp="1"/>
          </p:cNvSpPr>
          <p:nvPr>
            <p:ph type="ftr" sz="quarter" idx="12"/>
          </p:nvPr>
        </p:nvSpPr>
        <p:spPr/>
        <p:txBody>
          <a:bodyPr/>
          <a:lstStyle/>
          <a:p>
            <a:pPr>
              <a:spcAft>
                <a:spcPts val="600"/>
              </a:spcAft>
            </a:pPr>
            <a:r>
              <a:rPr lang="en-US" dirty="0"/>
              <a:t>Business analysis</a:t>
            </a:r>
          </a:p>
        </p:txBody>
      </p:sp>
      <p:sp>
        <p:nvSpPr>
          <p:cNvPr id="7" name="Slide Number Placeholder 6">
            <a:extLst>
              <a:ext uri="{FF2B5EF4-FFF2-40B4-BE49-F238E27FC236}">
                <a16:creationId xmlns:a16="http://schemas.microsoft.com/office/drawing/2014/main" id="{E5076FCA-E5D9-5BC6-F8F1-95D9E5569449}"/>
              </a:ext>
            </a:extLst>
          </p:cNvPr>
          <p:cNvSpPr>
            <a:spLocks noGrp="1"/>
          </p:cNvSpPr>
          <p:nvPr>
            <p:ph type="sldNum" sz="quarter" idx="11"/>
          </p:nvPr>
        </p:nvSpPr>
        <p:spPr/>
        <p:txBody>
          <a:bodyPr/>
          <a:lstStyle/>
          <a:p>
            <a:fld id="{75DF2D63-3FF5-D547-96B9-BE9CCD1ABA58}" type="slidenum">
              <a:rPr lang="en-US" smtClean="0"/>
              <a:t>35</a:t>
            </a:fld>
            <a:endParaRPr lang="en-US" dirty="0"/>
          </a:p>
        </p:txBody>
      </p:sp>
      <p:pic>
        <p:nvPicPr>
          <p:cNvPr id="15" name="Picture Placeholder 17" descr="Nerve with solid fill">
            <a:extLst>
              <a:ext uri="{FF2B5EF4-FFF2-40B4-BE49-F238E27FC236}">
                <a16:creationId xmlns:a16="http://schemas.microsoft.com/office/drawing/2014/main" id="{D6EBC2A8-A6B3-B04E-41A4-25A9A0676AD0}"/>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6245225" y="704850"/>
            <a:ext cx="914400" cy="914400"/>
          </a:xfrm>
        </p:spPr>
      </p:pic>
      <p:sp>
        <p:nvSpPr>
          <p:cNvPr id="3" name="Text Placeholder 2">
            <a:extLst>
              <a:ext uri="{FF2B5EF4-FFF2-40B4-BE49-F238E27FC236}">
                <a16:creationId xmlns:a16="http://schemas.microsoft.com/office/drawing/2014/main" id="{18559EBB-1744-14F2-6EEA-D5BDC030F0C9}"/>
              </a:ext>
            </a:extLst>
          </p:cNvPr>
          <p:cNvSpPr>
            <a:spLocks noGrp="1"/>
          </p:cNvSpPr>
          <p:nvPr>
            <p:ph type="body" idx="1"/>
          </p:nvPr>
        </p:nvSpPr>
        <p:spPr/>
        <p:txBody>
          <a:bodyPr/>
          <a:lstStyle/>
          <a:p>
            <a:endParaRPr lang="en-US" dirty="0"/>
          </a:p>
        </p:txBody>
      </p:sp>
      <p:sp>
        <p:nvSpPr>
          <p:cNvPr id="4" name="Content Placeholder 3">
            <a:extLst>
              <a:ext uri="{FF2B5EF4-FFF2-40B4-BE49-F238E27FC236}">
                <a16:creationId xmlns:a16="http://schemas.microsoft.com/office/drawing/2014/main" id="{AAD9F940-BA56-74F7-87F0-7199A77BB8B8}"/>
              </a:ext>
            </a:extLst>
          </p:cNvPr>
          <p:cNvSpPr>
            <a:spLocks noGrp="1"/>
          </p:cNvSpPr>
          <p:nvPr>
            <p:ph sz="half" idx="2"/>
          </p:nvPr>
        </p:nvSpPr>
        <p:spPr/>
        <p:txBody>
          <a:bodyPr/>
          <a:lstStyle/>
          <a:p>
            <a:endParaRPr lang="en-US" dirty="0"/>
          </a:p>
        </p:txBody>
      </p:sp>
      <p:pic>
        <p:nvPicPr>
          <p:cNvPr id="16" name="Picture Placeholder 19" descr="Microscope with solid fill">
            <a:extLst>
              <a:ext uri="{FF2B5EF4-FFF2-40B4-BE49-F238E27FC236}">
                <a16:creationId xmlns:a16="http://schemas.microsoft.com/office/drawing/2014/main" id="{5231DDDB-E29E-8882-E71C-20340171D8DC}"/>
              </a:ext>
            </a:extLst>
          </p:cNvPr>
          <p:cNvPicPr>
            <a:picLocks noGrp="1" noChangeAspect="1"/>
          </p:cNvPicPr>
          <p:nvPr>
            <p:ph type="pic" sz="quarter" idx="18"/>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6245225" y="3273425"/>
            <a:ext cx="914400" cy="914400"/>
          </a:xfrm>
        </p:spPr>
      </p:pic>
      <p:sp>
        <p:nvSpPr>
          <p:cNvPr id="5" name="Text Placeholder 4">
            <a:extLst>
              <a:ext uri="{FF2B5EF4-FFF2-40B4-BE49-F238E27FC236}">
                <a16:creationId xmlns:a16="http://schemas.microsoft.com/office/drawing/2014/main" id="{621A83F6-ADD2-533E-DD3D-2171EC6F7E11}"/>
              </a:ext>
            </a:extLst>
          </p:cNvPr>
          <p:cNvSpPr>
            <a:spLocks noGrp="1"/>
          </p:cNvSpPr>
          <p:nvPr>
            <p:ph type="body" sz="quarter" idx="3"/>
          </p:nvPr>
        </p:nvSpPr>
        <p:spPr/>
        <p:txBody>
          <a:bodyPr/>
          <a:lstStyle/>
          <a:p>
            <a:endParaRPr lang="en-US" sz="2000" dirty="0"/>
          </a:p>
        </p:txBody>
      </p:sp>
      <p:sp>
        <p:nvSpPr>
          <p:cNvPr id="6" name="Content Placeholder 5">
            <a:extLst>
              <a:ext uri="{FF2B5EF4-FFF2-40B4-BE49-F238E27FC236}">
                <a16:creationId xmlns:a16="http://schemas.microsoft.com/office/drawing/2014/main" id="{D17DB5B2-8F12-4C2A-D018-C12FD16160B5}"/>
              </a:ext>
            </a:extLst>
          </p:cNvPr>
          <p:cNvSpPr>
            <a:spLocks noGrp="1"/>
          </p:cNvSpPr>
          <p:nvPr>
            <p:ph sz="quarter" idx="4"/>
          </p:nvPr>
        </p:nvSpPr>
        <p:spPr/>
        <p:txBody>
          <a:bodyPr/>
          <a:lstStyle/>
          <a:p>
            <a:endParaRPr lang="en-US" dirty="0"/>
          </a:p>
        </p:txBody>
      </p:sp>
      <p:pic>
        <p:nvPicPr>
          <p:cNvPr id="17" name="Picture Placeholder 21" descr="Test tubes outline">
            <a:extLst>
              <a:ext uri="{FF2B5EF4-FFF2-40B4-BE49-F238E27FC236}">
                <a16:creationId xmlns:a16="http://schemas.microsoft.com/office/drawing/2014/main" id="{488A4C2A-F5B5-FAD1-D810-289B2092FF6C}"/>
              </a:ext>
            </a:extLst>
          </p:cNvPr>
          <p:cNvPicPr>
            <a:picLocks noGrp="1" noChangeAspect="1"/>
          </p:cNvPicPr>
          <p:nvPr>
            <p:ph type="pic" sz="quarter" idx="19"/>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6245225" y="5165725"/>
            <a:ext cx="914400" cy="914400"/>
          </a:xfrm>
        </p:spPr>
      </p:pic>
      <p:sp>
        <p:nvSpPr>
          <p:cNvPr id="10" name="Text Placeholder 9">
            <a:extLst>
              <a:ext uri="{FF2B5EF4-FFF2-40B4-BE49-F238E27FC236}">
                <a16:creationId xmlns:a16="http://schemas.microsoft.com/office/drawing/2014/main" id="{A508684D-1AA5-491C-E832-1EB26568CC05}"/>
              </a:ext>
            </a:extLst>
          </p:cNvPr>
          <p:cNvSpPr>
            <a:spLocks noGrp="1"/>
          </p:cNvSpPr>
          <p:nvPr>
            <p:ph type="body" sz="quarter" idx="15"/>
          </p:nvPr>
        </p:nvSpPr>
        <p:spPr/>
        <p:txBody>
          <a:bodyPr/>
          <a:lstStyle/>
          <a:p>
            <a:endParaRPr lang="en-US" sz="2000" dirty="0"/>
          </a:p>
        </p:txBody>
      </p:sp>
      <p:sp>
        <p:nvSpPr>
          <p:cNvPr id="11" name="Content Placeholder 10">
            <a:extLst>
              <a:ext uri="{FF2B5EF4-FFF2-40B4-BE49-F238E27FC236}">
                <a16:creationId xmlns:a16="http://schemas.microsoft.com/office/drawing/2014/main" id="{3FE9FCFF-DB0B-28A0-AC61-CFCB265C5B31}"/>
              </a:ext>
            </a:extLst>
          </p:cNvPr>
          <p:cNvSpPr>
            <a:spLocks noGrp="1"/>
          </p:cNvSpPr>
          <p:nvPr>
            <p:ph sz="quarter" idx="16"/>
          </p:nvPr>
        </p:nvSpPr>
        <p:spPr/>
        <p:txBody>
          <a:bodyPr/>
          <a:lstStyle/>
          <a:p>
            <a:endParaRPr lang="en-US" dirty="0"/>
          </a:p>
        </p:txBody>
      </p:sp>
      <p:pic>
        <p:nvPicPr>
          <p:cNvPr id="14338" name="Picture 2" descr="REET Mains Level 2 Result 2023 announced for English, Sindhi, Punjabi &amp;  Urdu @ rsmssb.rajasthan.gov.in - Times of India">
            <a:extLst>
              <a:ext uri="{FF2B5EF4-FFF2-40B4-BE49-F238E27FC236}">
                <a16:creationId xmlns:a16="http://schemas.microsoft.com/office/drawing/2014/main" id="{67109BC3-3A02-BC23-18D8-46F33DAB8877}"/>
              </a:ext>
            </a:extLst>
          </p:cNvPr>
          <p:cNvPicPr>
            <a:picLocks noGrp="1" noChangeAspect="1" noChangeArrowheads="1"/>
          </p:cNvPicPr>
          <p:nvPr>
            <p:ph type="pic" sz="quarter" idx="14"/>
          </p:nvPr>
        </p:nvPicPr>
        <p:blipFill>
          <a:blip r:embed="rId8">
            <a:extLst>
              <a:ext uri="{28A0092B-C50C-407E-A947-70E740481C1C}">
                <a14:useLocalDpi xmlns:a14="http://schemas.microsoft.com/office/drawing/2010/main" val="0"/>
              </a:ext>
            </a:extLst>
          </a:blip>
          <a:srcRect l="12500" r="12500"/>
          <a:stretch>
            <a:fillRect/>
          </a:stretch>
        </p:blipFill>
        <p:spPr bwMode="auto">
          <a:xfrm>
            <a:off x="1298575" y="622300"/>
            <a:ext cx="3200400"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375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7103A8-AEEA-50D3-BE61-CC85D24BDF23}"/>
              </a:ext>
            </a:extLst>
          </p:cNvPr>
          <p:cNvSpPr>
            <a:spLocks noGrp="1"/>
          </p:cNvSpPr>
          <p:nvPr>
            <p:ph type="title"/>
          </p:nvPr>
        </p:nvSpPr>
        <p:spPr/>
        <p:txBody>
          <a:bodyPr/>
          <a:lstStyle/>
          <a:p>
            <a:r>
              <a:rPr lang="en-US" dirty="0"/>
              <a:t>Summary </a:t>
            </a:r>
          </a:p>
        </p:txBody>
      </p:sp>
      <p:sp>
        <p:nvSpPr>
          <p:cNvPr id="3" name="Footer Placeholder 2">
            <a:extLst>
              <a:ext uri="{FF2B5EF4-FFF2-40B4-BE49-F238E27FC236}">
                <a16:creationId xmlns:a16="http://schemas.microsoft.com/office/drawing/2014/main" id="{AA5BCABC-85E9-BA68-F054-2D77592245F0}"/>
              </a:ext>
            </a:extLst>
          </p:cNvPr>
          <p:cNvSpPr>
            <a:spLocks noGrp="1"/>
          </p:cNvSpPr>
          <p:nvPr>
            <p:ph type="ftr" sz="quarter" idx="11"/>
          </p:nvPr>
        </p:nvSpPr>
        <p:spPr/>
        <p:txBody>
          <a:bodyPr/>
          <a:lstStyle/>
          <a:p>
            <a:pPr>
              <a:spcAft>
                <a:spcPts val="600"/>
              </a:spcAft>
            </a:pPr>
            <a:r>
              <a:rPr lang="en-US" dirty="0"/>
              <a:t>Business analysis</a:t>
            </a:r>
          </a:p>
        </p:txBody>
      </p:sp>
      <p:sp>
        <p:nvSpPr>
          <p:cNvPr id="2" name="Slide Number Placeholder 1">
            <a:extLst>
              <a:ext uri="{FF2B5EF4-FFF2-40B4-BE49-F238E27FC236}">
                <a16:creationId xmlns:a16="http://schemas.microsoft.com/office/drawing/2014/main" id="{1A978ADB-AD70-DE7C-4643-85C48AE12770}"/>
              </a:ext>
            </a:extLst>
          </p:cNvPr>
          <p:cNvSpPr>
            <a:spLocks noGrp="1"/>
          </p:cNvSpPr>
          <p:nvPr>
            <p:ph type="sldNum" sz="quarter" idx="10"/>
          </p:nvPr>
        </p:nvSpPr>
        <p:spPr/>
        <p:txBody>
          <a:bodyPr/>
          <a:lstStyle/>
          <a:p>
            <a:fld id="{75DF2D63-3FF5-D547-96B9-BE9CCD1ABA58}" type="slidenum">
              <a:rPr lang="en-US" smtClean="0"/>
              <a:pPr/>
              <a:t>36</a:t>
            </a:fld>
            <a:endParaRPr lang="en-US" dirty="0"/>
          </a:p>
        </p:txBody>
      </p:sp>
      <p:sp>
        <p:nvSpPr>
          <p:cNvPr id="4" name="Text Placeholder 3">
            <a:extLst>
              <a:ext uri="{FF2B5EF4-FFF2-40B4-BE49-F238E27FC236}">
                <a16:creationId xmlns:a16="http://schemas.microsoft.com/office/drawing/2014/main" id="{68003147-27BE-7492-36B6-F405F1156F31}"/>
              </a:ext>
            </a:extLst>
          </p:cNvPr>
          <p:cNvSpPr>
            <a:spLocks noGrp="1"/>
          </p:cNvSpPr>
          <p:nvPr>
            <p:ph type="body" sz="quarter" idx="12"/>
          </p:nvPr>
        </p:nvSpPr>
        <p:spPr/>
        <p:txBody>
          <a:bodyPr/>
          <a:lstStyle/>
          <a:p>
            <a:endParaRPr lang="en-US" sz="2000" spc="0" dirty="0">
              <a:ea typeface="+mn-lt"/>
              <a:cs typeface="+mn-lt"/>
            </a:endParaRPr>
          </a:p>
        </p:txBody>
      </p:sp>
      <p:pic>
        <p:nvPicPr>
          <p:cNvPr id="7" name="Picture Placeholder 6" descr="Test tubes with one test tube in orange with drops">
            <a:extLst>
              <a:ext uri="{FF2B5EF4-FFF2-40B4-BE49-F238E27FC236}">
                <a16:creationId xmlns:a16="http://schemas.microsoft.com/office/drawing/2014/main" id="{70A9CAB5-92AE-2C08-1CA8-8B55D552EEF8}"/>
              </a:ext>
            </a:extLst>
          </p:cNvPr>
          <p:cNvPicPr>
            <a:picLocks noGrp="1" noChangeAspect="1"/>
          </p:cNvPicPr>
          <p:nvPr>
            <p:ph type="pic" sz="quarter" idx="13"/>
          </p:nvPr>
        </p:nvPicPr>
        <p:blipFill rotWithShape="1">
          <a:blip r:embed="rId2">
            <a:alphaModFix amt="50000"/>
            <a:duotone>
              <a:schemeClr val="accent5">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2871216" y="5330952"/>
            <a:ext cx="6519672" cy="1527048"/>
          </a:xfrm>
          <a:custGeom>
            <a:avLst/>
            <a:gdLst>
              <a:gd name="connsiteX0" fmla="*/ 0 w 6515097"/>
              <a:gd name="connsiteY0" fmla="*/ 0 h 2133600"/>
              <a:gd name="connsiteX1" fmla="*/ 6515097 w 6515097"/>
              <a:gd name="connsiteY1" fmla="*/ 0 h 2133600"/>
              <a:gd name="connsiteX2" fmla="*/ 6515097 w 6515097"/>
              <a:gd name="connsiteY2" fmla="*/ 2133600 h 2133600"/>
              <a:gd name="connsiteX3" fmla="*/ 0 w 6515097"/>
              <a:gd name="connsiteY3" fmla="*/ 2133600 h 2133600"/>
            </a:gdLst>
            <a:ahLst/>
            <a:cxnLst>
              <a:cxn ang="0">
                <a:pos x="connsiteX0" y="connsiteY0"/>
              </a:cxn>
              <a:cxn ang="0">
                <a:pos x="connsiteX1" y="connsiteY1"/>
              </a:cxn>
              <a:cxn ang="0">
                <a:pos x="connsiteX2" y="connsiteY2"/>
              </a:cxn>
              <a:cxn ang="0">
                <a:pos x="connsiteX3" y="connsiteY3"/>
              </a:cxn>
            </a:cxnLst>
            <a:rect l="l" t="t" r="r" b="b"/>
            <a:pathLst>
              <a:path w="6515097" h="2133600">
                <a:moveTo>
                  <a:pt x="0" y="0"/>
                </a:moveTo>
                <a:lnTo>
                  <a:pt x="6515097" y="0"/>
                </a:lnTo>
                <a:lnTo>
                  <a:pt x="6515097" y="2133600"/>
                </a:lnTo>
                <a:lnTo>
                  <a:pt x="0" y="2133600"/>
                </a:lnTo>
                <a:close/>
              </a:path>
            </a:pathLst>
          </a:custGeom>
        </p:spPr>
      </p:pic>
    </p:spTree>
    <p:extLst>
      <p:ext uri="{BB962C8B-B14F-4D97-AF65-F5344CB8AC3E}">
        <p14:creationId xmlns:p14="http://schemas.microsoft.com/office/powerpoint/2010/main" val="4094204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White DNA structure">
            <a:extLst>
              <a:ext uri="{FF2B5EF4-FFF2-40B4-BE49-F238E27FC236}">
                <a16:creationId xmlns:a16="http://schemas.microsoft.com/office/drawing/2014/main" id="{6D8705D1-EA1F-3113-ABE0-EC474D1F18DA}"/>
              </a:ext>
            </a:extLst>
          </p:cNvPr>
          <p:cNvPicPr>
            <a:picLocks noGrp="1" noChangeAspect="1"/>
          </p:cNvPicPr>
          <p:nvPr>
            <p:ph type="pic" sz="quarter" idx="12"/>
          </p:nvPr>
        </p:nvPicPr>
        <p:blipFill rotWithShape="1">
          <a:blip r:embed="rId2">
            <a:alphaModFix amt="50000"/>
            <a:extLst>
              <a:ext uri="{28A0092B-C50C-407E-A947-70E740481C1C}">
                <a14:useLocalDpi xmlns:a14="http://schemas.microsoft.com/office/drawing/2010/main" val="0"/>
              </a:ext>
            </a:extLst>
          </a:blip>
          <a:srcRect/>
          <a:stretch/>
        </p:blipFill>
        <p:spPr/>
      </p:pic>
      <p:sp>
        <p:nvSpPr>
          <p:cNvPr id="19" name="Title 18">
            <a:extLst>
              <a:ext uri="{FF2B5EF4-FFF2-40B4-BE49-F238E27FC236}">
                <a16:creationId xmlns:a16="http://schemas.microsoft.com/office/drawing/2014/main" id="{1130D679-D78E-1F15-EC3D-4BED6D69B35F}"/>
              </a:ext>
            </a:extLst>
          </p:cNvPr>
          <p:cNvSpPr>
            <a:spLocks noGrp="1"/>
          </p:cNvSpPr>
          <p:nvPr>
            <p:ph type="title"/>
          </p:nvPr>
        </p:nvSpPr>
        <p:spPr/>
        <p:txBody>
          <a:bodyPr/>
          <a:lstStyle/>
          <a:p>
            <a:r>
              <a:rPr lang="en-US" dirty="0"/>
              <a:t>Thank you </a:t>
            </a:r>
          </a:p>
        </p:txBody>
      </p:sp>
      <p:sp>
        <p:nvSpPr>
          <p:cNvPr id="27" name="Text Placeholder 26">
            <a:extLst>
              <a:ext uri="{FF2B5EF4-FFF2-40B4-BE49-F238E27FC236}">
                <a16:creationId xmlns:a16="http://schemas.microsoft.com/office/drawing/2014/main" id="{BB8B6963-69FE-8A03-5E86-2BF855024B00}"/>
              </a:ext>
            </a:extLst>
          </p:cNvPr>
          <p:cNvSpPr>
            <a:spLocks noGrp="1"/>
          </p:cNvSpPr>
          <p:nvPr>
            <p:ph type="body" sz="quarter" idx="14"/>
          </p:nvPr>
        </p:nvSpPr>
        <p:spPr/>
        <p:txBody>
          <a:bodyPr/>
          <a:lstStyle/>
          <a:p>
            <a:pPr marL="0" indent="0" algn="ctr">
              <a:lnSpc>
                <a:spcPts val="2660"/>
              </a:lnSpc>
              <a:spcBef>
                <a:spcPts val="0"/>
              </a:spcBef>
              <a:buNone/>
            </a:pPr>
            <a:endParaRPr lang="en-US" sz="2000" cap="all" spc="0" dirty="0"/>
          </a:p>
        </p:txBody>
      </p:sp>
      <p:sp>
        <p:nvSpPr>
          <p:cNvPr id="4" name="Picture Placeholder 3">
            <a:extLst>
              <a:ext uri="{FF2B5EF4-FFF2-40B4-BE49-F238E27FC236}">
                <a16:creationId xmlns:a16="http://schemas.microsoft.com/office/drawing/2014/main" id="{C48E3BC4-5F4D-DC26-609A-5FD8E922529F}"/>
              </a:ext>
            </a:extLst>
          </p:cNvPr>
          <p:cNvSpPr>
            <a:spLocks noGrp="1"/>
          </p:cNvSpPr>
          <p:nvPr>
            <p:ph type="pic" sz="quarter" idx="13"/>
          </p:nvPr>
        </p:nvSpPr>
        <p:spPr/>
        <p:txBody>
          <a:bodyPr/>
          <a:lstStyle/>
          <a:p>
            <a:endParaRPr lang="en-IN"/>
          </a:p>
        </p:txBody>
      </p:sp>
      <p:pic>
        <p:nvPicPr>
          <p:cNvPr id="17414" name="Picture 6" descr="Seoul Bike Sharing Demand - UCI Machine Learning Repository">
            <a:extLst>
              <a:ext uri="{FF2B5EF4-FFF2-40B4-BE49-F238E27FC236}">
                <a16:creationId xmlns:a16="http://schemas.microsoft.com/office/drawing/2014/main" id="{0560C901-5828-B436-8F41-FD6326B2F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9357" y="803148"/>
            <a:ext cx="1905000" cy="19050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127647"/>
      </p:ext>
    </p:extLst>
  </p:cSld>
  <p:clrMapOvr>
    <a:masterClrMapping/>
  </p:clrMapOvr>
</p:sld>
</file>

<file path=ppt/theme/theme1.xml><?xml version="1.0" encoding="utf-8"?>
<a:theme xmlns:a="http://schemas.openxmlformats.org/drawingml/2006/main" name="Office Theme">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Custom 36">
      <a:majorFont>
        <a:latin typeface="Posterama"/>
        <a:ea typeface=""/>
        <a:cs typeface=""/>
      </a:majorFont>
      <a:minorFont>
        <a:latin typeface="Daytona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tific-Discovery_Win32_EF_v4" id="{D94798B6-E450-4518-8015-6EE17CD1412B}" vid="{16A04E6B-C80A-471C-86D6-D49E9EAD76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B2FABB-45EC-440E-B647-8CA57BA45A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9746342-5E84-430E-9251-61001F208E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E8B3377-22F1-4153-96F0-CC2E4BE41C5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{E66504DA-66BB-43A0-B08B-0AC84ED8680F}tf67061901_win32</Template>
  <TotalTime>308</TotalTime>
  <Words>4692</Words>
  <Application>Microsoft Office PowerPoint</Application>
  <PresentationFormat>Widescreen</PresentationFormat>
  <Paragraphs>421</Paragraphs>
  <Slides>37</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Consolas</vt:lpstr>
      <vt:lpstr>Daytona Condensed Light</vt:lpstr>
      <vt:lpstr>Posterama</vt:lpstr>
      <vt:lpstr>Times New Roman</vt:lpstr>
      <vt:lpstr>Office Theme</vt:lpstr>
      <vt:lpstr>Business Analysis project</vt:lpstr>
      <vt:lpstr>UCI Bike sharing data</vt:lpstr>
      <vt:lpstr>Timeline </vt:lpstr>
      <vt:lpstr>Introduction</vt:lpstr>
      <vt:lpstr>dataset</vt:lpstr>
      <vt:lpstr>Understanding the dataset</vt:lpstr>
      <vt:lpstr>Understanding the dataset</vt:lpstr>
      <vt:lpstr>Data Preprocessing</vt:lpstr>
      <vt:lpstr>Exploratory Data Analysis</vt:lpstr>
      <vt:lpstr>EDA</vt:lpstr>
      <vt:lpstr>EDA</vt:lpstr>
      <vt:lpstr>EDA</vt:lpstr>
      <vt:lpstr>EDA</vt:lpstr>
      <vt:lpstr>EDA</vt:lpstr>
      <vt:lpstr>EDA</vt:lpstr>
      <vt:lpstr>EDA</vt:lpstr>
      <vt:lpstr>EDA</vt:lpstr>
      <vt:lpstr>EDA</vt:lpstr>
      <vt:lpstr>Descriptive analysis</vt:lpstr>
      <vt:lpstr>Analysis of variance</vt:lpstr>
      <vt:lpstr>Anova</vt:lpstr>
      <vt:lpstr>Anova</vt:lpstr>
      <vt:lpstr>Anova</vt:lpstr>
      <vt:lpstr>Anova</vt:lpstr>
      <vt:lpstr>Anova</vt:lpstr>
      <vt:lpstr>Hypothesis testing</vt:lpstr>
      <vt:lpstr>Hypothesis testing</vt:lpstr>
      <vt:lpstr>Hypothesis testing</vt:lpstr>
      <vt:lpstr>predictive analysis</vt:lpstr>
      <vt:lpstr>multiple linear regression?</vt:lpstr>
      <vt:lpstr>multiple linear regression</vt:lpstr>
      <vt:lpstr>multiple linear regression</vt:lpstr>
      <vt:lpstr>multiple linear regression</vt:lpstr>
      <vt:lpstr>Areas of focus</vt:lpstr>
      <vt:lpstr>How we  got there</vt:lpstr>
      <vt:lpstr>Summary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Utkarsh 27</dc:creator>
  <cp:lastModifiedBy>Utkarsh 27</cp:lastModifiedBy>
  <cp:revision>2</cp:revision>
  <dcterms:created xsi:type="dcterms:W3CDTF">2024-06-07T15:13:12Z</dcterms:created>
  <dcterms:modified xsi:type="dcterms:W3CDTF">2024-06-07T20:21:44Z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