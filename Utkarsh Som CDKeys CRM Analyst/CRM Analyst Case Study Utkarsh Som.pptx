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43D"/>
    <a:srgbClr val="3E9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6072-CCB5-D46E-D9A7-150E050AE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E44CF-C518-8334-00B3-EEF916642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2983D-28F7-F448-22DD-17EAEB6B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812F0-D786-B596-D695-55BEAB00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A908A-9E20-042E-8D50-F13B7F27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52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CA9D-DFCD-B508-D08D-D2D55E6BD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E493-BB7E-F8C4-6903-39112EA33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4D53-CD17-B142-180E-1E0E86841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359FE-3B23-D848-A334-C1B80281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43CE-C162-3800-E3FA-9DEE243E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49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161F-FBBB-BD15-8A3E-EBA782D5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7517B-B9FD-E872-A21B-5BC3007A7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3080-C793-F7EC-3479-6BE59B53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55C12-195E-4635-4759-1B422F71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5A53-3D5D-048F-356B-5F56C04A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5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3AEF-F714-AC12-845B-8DF79233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61BBD-A82B-B6AB-B380-FD06F84EA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C7828-417A-010D-ADF2-FC9E8E78B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CD71C-6A22-9BD3-CAAE-4D4EACA8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45F08-B648-4CB3-61D7-C06BE898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49FDF-4073-994E-912C-CFC73C60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9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73BD-0AD3-DF6F-8055-7C6C4797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AE811-FDE6-324E-691E-F96643F7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4D10F-8F4A-65A8-933A-2064EFC1F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AAD35-4E21-D10D-0404-73633294D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680D4-E1C5-D52E-AACF-8761BF477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CBE1A-9A85-9D39-5456-0C97D364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EFE57-630B-58D7-6FCD-21313897F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08BDB-F810-96BD-9D98-9F6641DA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00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1839-3EE4-4C52-6B66-0E35166E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D3ADF-5728-3C84-2A48-2EACA655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7A16B-373B-C0FA-C6D9-B1649F56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D0C95-EDB4-9DC4-B1FE-4A797814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1D6D0-AA32-ED10-ACE5-ADE3C1CF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27EBD-2BAB-E012-2F51-E1D2E7C3E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83497-6654-7351-1CA6-912EC0DA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7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5E6E-145E-031E-CDB5-EB1325AD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0267F-3A01-4E69-AFF4-D6A1F0A7A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0F8C7-19C0-7DDF-82EF-B0CB55FD6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D8707-F6B3-4920-AD94-CDE5C0B4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ADB1E-03D3-0520-9F67-5B17A180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D3515-5D41-5377-F081-46A5653C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90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EEFC-CAB3-C419-4CC9-BAC9EA9D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C24A4-480C-4019-B9FF-9BF67695D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3E74D-7796-51BB-A63F-DA4D23BEC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31403-6F32-E18D-E82F-D5561C7F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910AD-942D-7C1C-B26D-AAEF920B7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6D85D-8D0D-31A0-9B95-F470007E7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9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47FD-5EAE-8C63-0F97-39F3502B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AA2AB-5D2B-3EF9-57B1-506816AC9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30230-1555-5969-7D24-85F52B18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269D6-235C-3AA3-9EC2-916D0970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F24C-049A-38B8-6719-A82854AA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4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0BCDC-F230-4456-EC47-378924C8D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FFD3C-1CF6-9876-6405-499734991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5F76-3733-8E34-0EC8-C3007256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52B8-FD72-E49D-D6E1-1458F981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EACA-82BE-C5F9-CC1E-FC1EBDD4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25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556AC-2970-B887-E693-FFFEBB3B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32781-48FE-423B-EFEE-39D52B43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55FA8-60CA-37DB-8A0B-15D89A63B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781A78-7F46-4E71-B220-F44D6C9E3E90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5F7F3-508B-390B-A9C9-47F52BC0F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6EED5-B0CE-CD43-A190-76F177BBB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392B1-C830-42D2-8460-FE6F40D4E3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5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AF1D95-239B-3904-7539-51B84B80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806D27-FE59-3FE0-9B39-EB1E46A83F16}"/>
              </a:ext>
            </a:extLst>
          </p:cNvPr>
          <p:cNvSpPr/>
          <p:nvPr/>
        </p:nvSpPr>
        <p:spPr>
          <a:xfrm>
            <a:off x="2142645" y="2276475"/>
            <a:ext cx="7906710" cy="2305050"/>
          </a:xfrm>
          <a:prstGeom prst="rect">
            <a:avLst/>
          </a:prstGeom>
          <a:solidFill>
            <a:srgbClr val="1F143D"/>
          </a:solidFill>
          <a:ln>
            <a:solidFill>
              <a:srgbClr val="1F14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+mj-lt"/>
              </a:rPr>
              <a:t>CRM Analyst Case Study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C00EA9-0CA6-0742-7445-6718B790442F}"/>
              </a:ext>
            </a:extLst>
          </p:cNvPr>
          <p:cNvSpPr/>
          <p:nvPr/>
        </p:nvSpPr>
        <p:spPr>
          <a:xfrm>
            <a:off x="9798777" y="5793610"/>
            <a:ext cx="2267267" cy="722363"/>
          </a:xfrm>
          <a:prstGeom prst="rect">
            <a:avLst/>
          </a:prstGeom>
          <a:solidFill>
            <a:srgbClr val="1F143D"/>
          </a:solidFill>
          <a:ln>
            <a:solidFill>
              <a:srgbClr val="1F14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Utkarsh Som</a:t>
            </a:r>
          </a:p>
        </p:txBody>
      </p:sp>
    </p:spTree>
    <p:extLst>
      <p:ext uri="{BB962C8B-B14F-4D97-AF65-F5344CB8AC3E}">
        <p14:creationId xmlns:p14="http://schemas.microsoft.com/office/powerpoint/2010/main" val="217924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DEE16-5B14-07DE-2714-D3718BA12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EF191A3-AF8F-87A3-0FA1-787A256486D7}"/>
              </a:ext>
            </a:extLst>
          </p:cNvPr>
          <p:cNvSpPr txBox="1">
            <a:spLocks/>
          </p:cNvSpPr>
          <p:nvPr/>
        </p:nvSpPr>
        <p:spPr>
          <a:xfrm>
            <a:off x="1161288" y="2701431"/>
            <a:ext cx="3886200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606219-A42E-B451-CD10-9D56A98DCABF}"/>
              </a:ext>
            </a:extLst>
          </p:cNvPr>
          <p:cNvSpPr txBox="1">
            <a:spLocks/>
          </p:cNvSpPr>
          <p:nvPr/>
        </p:nvSpPr>
        <p:spPr>
          <a:xfrm>
            <a:off x="1161288" y="2701431"/>
            <a:ext cx="7284622" cy="4239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RFM Model &amp; Analysis</a:t>
            </a:r>
          </a:p>
          <a:p>
            <a:pPr marL="285750" indent="-285750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Banner Design for 'Bestselling Games' Newsletter</a:t>
            </a:r>
          </a:p>
          <a:p>
            <a:pPr marL="285750" indent="-285750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Newsletter Performance Analysis &amp; Optimization Strategy</a:t>
            </a:r>
          </a:p>
          <a:p>
            <a:pPr marL="285750" indent="-285750"/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US" sz="2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0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8B3E8F0-237D-56C1-7F03-8BCE55DA7DD7}"/>
              </a:ext>
            </a:extLst>
          </p:cNvPr>
          <p:cNvSpPr txBox="1">
            <a:spLocks/>
          </p:cNvSpPr>
          <p:nvPr/>
        </p:nvSpPr>
        <p:spPr>
          <a:xfrm>
            <a:off x="446451" y="1810209"/>
            <a:ext cx="5649549" cy="4239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Utilized a Python environment for model building and analysis.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Filtering Transactions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Retained only successful purchases (Status = ‘complete') to ensure accuracy in customer behavior analysis.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 Duplicates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Removed redundant records based on Customer, Product, Purchase Date, Price, Quantity, and Status to maintain data integrity.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Addressing Pricing Anomalies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Identified and corrected abnormally high Price/Quantity values by replacing them with the median price for the same product, ensuring consistency across transactions.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 products included:</a:t>
            </a:r>
          </a:p>
          <a:p>
            <a:pPr lvl="2" algn="just"/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Ghost of Tsushima DIRECTOR'S CUT PC</a:t>
            </a:r>
          </a:p>
          <a:p>
            <a:pPr lvl="2" algn="just"/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Warhammer 40,000: Space Marine 2 PC</a:t>
            </a:r>
          </a:p>
          <a:p>
            <a:pPr lvl="2" algn="just"/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ARMORED CORE VI FIRES OF RUBICON PC</a:t>
            </a:r>
          </a:p>
          <a:p>
            <a:pPr lvl="2" algn="just"/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Panzer Corps 2: Axis Operations - 1944 PC - DLC</a:t>
            </a:r>
          </a:p>
          <a:p>
            <a:pPr lvl="2" algn="just"/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Imperial Glory PC etc.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Standardizing Date-Time Formats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Ensured uniformity in date-time values for accurate Recency, Frequency, and Monetary (RFM) analysis.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8E9ED5-62B9-B0E6-609E-4CCD7306A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F32BDF4-0A53-75DF-1C14-7EA56DB2355B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ADBB03D-6E78-0467-5154-48086037F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919" y="1217251"/>
            <a:ext cx="5220042" cy="4603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5C3BC43D-4457-38DA-5F82-A853F0BE52E9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  <a:endParaRPr kumimoji="0" lang="en-US" sz="1400" b="0" i="0" u="sng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B83A97-A96D-26F5-3A70-46DD035D0C89}"/>
              </a:ext>
            </a:extLst>
          </p:cNvPr>
          <p:cNvSpPr txBox="1"/>
          <p:nvPr/>
        </p:nvSpPr>
        <p:spPr>
          <a:xfrm>
            <a:off x="8704345" y="5909631"/>
            <a:ext cx="1321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Anomalies</a:t>
            </a:r>
            <a:endParaRPr lang="en-IN" sz="12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42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00484-7EA1-6EAE-6152-F8BD9ADC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C51687-7DBE-24B1-17F7-5D7B215EC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D65F4F-82ED-1912-BC29-7EB9F8B2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26" y="602861"/>
            <a:ext cx="6819131" cy="56522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3BB916-D966-7045-8B64-4F75CF411936}"/>
              </a:ext>
            </a:extLst>
          </p:cNvPr>
          <p:cNvSpPr txBox="1"/>
          <p:nvPr/>
        </p:nvSpPr>
        <p:spPr>
          <a:xfrm>
            <a:off x="8253250" y="1347020"/>
            <a:ext cx="3342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🔴 Red = strong positive correlation</a:t>
            </a:r>
          </a:p>
          <a:p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🔵 Blue = strong negative correlation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80088F-3CD7-38DA-866F-5F4E5F337B56}"/>
              </a:ext>
            </a:extLst>
          </p:cNvPr>
          <p:cNvSpPr txBox="1"/>
          <p:nvPr/>
        </p:nvSpPr>
        <p:spPr>
          <a:xfrm>
            <a:off x="7688826" y="2442887"/>
            <a:ext cx="42868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Recency vs Frequency: -0.34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correlation (as recency increases, frequency tends to decrease — i.e., customers who purchased recently tend to buy more often).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Recency vs Monetary: -0.30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Slight negative correlation (more recent customers tend to spend more).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vs Monetary: 0.73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positive correlation (customers who purchase more often tend to spend more).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58A3EDA-D52C-3452-C2D6-97DFF9817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999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FD9A0-0894-4944-1235-7B575293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14ADF08-3EDC-DB08-A406-2A1862B37FDC}"/>
              </a:ext>
            </a:extLst>
          </p:cNvPr>
          <p:cNvSpPr txBox="1">
            <a:spLocks/>
          </p:cNvSpPr>
          <p:nvPr/>
        </p:nvSpPr>
        <p:spPr>
          <a:xfrm>
            <a:off x="446451" y="1810209"/>
            <a:ext cx="5649549" cy="4239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Reference Date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Defined reference date as one day after the latest purchase date in the dataset.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Recency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Measured days since the last purchase for each customer.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Frequency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Counted total purchases per customer to track engagement.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Calculating Monetary Value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Summed up total spend per customer (Price × Quantity).</a:t>
            </a:r>
            <a:endParaRPr lang="en-US" sz="9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Standardizing RFM Values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Applied Standard Scaling to normalize the dataset for clustering or further analysis.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Cluster Selection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Used the Elbow Method to determine the best number of clusters based on inertia.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Applied K-Means 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(k=3)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standardized RFM dataset. (why 3? Because 3 has the sharpest dip hence forming an Elbow)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reason to opt for K-Means clustering is to have a more natural segmentation around the RFM metrics, rather than relying on rigid quartile-based segmentation.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16B52E-C48F-86AC-DC61-D1FE92F0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F25372D9-0599-9083-17EA-F43146DF2A87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92CA3B6-5F20-A075-2C9F-33C56C794612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Defining the RFM Metrics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39FC2-6A76-CD7C-C043-AA362969C0A9}"/>
              </a:ext>
            </a:extLst>
          </p:cNvPr>
          <p:cNvSpPr txBox="1"/>
          <p:nvPr/>
        </p:nvSpPr>
        <p:spPr>
          <a:xfrm>
            <a:off x="8134195" y="5909630"/>
            <a:ext cx="2562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Elbow Method for Optimal Clusters</a:t>
            </a:r>
            <a:endParaRPr lang="en-IN" sz="12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81382-12EE-6FA8-6A40-3DC7B39B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919" y="1217251"/>
            <a:ext cx="5220042" cy="46034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0F7AB99-305B-DDF1-3D65-D0A1CE1CB71A}"/>
              </a:ext>
            </a:extLst>
          </p:cNvPr>
          <p:cNvSpPr/>
          <p:nvPr/>
        </p:nvSpPr>
        <p:spPr>
          <a:xfrm>
            <a:off x="8134195" y="3832046"/>
            <a:ext cx="705005" cy="688258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DD46032-A318-BC88-40D9-99F9271D5252}"/>
              </a:ext>
            </a:extLst>
          </p:cNvPr>
          <p:cNvCxnSpPr/>
          <p:nvPr/>
        </p:nvCxnSpPr>
        <p:spPr>
          <a:xfrm>
            <a:off x="8486697" y="4176175"/>
            <a:ext cx="0" cy="112341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87D8F9-219A-5343-E813-9418F291E77F}"/>
              </a:ext>
            </a:extLst>
          </p:cNvPr>
          <p:cNvSpPr txBox="1"/>
          <p:nvPr/>
        </p:nvSpPr>
        <p:spPr>
          <a:xfrm>
            <a:off x="8355421" y="5299587"/>
            <a:ext cx="2562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1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13CEF-0E29-C5AF-10BF-C9CC94ED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A8239D-E837-966E-F501-A42EED3D0CA2}"/>
              </a:ext>
            </a:extLst>
          </p:cNvPr>
          <p:cNvSpPr/>
          <p:nvPr/>
        </p:nvSpPr>
        <p:spPr>
          <a:xfrm>
            <a:off x="1199535" y="1701010"/>
            <a:ext cx="9989575" cy="1582964"/>
          </a:xfrm>
          <a:prstGeom prst="rect">
            <a:avLst/>
          </a:prstGeom>
          <a:solidFill>
            <a:srgbClr val="3E92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E968682-AB72-D98E-8E57-87688CBCD159}"/>
              </a:ext>
            </a:extLst>
          </p:cNvPr>
          <p:cNvSpPr/>
          <p:nvPr/>
        </p:nvSpPr>
        <p:spPr>
          <a:xfrm>
            <a:off x="8846732" y="3795251"/>
            <a:ext cx="2743200" cy="2337587"/>
          </a:xfrm>
          <a:prstGeom prst="round2Same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46048007-9194-195C-B7D8-E5B422ECA617}"/>
              </a:ext>
            </a:extLst>
          </p:cNvPr>
          <p:cNvSpPr/>
          <p:nvPr/>
        </p:nvSpPr>
        <p:spPr>
          <a:xfrm>
            <a:off x="4806824" y="3778212"/>
            <a:ext cx="2743200" cy="2337587"/>
          </a:xfrm>
          <a:prstGeom prst="round2Same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283DB85-31C2-A88E-3CD6-A7CDC909C31A}"/>
              </a:ext>
            </a:extLst>
          </p:cNvPr>
          <p:cNvSpPr/>
          <p:nvPr/>
        </p:nvSpPr>
        <p:spPr>
          <a:xfrm>
            <a:off x="766916" y="3795252"/>
            <a:ext cx="2743200" cy="2337587"/>
          </a:xfrm>
          <a:prstGeom prst="round2Same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56FE27-C708-BBA2-D09A-956E32210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6325DF5C-6C81-B2E5-5598-427FE427F730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9CE1C26-0696-4504-E854-FDC9DE60942B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Customer Segmentation Using mean RFM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699F1-D1F3-9A49-34CC-028E9227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56" y="1860020"/>
            <a:ext cx="9711135" cy="125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8A69AE-0149-45F3-CDC4-28D0981ECAA3}"/>
              </a:ext>
            </a:extLst>
          </p:cNvPr>
          <p:cNvSpPr txBox="1">
            <a:spLocks/>
          </p:cNvSpPr>
          <p:nvPr/>
        </p:nvSpPr>
        <p:spPr>
          <a:xfrm>
            <a:off x="965444" y="3884856"/>
            <a:ext cx="2387299" cy="2230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1 </a:t>
            </a:r>
          </a:p>
          <a:p>
            <a:pPr algn="just"/>
            <a:r>
              <a:rPr lang="en-US" sz="1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Recency </a:t>
            </a:r>
          </a:p>
          <a:p>
            <a:pPr algn="just"/>
            <a:r>
              <a:rPr lang="en-US" sz="1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Frequency</a:t>
            </a:r>
          </a:p>
          <a:p>
            <a:pPr algn="just"/>
            <a:r>
              <a:rPr lang="en-US" sz="1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Monetary 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Likely Loyal Customers or High Value Customers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3DEB01-504A-76EC-E3C9-F484C13B415D}"/>
              </a:ext>
            </a:extLst>
          </p:cNvPr>
          <p:cNvSpPr txBox="1">
            <a:spLocks/>
          </p:cNvSpPr>
          <p:nvPr/>
        </p:nvSpPr>
        <p:spPr>
          <a:xfrm>
            <a:off x="9191043" y="3901896"/>
            <a:ext cx="2286916" cy="2230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3</a:t>
            </a: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Recency</a:t>
            </a: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Frequency</a:t>
            </a:r>
          </a:p>
          <a:p>
            <a:pPr algn="just"/>
            <a:r>
              <a:rPr lang="en-US" sz="1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Monetary 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Likely Lost Customers or At-Risk Customers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5912EEC-A1B2-6E31-0632-33773DC4D428}"/>
              </a:ext>
            </a:extLst>
          </p:cNvPr>
          <p:cNvSpPr txBox="1">
            <a:spLocks/>
          </p:cNvSpPr>
          <p:nvPr/>
        </p:nvSpPr>
        <p:spPr>
          <a:xfrm>
            <a:off x="4984776" y="3884856"/>
            <a:ext cx="2387299" cy="2230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2 </a:t>
            </a:r>
          </a:p>
          <a:p>
            <a:pPr algn="just"/>
            <a:r>
              <a:rPr lang="en-US" sz="1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 Recency</a:t>
            </a:r>
          </a:p>
          <a:p>
            <a:pPr algn="just"/>
            <a:r>
              <a:rPr lang="en-US" sz="1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Frequency</a:t>
            </a:r>
          </a:p>
          <a:p>
            <a:pPr algn="just"/>
            <a:r>
              <a:rPr lang="en-US" sz="1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Monetary </a:t>
            </a:r>
          </a:p>
          <a:p>
            <a:pPr marL="0" indent="0" algn="just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Likely Potential Loyalists or Regular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C8CB1D-C89F-C85A-3570-B800B4AFCFC3}"/>
              </a:ext>
            </a:extLst>
          </p:cNvPr>
          <p:cNvSpPr/>
          <p:nvPr/>
        </p:nvSpPr>
        <p:spPr>
          <a:xfrm>
            <a:off x="1322856" y="2084440"/>
            <a:ext cx="2383905" cy="259340"/>
          </a:xfrm>
          <a:prstGeom prst="rect">
            <a:avLst/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FE246-BB6B-1181-CCC0-07CB5EF1D3C5}"/>
              </a:ext>
            </a:extLst>
          </p:cNvPr>
          <p:cNvSpPr/>
          <p:nvPr/>
        </p:nvSpPr>
        <p:spPr>
          <a:xfrm>
            <a:off x="1322856" y="2375451"/>
            <a:ext cx="2383905" cy="259340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A61640-E910-0D37-62C1-9A2A19F918A7}"/>
              </a:ext>
            </a:extLst>
          </p:cNvPr>
          <p:cNvSpPr/>
          <p:nvPr/>
        </p:nvSpPr>
        <p:spPr>
          <a:xfrm>
            <a:off x="1322856" y="2696047"/>
            <a:ext cx="2383905" cy="259340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1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8B84A-0526-E942-51B2-9AAF8D55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11E7E01-0C3C-9BD4-DFE9-63AB1A130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E4A5E7B-AEDA-B36A-74B9-7DA15F23D724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633CCF02-FEBD-CEDB-6936-7F4B1AEF3480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Customer Segmentation Analysis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E277A9B-4CCD-E30B-0FD6-D0F15B46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563449"/>
              </p:ext>
            </p:extLst>
          </p:nvPr>
        </p:nvGraphicFramePr>
        <p:xfrm>
          <a:off x="825880" y="1636129"/>
          <a:ext cx="60392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599">
                  <a:extLst>
                    <a:ext uri="{9D8B030D-6E8A-4147-A177-3AD203B41FA5}">
                      <a16:colId xmlns:a16="http://schemas.microsoft.com/office/drawing/2014/main" val="3150969148"/>
                    </a:ext>
                  </a:extLst>
                </a:gridCol>
                <a:gridCol w="2486663">
                  <a:extLst>
                    <a:ext uri="{9D8B030D-6E8A-4147-A177-3AD203B41FA5}">
                      <a16:colId xmlns:a16="http://schemas.microsoft.com/office/drawing/2014/main" val="875076341"/>
                    </a:ext>
                  </a:extLst>
                </a:gridCol>
                <a:gridCol w="2486030">
                  <a:extLst>
                    <a:ext uri="{9D8B030D-6E8A-4147-A177-3AD203B41FA5}">
                      <a16:colId xmlns:a16="http://schemas.microsoft.com/office/drawing/2014/main" val="3225909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in Business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Share in Customer Base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99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73.5%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5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15.7%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49.3%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94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10.8%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42.4%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927098"/>
                  </a:ext>
                </a:extLst>
              </a:tr>
            </a:tbl>
          </a:graphicData>
        </a:graphic>
      </p:graphicFrame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8858A39-8C53-FD4D-7760-408C42A28AA9}"/>
              </a:ext>
            </a:extLst>
          </p:cNvPr>
          <p:cNvSpPr txBox="1">
            <a:spLocks/>
          </p:cNvSpPr>
          <p:nvPr/>
        </p:nvSpPr>
        <p:spPr>
          <a:xfrm>
            <a:off x="443222" y="3549936"/>
            <a:ext cx="6804607" cy="18929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we can observe,</a:t>
            </a:r>
          </a:p>
          <a:p>
            <a:pPr lvl="1" algn="just"/>
            <a:endParaRPr lang="en-US" sz="10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1400" b="1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1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generates majority of the business revenue even though they are the smallest group.</a:t>
            </a:r>
          </a:p>
          <a:p>
            <a:pPr lvl="1" algn="just"/>
            <a:r>
              <a:rPr lang="en-US" sz="1400" b="1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2</a:t>
            </a:r>
            <a:r>
              <a:rPr lang="en-US" sz="14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largest customer segment, making up almost half of the customer base, but they contribute only a moderate portion to revenue.</a:t>
            </a:r>
          </a:p>
          <a:p>
            <a:pPr lvl="1" algn="just"/>
            <a:r>
              <a:rPr lang="en-US" sz="1400" b="1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3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 is large but contributes very little to revenue</a:t>
            </a:r>
            <a:r>
              <a:rPr lang="en-US" sz="1400" b="1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/>
            <a:endParaRPr lang="en-US" sz="1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BA52A18-AF54-5882-6868-A6FEF29A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712" y="989816"/>
            <a:ext cx="3908268" cy="28060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9F34CAB-5E1F-D0AC-C0B6-CE1B94A4B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37" y="3847000"/>
            <a:ext cx="3908268" cy="28060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873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729F1-4252-1BFC-5BBA-CFAF93DF0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6A8DB0F-DB0C-B9A4-958F-7210D7D98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DCBD23C-F9FB-8479-F045-4302A869EADC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3BD20B9-9675-5C11-734F-EFABD1AFD07B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Customer retention strategies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A04D90E-7C2B-E8A6-3657-CE3D69A52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22288"/>
              </p:ext>
            </p:extLst>
          </p:nvPr>
        </p:nvGraphicFramePr>
        <p:xfrm>
          <a:off x="354418" y="1563773"/>
          <a:ext cx="11483164" cy="495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563">
                  <a:extLst>
                    <a:ext uri="{9D8B030D-6E8A-4147-A177-3AD203B41FA5}">
                      <a16:colId xmlns:a16="http://schemas.microsoft.com/office/drawing/2014/main" val="3150969148"/>
                    </a:ext>
                  </a:extLst>
                </a:gridCol>
                <a:gridCol w="2725707">
                  <a:extLst>
                    <a:ext uri="{9D8B030D-6E8A-4147-A177-3AD203B41FA5}">
                      <a16:colId xmlns:a16="http://schemas.microsoft.com/office/drawing/2014/main" val="875076341"/>
                    </a:ext>
                  </a:extLst>
                </a:gridCol>
                <a:gridCol w="3689497">
                  <a:extLst>
                    <a:ext uri="{9D8B030D-6E8A-4147-A177-3AD203B41FA5}">
                      <a16:colId xmlns:a16="http://schemas.microsoft.com/office/drawing/2014/main" val="3225909217"/>
                    </a:ext>
                  </a:extLst>
                </a:gridCol>
                <a:gridCol w="3721397">
                  <a:extLst>
                    <a:ext uri="{9D8B030D-6E8A-4147-A177-3AD203B41FA5}">
                      <a16:colId xmlns:a16="http://schemas.microsoft.com/office/drawing/2014/main" val="1323411741"/>
                    </a:ext>
                  </a:extLst>
                </a:gridCol>
              </a:tblGrid>
              <a:tr h="580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Label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Insights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Retention Strategies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99437"/>
                  </a:ext>
                </a:extLst>
              </a:tr>
              <a:tr h="1393449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1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Value Customers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These are likely the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 valuable </a:t>
                      </a: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possibly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frequent buyers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spenders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Retaining and nurturing them is </a:t>
                      </a:r>
                      <a:r>
                        <a:rPr lang="en-US" sz="1400" b="1" dirty="0"/>
                        <a:t>critical</a:t>
                      </a:r>
                      <a:r>
                        <a:rPr lang="en-US" sz="1400" dirty="0"/>
                        <a:t> for profitability.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Strategy - </a:t>
                      </a:r>
                      <a:r>
                        <a:rPr lang="en-US" sz="1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Loyalty &amp; VIP Treatment 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 generate most of the revenue. We should implement loyalty programs to retain them like </a:t>
                      </a:r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exclusive perks</a:t>
                      </a:r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/>
                        <a:t>(early access, premium support, VIP discounts).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508360"/>
                  </a:ext>
                </a:extLst>
              </a:tr>
              <a:tr h="1393449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2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Mid-Tier or Mass Customers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These could be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buyers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 spending power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moderate-frequency customers.</a:t>
                      </a:r>
                      <a:endParaRPr lang="en-IN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Strategy – </a:t>
                      </a:r>
                      <a:r>
                        <a:rPr lang="en-US" sz="1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Increase Frequency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frequency shows they have potential but contribute less to revenue. We should try increasing their frequency. By implementing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pricing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subscription models, bundled discounts</a:t>
                      </a:r>
                      <a:endParaRPr lang="en-IN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942052"/>
                  </a:ext>
                </a:extLst>
              </a:tr>
              <a:tr h="1393449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 3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Low-Value or Dormant Customers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These could be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infrequent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low-spending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 or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dormant 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Strategy – </a:t>
                      </a:r>
                      <a:r>
                        <a:rPr lang="en-US" sz="1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Win-Back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should engage them with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targeted promotions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reminders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or 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personalized offers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boost spending.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92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527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AC34E-51D9-D46C-DD01-C8C671E6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6B703D4-6F1B-7180-A52D-9C78F938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734" y="342027"/>
            <a:ext cx="2267266" cy="64779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BC6F88A-A104-4B66-90D5-12D51C6E34DA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1. RFM Model &amp; Analysis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F3CE48BE-9266-2368-B377-030A5667CE8D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1400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kumimoji="0" lang="en-US" sz="1400" b="0" i="0" u="sng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203AAE4-6E27-4D34-39EF-4DFF8B911F9F}"/>
              </a:ext>
            </a:extLst>
          </p:cNvPr>
          <p:cNvSpPr txBox="1">
            <a:spLocks/>
          </p:cNvSpPr>
          <p:nvPr/>
        </p:nvSpPr>
        <p:spPr>
          <a:xfrm>
            <a:off x="446453" y="2200941"/>
            <a:ext cx="11281260" cy="676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Concluding the RFM Model Analysis, our goal should be to convert Mid-Tier Customers (Cluster 2) to High Value Customers (Cluster 1), which can be done by offering Cluster 2 customer incentives that encourage higher Frequency and Monetary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C0EBF-3E6F-FB8E-1B83-5E70424388B5}"/>
              </a:ext>
            </a:extLst>
          </p:cNvPr>
          <p:cNvSpPr txBox="1"/>
          <p:nvPr/>
        </p:nvSpPr>
        <p:spPr>
          <a:xfrm>
            <a:off x="446451" y="3069918"/>
            <a:ext cx="1128126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objective should be to revive the Dormant Customers (Cluster 3), which can be achiever by Personalized Marketing and  re-targeting this customer base.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 examples of Personalized Marketing can be,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“We Miss You" promotions with personalized discounts.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Mystery rewards (randomized discounts or free gifts).</a:t>
            </a:r>
          </a:p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exit surveys to identify barriers &amp; offer solutions.</a:t>
            </a:r>
          </a:p>
        </p:txBody>
      </p:sp>
    </p:spTree>
    <p:extLst>
      <p:ext uri="{BB962C8B-B14F-4D97-AF65-F5344CB8AC3E}">
        <p14:creationId xmlns:p14="http://schemas.microsoft.com/office/powerpoint/2010/main" val="2181222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370CD-FD9C-745A-E111-2770C51F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FB8EB75-97CA-22FF-3D7E-51B169E43ED4}"/>
              </a:ext>
            </a:extLst>
          </p:cNvPr>
          <p:cNvSpPr txBox="1">
            <a:spLocks/>
          </p:cNvSpPr>
          <p:nvPr/>
        </p:nvSpPr>
        <p:spPr>
          <a:xfrm>
            <a:off x="446450" y="1426690"/>
            <a:ext cx="10074065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2. Making 'Bestselling Games' Newsletter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CE22BA0D-00AE-3B00-5A3E-B3E21859EDAA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 choice and thought process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16621D5-D455-B39A-E184-57B5E3BB2D1F}"/>
              </a:ext>
            </a:extLst>
          </p:cNvPr>
          <p:cNvSpPr txBox="1">
            <a:spLocks/>
          </p:cNvSpPr>
          <p:nvPr/>
        </p:nvSpPr>
        <p:spPr>
          <a:xfrm>
            <a:off x="446451" y="1741675"/>
            <a:ext cx="8958804" cy="676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Complying with Company’s Branding Assets: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made sure to comply and resonate with the company’s branding guidelines and assets like font, colors and branding ideology.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Best-Selling &amp; Deals from </a:t>
            </a:r>
            <a:r>
              <a:rPr lang="en-US" sz="14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CDKeys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have carefully selected the top-selling and best deal offers from the </a:t>
            </a:r>
            <a:r>
              <a:rPr lang="en-US" sz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CDKeys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website to ensure that the banner reflects real, up-to-date promotions.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 &amp; Impactful Headline: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wanted the headline to immediately grab attention, so I used a bold, high-contrast font with phrases like "Thrilling Adventures, Crazy Deals" to create excitement. I kept the subtext short but powerful, emphasizing "Unforgettable Games" and "Pounding Action" to resonate with gamers.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Engaging Visuals: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made sure the hero image (</a:t>
            </a:r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haired female - Jesse Faden from ‘Control’, one of my personal </a:t>
            </a:r>
            <a:r>
              <a:rPr lang="en-US" sz="1200" i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favourite</a:t>
            </a:r>
            <a:r>
              <a:rPr lang="en-US" sz="12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game title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was intense and eye-catching, setting the tone for the banner. The game covers (Doom, Assassin’s Creed, etc.) highlight popular, bestselling titles, making the banner instantly recognizable to PC gamers.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Call-to-Action &amp; Urgency: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included phrases like "Claim the Deals Now" and "Limited Stock, Buy Before It’s Gone!" to push for immediate action. I also highlighted discounts (24%-90% OFF) in bright colors to make them impossible to miss.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Contrast &amp; Readability:</a:t>
            </a:r>
          </a:p>
          <a:p>
            <a:pPr lvl="1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went for a dark background to make the colors and text pop, ensuring easy readability. The use of white and bright accent colors made sure I catch attention without overwhelming the reader.</a:t>
            </a:r>
          </a:p>
        </p:txBody>
      </p:sp>
      <p:pic>
        <p:nvPicPr>
          <p:cNvPr id="2" name="Picture 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48E7147-E2BA-6B8C-5A8F-4EDE97EE1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3" y="0"/>
            <a:ext cx="1866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09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37F64-D259-0145-4EA2-F132971E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BC4E057-72CB-4065-1C82-C5C016AFCCE4}"/>
              </a:ext>
            </a:extLst>
          </p:cNvPr>
          <p:cNvSpPr txBox="1">
            <a:spLocks/>
          </p:cNvSpPr>
          <p:nvPr/>
        </p:nvSpPr>
        <p:spPr>
          <a:xfrm>
            <a:off x="446451" y="1426690"/>
            <a:ext cx="1054601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2. Making 'Bestselling Games' Newsletter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B98412B-651F-A949-D82F-8CA999399D29}"/>
              </a:ext>
            </a:extLst>
          </p:cNvPr>
          <p:cNvSpPr txBox="1">
            <a:spLocks/>
          </p:cNvSpPr>
          <p:nvPr/>
        </p:nvSpPr>
        <p:spPr>
          <a:xfrm>
            <a:off x="446451" y="1636129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kumimoji="0" lang="en-US" sz="1400" b="0" i="0" u="none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How This Design Increases Engagement &amp; Open Rates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DF96E1C-8985-05C6-FABA-94C88A73E169}"/>
              </a:ext>
            </a:extLst>
          </p:cNvPr>
          <p:cNvSpPr txBox="1">
            <a:spLocks/>
          </p:cNvSpPr>
          <p:nvPr/>
        </p:nvSpPr>
        <p:spPr>
          <a:xfrm>
            <a:off x="446451" y="1701010"/>
            <a:ext cx="8958804" cy="18420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Impressions Matter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banner is bold, clear, and visually exciting, ensuring that readers notice it right away.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FOMO: 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Highlighting time-limited discounts will encourages immediate action and clicks.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Scroll-Stopping Graphics: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bestselling game covers increases familiarity and draws in gamers looking for deals.</a:t>
            </a:r>
          </a:p>
          <a:p>
            <a:pPr algn="just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&amp; Actionable Messaging: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banner gets straight to the point with minimum text and more focus on the gaming titles, making it effortless to scan and click-through without overwhelming the reader.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B5AA3FC-652F-4163-5EAF-DF5446122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3" y="0"/>
            <a:ext cx="186666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B5430-1828-0764-893E-CA8E363A1220}"/>
              </a:ext>
            </a:extLst>
          </p:cNvPr>
          <p:cNvSpPr txBox="1">
            <a:spLocks/>
          </p:cNvSpPr>
          <p:nvPr/>
        </p:nvSpPr>
        <p:spPr>
          <a:xfrm>
            <a:off x="446451" y="4325252"/>
            <a:ext cx="7687744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en-US" sz="1400" b="0" i="0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sz="1400" b="0" i="0" u="sng" strike="noStrike" kern="120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Implementing RFM Analytics in the Newsletter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686B-5326-BCA5-093E-2322DE84C101}"/>
              </a:ext>
            </a:extLst>
          </p:cNvPr>
          <p:cNvSpPr txBox="1">
            <a:spLocks/>
          </p:cNvSpPr>
          <p:nvPr/>
        </p:nvSpPr>
        <p:spPr>
          <a:xfrm>
            <a:off x="446451" y="4300870"/>
            <a:ext cx="8958804" cy="18420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High-Value Customers: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made sure to highlight premium bestselling games that appeal to loyal, high-spending gamers who are always looking for premium content.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Mid-Tier or Mass Customers: 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encourage higher-value purchases, I showcased discounted &amp; bundle deals, giving them great value without breaking their budget.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Low-Value or Dormant Customers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 included limited-time offers in the banner to create a sense of urgency and bring them back with irresistible deals.</a:t>
            </a:r>
          </a:p>
        </p:txBody>
      </p:sp>
    </p:spTree>
    <p:extLst>
      <p:ext uri="{BB962C8B-B14F-4D97-AF65-F5344CB8AC3E}">
        <p14:creationId xmlns:p14="http://schemas.microsoft.com/office/powerpoint/2010/main" val="339424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3E934-DB01-8794-8B7A-59C606A2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FAB0BA9-7698-539E-6F15-83CD867773E9}"/>
              </a:ext>
            </a:extLst>
          </p:cNvPr>
          <p:cNvSpPr txBox="1">
            <a:spLocks/>
          </p:cNvSpPr>
          <p:nvPr/>
        </p:nvSpPr>
        <p:spPr>
          <a:xfrm>
            <a:off x="446450" y="1426690"/>
            <a:ext cx="9926581" cy="548640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noFill/>
        </p:spPr>
        <p:txBody>
          <a:bodyPr vert="horz" wrap="square" lIns="0" tIns="0" rIns="0" bIns="109728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just"/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3. Past Newsletter Analysis &amp; Strategy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all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88568A7-AF24-8C2B-07F1-D72EFB1EBFD1}"/>
              </a:ext>
            </a:extLst>
          </p:cNvPr>
          <p:cNvSpPr txBox="1">
            <a:spLocks/>
          </p:cNvSpPr>
          <p:nvPr/>
        </p:nvSpPr>
        <p:spPr>
          <a:xfrm>
            <a:off x="446451" y="1805618"/>
            <a:ext cx="8958804" cy="44378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Call-to-Action is Weak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newsletter gives great information but doesn’t really push people to act. If there’s no urgency, most readers will not convert.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 need strong, attention-grabbers that make people want to click NOW. </a:t>
            </a:r>
          </a:p>
          <a:p>
            <a:pPr lvl="2" algn="just"/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Something like:  “Flash Sale, Ends at Midnight”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These small tweaks can boost click-through rates</a:t>
            </a: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Alot of Text with less focus on Games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much text, I got confused and didn’t know where to look first.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Simplifying the layout, will keep descriptions short and to the point.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cleaner layout makes it easier to read and helps the best deals stand out. More clarity = more conversions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Urgency, No FOMO = No Rush to Buy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There’s no real reason for readers to buy now instead of later,  which often means never.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add elements that drive urgency, by mentioning Limited Stocks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Creating urgency pushes people to act immediately instead of procrastinating.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Subject Line needs to grab attention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one of the reason for poor KPI performance could be the email subject line doesn’t grab attention, hence the emails weren’t opened.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we will need to test subject lines through A/B Testing that create urgency and excitement:</a:t>
            </a:r>
          </a:p>
          <a:p>
            <a:pPr lvl="1" algn="just"/>
            <a:r>
              <a:rPr lang="en-US" sz="1200" b="1" u="sng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strong subject line increases open rates, meaning more people actually see what’s inside.</a:t>
            </a:r>
            <a:endParaRPr 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1C5A44-C0CD-B2B0-7352-A451B5D73F88}"/>
              </a:ext>
            </a:extLst>
          </p:cNvPr>
          <p:cNvSpPr txBox="1">
            <a:spLocks/>
          </p:cNvSpPr>
          <p:nvPr/>
        </p:nvSpPr>
        <p:spPr>
          <a:xfrm>
            <a:off x="446451" y="1087489"/>
            <a:ext cx="8048620" cy="5486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going through the newsletter, I noticed a few gaps that, if fixed, could make a huge difference in engagement and conversions.</a:t>
            </a:r>
          </a:p>
        </p:txBody>
      </p:sp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D8F77BC-7C52-8766-1044-F4AAA93EC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3" r="25945"/>
          <a:stretch/>
        </p:blipFill>
        <p:spPr>
          <a:xfrm>
            <a:off x="10373032" y="0"/>
            <a:ext cx="1818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1661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Som</dc:creator>
  <cp:lastModifiedBy>Utkarsh Som</cp:lastModifiedBy>
  <cp:revision>45</cp:revision>
  <dcterms:created xsi:type="dcterms:W3CDTF">2025-03-25T12:39:14Z</dcterms:created>
  <dcterms:modified xsi:type="dcterms:W3CDTF">2025-04-10T12:17:06Z</dcterms:modified>
</cp:coreProperties>
</file>